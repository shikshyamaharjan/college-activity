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88" r:id="rId11"/>
    <p:sldId id="265" r:id="rId12"/>
    <p:sldId id="266" r:id="rId13"/>
    <p:sldId id="267" r:id="rId14"/>
    <p:sldId id="268" r:id="rId15"/>
    <p:sldId id="269" r:id="rId16"/>
    <p:sldId id="270" r:id="rId17"/>
    <p:sldId id="271" r:id="rId18"/>
    <p:sldId id="289" r:id="rId19"/>
    <p:sldId id="290" r:id="rId20"/>
    <p:sldId id="291" r:id="rId21"/>
    <p:sldId id="292" r:id="rId22"/>
    <p:sldId id="293" r:id="rId23"/>
    <p:sldId id="294" r:id="rId24"/>
    <p:sldId id="295" r:id="rId25"/>
    <p:sldId id="296" r:id="rId26"/>
    <p:sldId id="297" r:id="rId27"/>
    <p:sldId id="298" r:id="rId28"/>
    <p:sldId id="299" r:id="rId29"/>
    <p:sldId id="300" r:id="rId30"/>
    <p:sldId id="301" r:id="rId31"/>
    <p:sldId id="302" r:id="rId32"/>
    <p:sldId id="303" r:id="rId33"/>
    <p:sldId id="304" r:id="rId34"/>
    <p:sldId id="305" r:id="rId35"/>
    <p:sldId id="306" r:id="rId36"/>
    <p:sldId id="307" r:id="rId37"/>
    <p:sldId id="308" r:id="rId38"/>
    <p:sldId id="310" r:id="rId39"/>
    <p:sldId id="311" r:id="rId40"/>
    <p:sldId id="312" r:id="rId41"/>
    <p:sldId id="313" r:id="rId42"/>
    <p:sldId id="314" r:id="rId43"/>
    <p:sldId id="315" r:id="rId44"/>
    <p:sldId id="316" r:id="rId45"/>
    <p:sldId id="317" r:id="rId46"/>
    <p:sldId id="318" r:id="rId47"/>
    <p:sldId id="319" r:id="rId48"/>
    <p:sldId id="320" r:id="rId49"/>
    <p:sldId id="321" r:id="rId50"/>
    <p:sldId id="322" r:id="rId51"/>
    <p:sldId id="323" r:id="rId52"/>
    <p:sldId id="324" r:id="rId53"/>
    <p:sldId id="325" r:id="rId54"/>
    <p:sldId id="326" r:id="rId55"/>
    <p:sldId id="327" r:id="rId56"/>
    <p:sldId id="329" r:id="rId57"/>
    <p:sldId id="330" r:id="rId58"/>
    <p:sldId id="332" r:id="rId59"/>
    <p:sldId id="333" r:id="rId60"/>
    <p:sldId id="334" r:id="rId61"/>
    <p:sldId id="335" r:id="rId62"/>
    <p:sldId id="336" r:id="rId63"/>
    <p:sldId id="337" r:id="rId64"/>
    <p:sldId id="338" r:id="rId65"/>
    <p:sldId id="339" r:id="rId66"/>
    <p:sldId id="340" r:id="rId67"/>
    <p:sldId id="341" r:id="rId68"/>
    <p:sldId id="342" r:id="rId69"/>
    <p:sldId id="343" r:id="rId70"/>
    <p:sldId id="344" r:id="rId71"/>
    <p:sldId id="345" r:id="rId72"/>
    <p:sldId id="346" r:id="rId73"/>
    <p:sldId id="347" r:id="rId7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82" d="100"/>
          <a:sy n="82" d="100"/>
        </p:scale>
        <p:origin x="48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EA2BAED-3641-4632-89CF-17B4D7AB0B14}" type="datetimeFigureOut">
              <a:rPr lang="en-US" smtClean="0"/>
              <a:t>7/28/2025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D51CBB-92B3-4CFB-951A-0ABFBCF0CA69}" type="slidenum">
              <a:rPr lang="en-US" smtClean="0"/>
              <a:t>‹#›</a:t>
            </a:fld>
            <a:endParaRPr lang="en-US"/>
          </a:p>
        </p:txBody>
      </p:sp>
    </p:spTree>
    <p:extLst>
      <p:ext uri="{BB962C8B-B14F-4D97-AF65-F5344CB8AC3E}">
        <p14:creationId xmlns:p14="http://schemas.microsoft.com/office/powerpoint/2010/main" val="26355919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EA2BAED-3641-4632-89CF-17B4D7AB0B14}" type="datetimeFigureOut">
              <a:rPr lang="en-US" smtClean="0"/>
              <a:t>7/28/2025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D51CBB-92B3-4CFB-951A-0ABFBCF0CA69}" type="slidenum">
              <a:rPr lang="en-US" smtClean="0"/>
              <a:t>‹#›</a:t>
            </a:fld>
            <a:endParaRPr lang="en-US"/>
          </a:p>
        </p:txBody>
      </p:sp>
    </p:spTree>
    <p:extLst>
      <p:ext uri="{BB962C8B-B14F-4D97-AF65-F5344CB8AC3E}">
        <p14:creationId xmlns:p14="http://schemas.microsoft.com/office/powerpoint/2010/main" val="41688386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EA2BAED-3641-4632-89CF-17B4D7AB0B14}" type="datetimeFigureOut">
              <a:rPr lang="en-US" smtClean="0"/>
              <a:t>7/28/2025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D51CBB-92B3-4CFB-951A-0ABFBCF0CA69}" type="slidenum">
              <a:rPr lang="en-US" smtClean="0"/>
              <a:t>‹#›</a:t>
            </a:fld>
            <a:endParaRPr lang="en-US"/>
          </a:p>
        </p:txBody>
      </p:sp>
    </p:spTree>
    <p:extLst>
      <p:ext uri="{BB962C8B-B14F-4D97-AF65-F5344CB8AC3E}">
        <p14:creationId xmlns:p14="http://schemas.microsoft.com/office/powerpoint/2010/main" val="37676695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EA2BAED-3641-4632-89CF-17B4D7AB0B14}" type="datetimeFigureOut">
              <a:rPr lang="en-US" smtClean="0"/>
              <a:t>7/28/2025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D51CBB-92B3-4CFB-951A-0ABFBCF0CA69}" type="slidenum">
              <a:rPr lang="en-US" smtClean="0"/>
              <a:t>‹#›</a:t>
            </a:fld>
            <a:endParaRPr lang="en-US"/>
          </a:p>
        </p:txBody>
      </p:sp>
    </p:spTree>
    <p:extLst>
      <p:ext uri="{BB962C8B-B14F-4D97-AF65-F5344CB8AC3E}">
        <p14:creationId xmlns:p14="http://schemas.microsoft.com/office/powerpoint/2010/main" val="8646405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EA2BAED-3641-4632-89CF-17B4D7AB0B14}" type="datetimeFigureOut">
              <a:rPr lang="en-US" smtClean="0"/>
              <a:t>7/28/2025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8D51CBB-92B3-4CFB-951A-0ABFBCF0CA69}" type="slidenum">
              <a:rPr lang="en-US" smtClean="0"/>
              <a:t>‹#›</a:t>
            </a:fld>
            <a:endParaRPr lang="en-US"/>
          </a:p>
        </p:txBody>
      </p:sp>
    </p:spTree>
    <p:extLst>
      <p:ext uri="{BB962C8B-B14F-4D97-AF65-F5344CB8AC3E}">
        <p14:creationId xmlns:p14="http://schemas.microsoft.com/office/powerpoint/2010/main" val="7291415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EA2BAED-3641-4632-89CF-17B4D7AB0B14}" type="datetimeFigureOut">
              <a:rPr lang="en-US" smtClean="0"/>
              <a:t>7/28/2025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8D51CBB-92B3-4CFB-951A-0ABFBCF0CA69}" type="slidenum">
              <a:rPr lang="en-US" smtClean="0"/>
              <a:t>‹#›</a:t>
            </a:fld>
            <a:endParaRPr lang="en-US"/>
          </a:p>
        </p:txBody>
      </p:sp>
    </p:spTree>
    <p:extLst>
      <p:ext uri="{BB962C8B-B14F-4D97-AF65-F5344CB8AC3E}">
        <p14:creationId xmlns:p14="http://schemas.microsoft.com/office/powerpoint/2010/main" val="12089710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A2BAED-3641-4632-89CF-17B4D7AB0B14}" type="datetimeFigureOut">
              <a:rPr lang="en-US" smtClean="0"/>
              <a:t>7/28/2025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8D51CBB-92B3-4CFB-951A-0ABFBCF0CA69}" type="slidenum">
              <a:rPr lang="en-US" smtClean="0"/>
              <a:t>‹#›</a:t>
            </a:fld>
            <a:endParaRPr lang="en-US"/>
          </a:p>
        </p:txBody>
      </p:sp>
    </p:spTree>
    <p:extLst>
      <p:ext uri="{BB962C8B-B14F-4D97-AF65-F5344CB8AC3E}">
        <p14:creationId xmlns:p14="http://schemas.microsoft.com/office/powerpoint/2010/main" val="19386449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EA2BAED-3641-4632-89CF-17B4D7AB0B14}" type="datetimeFigureOut">
              <a:rPr lang="en-US" smtClean="0"/>
              <a:t>7/28/2025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D51CBB-92B3-4CFB-951A-0ABFBCF0CA69}" type="slidenum">
              <a:rPr lang="en-US" smtClean="0"/>
              <a:t>‹#›</a:t>
            </a:fld>
            <a:endParaRPr lang="en-US"/>
          </a:p>
        </p:txBody>
      </p:sp>
    </p:spTree>
    <p:extLst>
      <p:ext uri="{BB962C8B-B14F-4D97-AF65-F5344CB8AC3E}">
        <p14:creationId xmlns:p14="http://schemas.microsoft.com/office/powerpoint/2010/main" val="23624414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EA2BAED-3641-4632-89CF-17B4D7AB0B14}" type="datetimeFigureOut">
              <a:rPr lang="en-US" smtClean="0"/>
              <a:t>7/28/2025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D51CBB-92B3-4CFB-951A-0ABFBCF0CA69}" type="slidenum">
              <a:rPr lang="en-US" smtClean="0"/>
              <a:t>‹#›</a:t>
            </a:fld>
            <a:endParaRPr lang="en-US"/>
          </a:p>
        </p:txBody>
      </p:sp>
    </p:spTree>
    <p:extLst>
      <p:ext uri="{BB962C8B-B14F-4D97-AF65-F5344CB8AC3E}">
        <p14:creationId xmlns:p14="http://schemas.microsoft.com/office/powerpoint/2010/main" val="13325210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EA2BAED-3641-4632-89CF-17B4D7AB0B14}" type="datetimeFigureOut">
              <a:rPr lang="en-US" smtClean="0"/>
              <a:t>7/28/2025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D51CBB-92B3-4CFB-951A-0ABFBCF0CA69}" type="slidenum">
              <a:rPr lang="en-US" smtClean="0"/>
              <a:t>‹#›</a:t>
            </a:fld>
            <a:endParaRPr lang="en-US"/>
          </a:p>
        </p:txBody>
      </p:sp>
    </p:spTree>
    <p:extLst>
      <p:ext uri="{BB962C8B-B14F-4D97-AF65-F5344CB8AC3E}">
        <p14:creationId xmlns:p14="http://schemas.microsoft.com/office/powerpoint/2010/main" val="20227099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EA2BAED-3641-4632-89CF-17B4D7AB0B14}" type="datetimeFigureOut">
              <a:rPr lang="en-US" smtClean="0"/>
              <a:t>7/28/2025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D51CBB-92B3-4CFB-951A-0ABFBCF0CA69}" type="slidenum">
              <a:rPr lang="en-US" smtClean="0"/>
              <a:t>‹#›</a:t>
            </a:fld>
            <a:endParaRPr lang="en-US"/>
          </a:p>
        </p:txBody>
      </p:sp>
    </p:spTree>
    <p:extLst>
      <p:ext uri="{BB962C8B-B14F-4D97-AF65-F5344CB8AC3E}">
        <p14:creationId xmlns:p14="http://schemas.microsoft.com/office/powerpoint/2010/main" val="33375317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A2BAED-3641-4632-89CF-17B4D7AB0B14}" type="datetimeFigureOut">
              <a:rPr lang="en-US" smtClean="0"/>
              <a:t>7/28/2025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D51CBB-92B3-4CFB-951A-0ABFBCF0CA69}" type="slidenum">
              <a:rPr lang="en-US" smtClean="0"/>
              <a:t>‹#›</a:t>
            </a:fld>
            <a:endParaRPr lang="en-US"/>
          </a:p>
        </p:txBody>
      </p:sp>
    </p:spTree>
    <p:extLst>
      <p:ext uri="{BB962C8B-B14F-4D97-AF65-F5344CB8AC3E}">
        <p14:creationId xmlns:p14="http://schemas.microsoft.com/office/powerpoint/2010/main" val="36895358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Information System within Organizations</a:t>
            </a:r>
          </a:p>
        </p:txBody>
      </p:sp>
      <p:sp>
        <p:nvSpPr>
          <p:cNvPr id="3" name="Subtitle 2"/>
          <p:cNvSpPr>
            <a:spLocks noGrp="1"/>
          </p:cNvSpPr>
          <p:nvPr>
            <p:ph type="subTitle" idx="1"/>
          </p:nvPr>
        </p:nvSpPr>
        <p:spPr/>
        <p:txBody>
          <a:bodyPr/>
          <a:lstStyle/>
          <a:p>
            <a:r>
              <a:rPr lang="en-US" b="1" dirty="0"/>
              <a:t>Unit-6</a:t>
            </a:r>
          </a:p>
        </p:txBody>
      </p:sp>
    </p:spTree>
    <p:extLst>
      <p:ext uri="{BB962C8B-B14F-4D97-AF65-F5344CB8AC3E}">
        <p14:creationId xmlns:p14="http://schemas.microsoft.com/office/powerpoint/2010/main" val="13132471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Introduction</a:t>
            </a:r>
            <a:endParaRPr lang="en-US" dirty="0"/>
          </a:p>
        </p:txBody>
      </p:sp>
      <p:sp>
        <p:nvSpPr>
          <p:cNvPr id="3" name="Content Placeholder 2"/>
          <p:cNvSpPr>
            <a:spLocks noGrp="1"/>
          </p:cNvSpPr>
          <p:nvPr>
            <p:ph idx="1"/>
          </p:nvPr>
        </p:nvSpPr>
        <p:spPr>
          <a:xfrm>
            <a:off x="838200" y="1825624"/>
            <a:ext cx="10515600" cy="4543277"/>
          </a:xfrm>
        </p:spPr>
        <p:txBody>
          <a:bodyPr>
            <a:normAutofit fontScale="92500" lnSpcReduction="20000"/>
          </a:bodyPr>
          <a:lstStyle/>
          <a:p>
            <a:r>
              <a:rPr lang="en-US" b="1" dirty="0"/>
              <a:t>Information systems (IS) </a:t>
            </a:r>
            <a:r>
              <a:rPr lang="en-US" dirty="0"/>
              <a:t>within organizations serve as the backbone of modern business operations, enabling the efficient management of information, support for decision-making processes, and facilitation of communication and collaboration among employees. </a:t>
            </a:r>
          </a:p>
          <a:p>
            <a:r>
              <a:rPr lang="en-US" dirty="0"/>
              <a:t>These systems encompass a wide range of technologies, processes, and tools designed to collect, store, process, and distribute data and information throughout the organization. </a:t>
            </a:r>
          </a:p>
          <a:p>
            <a:r>
              <a:rPr lang="en-US" dirty="0"/>
              <a:t>At the core of information systems are databases, which serve as repositories for storing structured data such as customer information, inventory records, financial transactions, and employee records. </a:t>
            </a:r>
          </a:p>
          <a:p>
            <a:r>
              <a:rPr lang="en-US" dirty="0"/>
              <a:t>These databases are managed and accessed through specialized software applications known as </a:t>
            </a:r>
            <a:r>
              <a:rPr lang="en-US" b="1" dirty="0"/>
              <a:t>Database Management Systems (DBMS), </a:t>
            </a:r>
            <a:r>
              <a:rPr lang="en-US" dirty="0"/>
              <a:t>which provide functionalities for data retrieval, manipulation, and security. </a:t>
            </a:r>
          </a:p>
        </p:txBody>
      </p:sp>
    </p:spTree>
    <p:extLst>
      <p:ext uri="{BB962C8B-B14F-4D97-AF65-F5344CB8AC3E}">
        <p14:creationId xmlns:p14="http://schemas.microsoft.com/office/powerpoint/2010/main" val="19137111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74158"/>
            <a:ext cx="10515600" cy="5602805"/>
          </a:xfrm>
        </p:spPr>
        <p:txBody>
          <a:bodyPr>
            <a:normAutofit fontScale="92500" lnSpcReduction="20000"/>
          </a:bodyPr>
          <a:lstStyle/>
          <a:p>
            <a:r>
              <a:rPr lang="en-US" dirty="0"/>
              <a:t>Information systems within organizations encompass a diverse array of components, including </a:t>
            </a:r>
            <a:r>
              <a:rPr lang="en-US" b="1" dirty="0"/>
              <a:t>Transaction Processing Systems (TPS), Management Information Systems (MIS), Decision Support Systems (DSS), Executive Information Systems (EIS), Office Automation Systems (OAS), </a:t>
            </a:r>
            <a:r>
              <a:rPr lang="en-US" dirty="0"/>
              <a:t>and more. </a:t>
            </a:r>
          </a:p>
          <a:p>
            <a:r>
              <a:rPr lang="en-US" dirty="0"/>
              <a:t>These systems play distinct roles in managing information, supporting decision-making processes, and facilitating organizational operations. </a:t>
            </a:r>
          </a:p>
          <a:p>
            <a:r>
              <a:rPr lang="en-US" dirty="0"/>
              <a:t>In addition, organizations utilize various software applications to support specific business functions and processes. </a:t>
            </a:r>
          </a:p>
          <a:p>
            <a:r>
              <a:rPr lang="en-US" b="1" dirty="0"/>
              <a:t>Enterprise Resource Planning (ERP) </a:t>
            </a:r>
            <a:r>
              <a:rPr lang="en-US" dirty="0"/>
              <a:t>systems integrate core business processes such as finance, human resources, and supply chain management into a unified platform, enabling seamless data flow and process automation across departments. </a:t>
            </a:r>
          </a:p>
          <a:p>
            <a:r>
              <a:rPr lang="en-US" b="1" dirty="0"/>
              <a:t>Customer Relationship Management (CRM) </a:t>
            </a:r>
            <a:r>
              <a:rPr lang="en-US" dirty="0"/>
              <a:t>systems help organizations manage interactions with customers, track sales leads, and analyze customer data to improve marketing and sales efforts. </a:t>
            </a:r>
          </a:p>
        </p:txBody>
      </p:sp>
    </p:spTree>
    <p:extLst>
      <p:ext uri="{BB962C8B-B14F-4D97-AF65-F5344CB8AC3E}">
        <p14:creationId xmlns:p14="http://schemas.microsoft.com/office/powerpoint/2010/main" val="431801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59219"/>
            <a:ext cx="10515600" cy="5517744"/>
          </a:xfrm>
        </p:spPr>
        <p:txBody>
          <a:bodyPr>
            <a:normAutofit fontScale="92500" lnSpcReduction="10000"/>
          </a:bodyPr>
          <a:lstStyle/>
          <a:p>
            <a:r>
              <a:rPr lang="en-US" dirty="0"/>
              <a:t>Furthermore, information systems play a crucial role in facilitating communication and collaboration within organizations. </a:t>
            </a:r>
          </a:p>
          <a:p>
            <a:r>
              <a:rPr lang="en-US" dirty="0"/>
              <a:t>Email, instant messaging, and collaboration platforms enable employees to communicate, share documents, and collaborate on projects in real-time, regardless of their geographical location. </a:t>
            </a:r>
          </a:p>
          <a:p>
            <a:r>
              <a:rPr lang="en-US" dirty="0"/>
              <a:t>These communication tools foster teamwork, knowledge sharing, and innovation, contributing to organizational productivity and agility.</a:t>
            </a:r>
          </a:p>
          <a:p>
            <a:r>
              <a:rPr lang="en-US" dirty="0"/>
              <a:t>Information systems are strategic assets in businesses that facilitate effective data administration, aid in decision-making, and improve staff collaboration and communication. </a:t>
            </a:r>
          </a:p>
          <a:p>
            <a:r>
              <a:rPr lang="en-US" dirty="0"/>
              <a:t>In the current digital era, firms can attain their strategic goals, improve company procedures, and obtain a competitive edge by utilizing technology efficiently.</a:t>
            </a:r>
            <a:br>
              <a:rPr lang="en-US" dirty="0"/>
            </a:br>
            <a:endParaRPr lang="en-US" dirty="0"/>
          </a:p>
        </p:txBody>
      </p:sp>
    </p:spTree>
    <p:extLst>
      <p:ext uri="{BB962C8B-B14F-4D97-AF65-F5344CB8AC3E}">
        <p14:creationId xmlns:p14="http://schemas.microsoft.com/office/powerpoint/2010/main" val="39755207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Information System</a:t>
            </a:r>
            <a:endParaRPr lang="en-US" dirty="0"/>
          </a:p>
        </p:txBody>
      </p:sp>
      <p:sp>
        <p:nvSpPr>
          <p:cNvPr id="3" name="Content Placeholder 2"/>
          <p:cNvSpPr>
            <a:spLocks noGrp="1"/>
          </p:cNvSpPr>
          <p:nvPr>
            <p:ph idx="1"/>
          </p:nvPr>
        </p:nvSpPr>
        <p:spPr/>
        <p:txBody>
          <a:bodyPr>
            <a:normAutofit fontScale="92500" lnSpcReduction="20000"/>
          </a:bodyPr>
          <a:lstStyle/>
          <a:p>
            <a:r>
              <a:rPr lang="en-US" dirty="0"/>
              <a:t>To automate the business processes and to meet the information needs of diverse interests, specialties and levels of the organizations, different types of information systems are needed in the firm. </a:t>
            </a:r>
          </a:p>
          <a:p>
            <a:r>
              <a:rPr lang="en-US" dirty="0"/>
              <a:t>No single system can provide all the information an organization needs.</a:t>
            </a:r>
          </a:p>
          <a:p>
            <a:r>
              <a:rPr lang="en-US" dirty="0"/>
              <a:t>Information systems are universal, versatile, and instrumental in helping business firms</a:t>
            </a:r>
            <a:r>
              <a:rPr lang="en-US" dirty="0">
                <a:effectLst/>
              </a:rPr>
              <a:t> achieve their strategic, tactical, and operational goals. </a:t>
            </a:r>
          </a:p>
          <a:p>
            <a:r>
              <a:rPr lang="en-US" dirty="0">
                <a:effectLst/>
              </a:rPr>
              <a:t>All organizations, from the largest multinational to the smallest start-up, need information technology to carry them through change and ensure their long-term stability and viability. </a:t>
            </a:r>
          </a:p>
          <a:p>
            <a:r>
              <a:rPr lang="en-US" dirty="0">
                <a:effectLst/>
              </a:rPr>
              <a:t>Thus, to support different management levels of smaller or larger business firms they use various systems such as e-mail systems, sales tracking system, payroll system, audio/video conferencing system, human resource management system, production system etc.</a:t>
            </a:r>
            <a:endParaRPr lang="en-US" dirty="0"/>
          </a:p>
        </p:txBody>
      </p:sp>
    </p:spTree>
    <p:extLst>
      <p:ext uri="{BB962C8B-B14F-4D97-AF65-F5344CB8AC3E}">
        <p14:creationId xmlns:p14="http://schemas.microsoft.com/office/powerpoint/2010/main" val="5756991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74158"/>
            <a:ext cx="10515600" cy="5602805"/>
          </a:xfrm>
        </p:spPr>
        <p:txBody>
          <a:bodyPr/>
          <a:lstStyle/>
          <a:p>
            <a:r>
              <a:rPr lang="en-US" b="1" dirty="0"/>
              <a:t>Different information systems can be described through:</a:t>
            </a:r>
          </a:p>
          <a:p>
            <a:pPr lvl="1"/>
            <a:r>
              <a:rPr lang="en-US" dirty="0"/>
              <a:t>A constituency perspective - Systems based on the different management groups that they serve.</a:t>
            </a:r>
          </a:p>
          <a:p>
            <a:pPr lvl="1"/>
            <a:r>
              <a:rPr lang="en-US" dirty="0"/>
              <a:t>A functional perspective - Systems based on major business functions.</a:t>
            </a:r>
          </a:p>
        </p:txBody>
      </p:sp>
    </p:spTree>
    <p:extLst>
      <p:ext uri="{BB962C8B-B14F-4D97-AF65-F5344CB8AC3E}">
        <p14:creationId xmlns:p14="http://schemas.microsoft.com/office/powerpoint/2010/main" val="25406796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0572"/>
            <a:ext cx="10515600" cy="1325563"/>
          </a:xfrm>
        </p:spPr>
        <p:txBody>
          <a:bodyPr>
            <a:normAutofit/>
          </a:bodyPr>
          <a:lstStyle/>
          <a:p>
            <a:r>
              <a:rPr lang="en-US" sz="4000" b="1" dirty="0"/>
              <a:t>System based on different Management Groups</a:t>
            </a:r>
          </a:p>
        </p:txBody>
      </p:sp>
      <p:sp>
        <p:nvSpPr>
          <p:cNvPr id="3" name="Content Placeholder 2"/>
          <p:cNvSpPr>
            <a:spLocks noGrp="1"/>
          </p:cNvSpPr>
          <p:nvPr>
            <p:ph idx="1"/>
          </p:nvPr>
        </p:nvSpPr>
        <p:spPr>
          <a:xfrm>
            <a:off x="838200" y="1531088"/>
            <a:ext cx="10515600" cy="4944140"/>
          </a:xfrm>
        </p:spPr>
        <p:txBody>
          <a:bodyPr>
            <a:normAutofit/>
          </a:bodyPr>
          <a:lstStyle/>
          <a:p>
            <a:r>
              <a:rPr lang="en-US" dirty="0"/>
              <a:t>A business firm has different levels of management, and a single system cannot help all the management hierarchies. </a:t>
            </a:r>
          </a:p>
          <a:p>
            <a:r>
              <a:rPr lang="en-US" dirty="0"/>
              <a:t>So there exist different information systems for a business firm to support different groups or levels of management. </a:t>
            </a:r>
          </a:p>
          <a:p>
            <a:r>
              <a:rPr lang="en-US" dirty="0"/>
              <a:t>There are four types of information systems:</a:t>
            </a:r>
          </a:p>
          <a:p>
            <a:pPr marL="971550" lvl="1" indent="-514350">
              <a:buFont typeface="+mj-lt"/>
              <a:buAutoNum type="arabicPeriod"/>
            </a:pPr>
            <a:r>
              <a:rPr lang="en-US" b="1" dirty="0"/>
              <a:t>Transaction Processing System (TPS)</a:t>
            </a:r>
          </a:p>
          <a:p>
            <a:pPr marL="971550" lvl="1" indent="-514350">
              <a:buFont typeface="+mj-lt"/>
              <a:buAutoNum type="arabicPeriod"/>
            </a:pPr>
            <a:r>
              <a:rPr lang="en-US" b="1" dirty="0"/>
              <a:t>Management Information System (MIS)</a:t>
            </a:r>
          </a:p>
          <a:p>
            <a:pPr marL="971550" lvl="1" indent="-514350">
              <a:buFont typeface="+mj-lt"/>
              <a:buAutoNum type="arabicPeriod"/>
            </a:pPr>
            <a:r>
              <a:rPr lang="en-US" b="1" dirty="0"/>
              <a:t>Intelligent Support System (ISS)</a:t>
            </a:r>
          </a:p>
          <a:p>
            <a:pPr marL="1428750" lvl="2" indent="-514350">
              <a:buFont typeface="+mj-lt"/>
              <a:buAutoNum type="alphaLcPeriod"/>
            </a:pPr>
            <a:r>
              <a:rPr lang="en-US" b="1" dirty="0"/>
              <a:t>Decision Support System (DSS)</a:t>
            </a:r>
          </a:p>
          <a:p>
            <a:pPr marL="1428750" lvl="2" indent="-514350">
              <a:buFont typeface="+mj-lt"/>
              <a:buAutoNum type="alphaLcPeriod"/>
            </a:pPr>
            <a:r>
              <a:rPr lang="en-US" b="1" dirty="0"/>
              <a:t>Executive Information System (EIS)</a:t>
            </a:r>
          </a:p>
          <a:p>
            <a:pPr marL="1428750" lvl="2" indent="-514350">
              <a:buFont typeface="+mj-lt"/>
              <a:buAutoNum type="alphaLcPeriod"/>
            </a:pPr>
            <a:r>
              <a:rPr lang="en-US" b="1" dirty="0"/>
              <a:t>Expert System (ES)</a:t>
            </a:r>
          </a:p>
          <a:p>
            <a:pPr marL="971550" lvl="1" indent="-514350">
              <a:buFont typeface="+mj-lt"/>
              <a:buAutoNum type="arabicPeriod"/>
            </a:pPr>
            <a:r>
              <a:rPr lang="en-US" b="1" dirty="0"/>
              <a:t>Knowledge work system (KWS) and Office Automation System (OAS)</a:t>
            </a:r>
          </a:p>
        </p:txBody>
      </p:sp>
    </p:spTree>
    <p:extLst>
      <p:ext uri="{BB962C8B-B14F-4D97-AF65-F5344CB8AC3E}">
        <p14:creationId xmlns:p14="http://schemas.microsoft.com/office/powerpoint/2010/main" val="13828247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5507"/>
            <a:ext cx="10515600" cy="921415"/>
          </a:xfrm>
        </p:spPr>
        <p:txBody>
          <a:bodyPr/>
          <a:lstStyle/>
          <a:p>
            <a:r>
              <a:rPr lang="en-US" b="1" dirty="0"/>
              <a:t>Transaction Processing System</a:t>
            </a:r>
          </a:p>
        </p:txBody>
      </p:sp>
      <p:sp>
        <p:nvSpPr>
          <p:cNvPr id="3" name="Content Placeholder 2"/>
          <p:cNvSpPr>
            <a:spLocks noGrp="1"/>
          </p:cNvSpPr>
          <p:nvPr>
            <p:ph idx="1"/>
          </p:nvPr>
        </p:nvSpPr>
        <p:spPr>
          <a:xfrm>
            <a:off x="838200" y="956922"/>
            <a:ext cx="10515600" cy="5699059"/>
          </a:xfrm>
        </p:spPr>
        <p:txBody>
          <a:bodyPr>
            <a:normAutofit/>
          </a:bodyPr>
          <a:lstStyle/>
          <a:p>
            <a:r>
              <a:rPr lang="en-US" dirty="0"/>
              <a:t>Transaction processing system is a type of information system that record, process, validate and store internal and external transactions of the organization such as sales order entry, receipt, cash deposit, reservations, payroll, credit decisions, employee record keeping, shipping, supplies used, prepaid expired, depreciation charged, bad debts on account receivable etc. </a:t>
            </a:r>
          </a:p>
          <a:p>
            <a:r>
              <a:rPr lang="en-US" dirty="0"/>
              <a:t>A transaction system is a computerized system that facilitates businesses to record daily routine transactions necessary to conduct regular activities. </a:t>
            </a:r>
          </a:p>
          <a:p>
            <a:r>
              <a:rPr lang="en-US" dirty="0"/>
              <a:t>People at operational level carry out these natured tasks so a TPS meets the information needs of operational managers. </a:t>
            </a:r>
          </a:p>
        </p:txBody>
      </p:sp>
    </p:spTree>
    <p:extLst>
      <p:ext uri="{BB962C8B-B14F-4D97-AF65-F5344CB8AC3E}">
        <p14:creationId xmlns:p14="http://schemas.microsoft.com/office/powerpoint/2010/main" val="6121901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80646"/>
            <a:ext cx="10515600" cy="3880883"/>
          </a:xfrm>
        </p:spPr>
        <p:txBody>
          <a:bodyPr/>
          <a:lstStyle/>
          <a:p>
            <a:r>
              <a:rPr lang="en-US" sz="2400" dirty="0"/>
              <a:t>The major purpose of TPS is to answer routine questions and to track the flow of transactions through the organization. </a:t>
            </a:r>
          </a:p>
          <a:p>
            <a:r>
              <a:rPr lang="en-US" sz="2400" dirty="0"/>
              <a:t>How many books are sold? </a:t>
            </a:r>
          </a:p>
          <a:p>
            <a:r>
              <a:rPr lang="en-US" sz="2400" dirty="0"/>
              <a:t>How many books are in the inventory? </a:t>
            </a:r>
          </a:p>
          <a:p>
            <a:r>
              <a:rPr lang="en-US" sz="2400" dirty="0"/>
              <a:t>What happened to KEC's payment? </a:t>
            </a:r>
          </a:p>
          <a:p>
            <a:r>
              <a:rPr lang="en-US" sz="2400" dirty="0"/>
              <a:t>To answer these</a:t>
            </a:r>
            <a:r>
              <a:rPr lang="en-US" sz="2400" dirty="0">
                <a:effectLst/>
              </a:rPr>
              <a:t> kinds of questions information should be accurate, available, and current. </a:t>
            </a:r>
          </a:p>
          <a:p>
            <a:r>
              <a:rPr lang="en-US" sz="2400" dirty="0">
                <a:effectLst/>
              </a:rPr>
              <a:t>To ensure these characteristics there should exist following steps for processing a transaction.</a:t>
            </a:r>
            <a:endParaRPr lang="en-US" sz="2400" dirty="0"/>
          </a:p>
          <a:p>
            <a:endParaRPr lang="en-US" dirty="0"/>
          </a:p>
        </p:txBody>
      </p:sp>
    </p:spTree>
    <p:extLst>
      <p:ext uri="{BB962C8B-B14F-4D97-AF65-F5344CB8AC3E}">
        <p14:creationId xmlns:p14="http://schemas.microsoft.com/office/powerpoint/2010/main" val="30317174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3A780B7-4722-5152-2142-001271B3E191}"/>
              </a:ext>
            </a:extLst>
          </p:cNvPr>
          <p:cNvSpPr/>
          <p:nvPr/>
        </p:nvSpPr>
        <p:spPr>
          <a:xfrm>
            <a:off x="902678" y="797170"/>
            <a:ext cx="1899138" cy="93784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Transactions Occur</a:t>
            </a:r>
          </a:p>
        </p:txBody>
      </p:sp>
      <p:sp>
        <p:nvSpPr>
          <p:cNvPr id="5" name="Rectangle 4">
            <a:extLst>
              <a:ext uri="{FF2B5EF4-FFF2-40B4-BE49-F238E27FC236}">
                <a16:creationId xmlns:a16="http://schemas.microsoft.com/office/drawing/2014/main" id="{43F64413-501E-D3F7-7002-E1250B15B5E3}"/>
              </a:ext>
            </a:extLst>
          </p:cNvPr>
          <p:cNvSpPr/>
          <p:nvPr/>
        </p:nvSpPr>
        <p:spPr>
          <a:xfrm>
            <a:off x="3774832" y="797170"/>
            <a:ext cx="1899138" cy="93784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Enter Data</a:t>
            </a:r>
          </a:p>
        </p:txBody>
      </p:sp>
      <p:sp>
        <p:nvSpPr>
          <p:cNvPr id="6" name="Rectangle 5">
            <a:extLst>
              <a:ext uri="{FF2B5EF4-FFF2-40B4-BE49-F238E27FC236}">
                <a16:creationId xmlns:a16="http://schemas.microsoft.com/office/drawing/2014/main" id="{9ADB6619-60B6-8BE3-3864-58F539C0F481}"/>
              </a:ext>
            </a:extLst>
          </p:cNvPr>
          <p:cNvSpPr/>
          <p:nvPr/>
        </p:nvSpPr>
        <p:spPr>
          <a:xfrm>
            <a:off x="6518032" y="797170"/>
            <a:ext cx="1899138" cy="93784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Validate Data &amp; Process them into Information</a:t>
            </a:r>
          </a:p>
        </p:txBody>
      </p:sp>
      <p:sp>
        <p:nvSpPr>
          <p:cNvPr id="7" name="Rectangle 6">
            <a:extLst>
              <a:ext uri="{FF2B5EF4-FFF2-40B4-BE49-F238E27FC236}">
                <a16:creationId xmlns:a16="http://schemas.microsoft.com/office/drawing/2014/main" id="{02A1BB71-B56E-288B-C96C-C35543027F25}"/>
              </a:ext>
            </a:extLst>
          </p:cNvPr>
          <p:cNvSpPr/>
          <p:nvPr/>
        </p:nvSpPr>
        <p:spPr>
          <a:xfrm>
            <a:off x="9261232" y="797170"/>
            <a:ext cx="1899138" cy="93784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Validate the Result</a:t>
            </a:r>
          </a:p>
        </p:txBody>
      </p:sp>
      <p:sp>
        <p:nvSpPr>
          <p:cNvPr id="8" name="Rectangle 7">
            <a:extLst>
              <a:ext uri="{FF2B5EF4-FFF2-40B4-BE49-F238E27FC236}">
                <a16:creationId xmlns:a16="http://schemas.microsoft.com/office/drawing/2014/main" id="{D382108F-F9C2-B90A-9C6C-581F16688FB8}"/>
              </a:ext>
            </a:extLst>
          </p:cNvPr>
          <p:cNvSpPr/>
          <p:nvPr/>
        </p:nvSpPr>
        <p:spPr>
          <a:xfrm>
            <a:off x="9261232" y="2661139"/>
            <a:ext cx="1899138" cy="93784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Generate Output</a:t>
            </a:r>
          </a:p>
        </p:txBody>
      </p:sp>
      <p:sp>
        <p:nvSpPr>
          <p:cNvPr id="9" name="Rectangle 8">
            <a:extLst>
              <a:ext uri="{FF2B5EF4-FFF2-40B4-BE49-F238E27FC236}">
                <a16:creationId xmlns:a16="http://schemas.microsoft.com/office/drawing/2014/main" id="{18BB660C-1533-5C93-EA92-C20CD773C346}"/>
              </a:ext>
            </a:extLst>
          </p:cNvPr>
          <p:cNvSpPr/>
          <p:nvPr/>
        </p:nvSpPr>
        <p:spPr>
          <a:xfrm>
            <a:off x="9261232" y="4419601"/>
            <a:ext cx="1899138" cy="93784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Facilitated Queries</a:t>
            </a:r>
          </a:p>
        </p:txBody>
      </p:sp>
      <p:cxnSp>
        <p:nvCxnSpPr>
          <p:cNvPr id="11" name="Straight Arrow Connector 10">
            <a:extLst>
              <a:ext uri="{FF2B5EF4-FFF2-40B4-BE49-F238E27FC236}">
                <a16:creationId xmlns:a16="http://schemas.microsoft.com/office/drawing/2014/main" id="{ED20381E-2C82-EF60-6BA1-FAA49CEB95C7}"/>
              </a:ext>
            </a:extLst>
          </p:cNvPr>
          <p:cNvCxnSpPr>
            <a:stCxn id="4" idx="3"/>
            <a:endCxn id="5" idx="1"/>
          </p:cNvCxnSpPr>
          <p:nvPr/>
        </p:nvCxnSpPr>
        <p:spPr>
          <a:xfrm>
            <a:off x="2801816" y="1266093"/>
            <a:ext cx="97301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1AE96C1F-0E5C-E397-4AEF-635A94820394}"/>
              </a:ext>
            </a:extLst>
          </p:cNvPr>
          <p:cNvCxnSpPr>
            <a:stCxn id="5" idx="3"/>
            <a:endCxn id="6" idx="1"/>
          </p:cNvCxnSpPr>
          <p:nvPr/>
        </p:nvCxnSpPr>
        <p:spPr>
          <a:xfrm>
            <a:off x="5673970" y="1266093"/>
            <a:ext cx="84406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4C990B02-151C-A844-7013-7C2FC95DB462}"/>
              </a:ext>
            </a:extLst>
          </p:cNvPr>
          <p:cNvCxnSpPr>
            <a:stCxn id="6" idx="3"/>
            <a:endCxn id="7" idx="1"/>
          </p:cNvCxnSpPr>
          <p:nvPr/>
        </p:nvCxnSpPr>
        <p:spPr>
          <a:xfrm>
            <a:off x="8417170" y="1266093"/>
            <a:ext cx="84406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CFBF4FF2-FE06-0597-2BFB-9585C1AB41E2}"/>
              </a:ext>
            </a:extLst>
          </p:cNvPr>
          <p:cNvCxnSpPr>
            <a:stCxn id="7" idx="2"/>
            <a:endCxn id="8" idx="0"/>
          </p:cNvCxnSpPr>
          <p:nvPr/>
        </p:nvCxnSpPr>
        <p:spPr>
          <a:xfrm>
            <a:off x="10210801" y="1735016"/>
            <a:ext cx="0" cy="92612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E9292851-22D6-61AE-6407-E275EE516E2B}"/>
              </a:ext>
            </a:extLst>
          </p:cNvPr>
          <p:cNvCxnSpPr>
            <a:stCxn id="8" idx="2"/>
            <a:endCxn id="9" idx="0"/>
          </p:cNvCxnSpPr>
          <p:nvPr/>
        </p:nvCxnSpPr>
        <p:spPr>
          <a:xfrm>
            <a:off x="10210801" y="3598985"/>
            <a:ext cx="0" cy="82061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Rectangle 19"/>
          <p:cNvSpPr/>
          <p:nvPr/>
        </p:nvSpPr>
        <p:spPr>
          <a:xfrm>
            <a:off x="3552899" y="5691498"/>
            <a:ext cx="5086201" cy="369332"/>
          </a:xfrm>
          <a:prstGeom prst="rect">
            <a:avLst/>
          </a:prstGeom>
        </p:spPr>
        <p:txBody>
          <a:bodyPr wrap="none">
            <a:spAutoFit/>
          </a:bodyPr>
          <a:lstStyle/>
          <a:p>
            <a:r>
              <a:rPr lang="en-US" b="1" dirty="0">
                <a:latin typeface="Segoe UI" panose="020B0502040204020203" pitchFamily="34" charset="0"/>
                <a:ea typeface="Calibri" panose="020F0502020204030204" pitchFamily="34" charset="0"/>
              </a:rPr>
              <a:t>Figure 6.1 - Steps in processing a transaction.</a:t>
            </a:r>
            <a:endParaRPr lang="en-US" b="1" dirty="0"/>
          </a:p>
        </p:txBody>
      </p:sp>
    </p:spTree>
    <p:extLst>
      <p:ext uri="{BB962C8B-B14F-4D97-AF65-F5344CB8AC3E}">
        <p14:creationId xmlns:p14="http://schemas.microsoft.com/office/powerpoint/2010/main" val="12871048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50871"/>
            <a:ext cx="10515600" cy="6283842"/>
          </a:xfrm>
        </p:spPr>
        <p:txBody>
          <a:bodyPr>
            <a:normAutofit fontScale="92500" lnSpcReduction="20000"/>
          </a:bodyPr>
          <a:lstStyle/>
          <a:p>
            <a:r>
              <a:rPr lang="en-US" b="1" dirty="0"/>
              <a:t>Data Entry: </a:t>
            </a:r>
          </a:p>
          <a:p>
            <a:pPr lvl="1"/>
            <a:r>
              <a:rPr lang="en-US" dirty="0"/>
              <a:t>Once the data has been collected from various sources, it needs to be entered into the computer system for processing it in an information system. </a:t>
            </a:r>
          </a:p>
          <a:p>
            <a:pPr lvl="1"/>
            <a:r>
              <a:rPr lang="en-US" dirty="0"/>
              <a:t>There are different input devices that supply data into the system, these include keyboard, mouse, bar code reader, scanners etc. </a:t>
            </a:r>
          </a:p>
          <a:p>
            <a:pPr lvl="1"/>
            <a:r>
              <a:rPr lang="en-US" dirty="0"/>
              <a:t>The document that generated at the source where a transaction occurs is called a source document. </a:t>
            </a:r>
          </a:p>
          <a:p>
            <a:pPr lvl="1"/>
            <a:r>
              <a:rPr lang="en-US" dirty="0"/>
              <a:t>For instance, a sales receipt is an example of a source document.</a:t>
            </a:r>
          </a:p>
          <a:p>
            <a:r>
              <a:rPr lang="en-US" b="1" dirty="0"/>
              <a:t>Data Validation: </a:t>
            </a:r>
          </a:p>
          <a:p>
            <a:pPr lvl="1"/>
            <a:r>
              <a:rPr lang="en-US" dirty="0"/>
              <a:t>To ensure the accuracy and reliability of data it needs to be validated. </a:t>
            </a:r>
          </a:p>
          <a:p>
            <a:pPr lvl="1"/>
            <a:r>
              <a:rPr lang="en-US" dirty="0"/>
              <a:t>Data can be validated by comparing actual data with predetermined standards or known results. </a:t>
            </a:r>
          </a:p>
          <a:p>
            <a:pPr lvl="1"/>
            <a:r>
              <a:rPr lang="en-US" dirty="0"/>
              <a:t>Two steps take place during validation </a:t>
            </a:r>
            <a:r>
              <a:rPr lang="en-US" b="1" dirty="0" err="1"/>
              <a:t>i</a:t>
            </a:r>
            <a:r>
              <a:rPr lang="en-US" b="1" dirty="0"/>
              <a:t>) error detection and ii) error correction. </a:t>
            </a:r>
          </a:p>
          <a:p>
            <a:pPr lvl="1"/>
            <a:r>
              <a:rPr lang="en-US" dirty="0"/>
              <a:t>The mechanism of finding where the fault occurs is known as </a:t>
            </a:r>
            <a:r>
              <a:rPr lang="en-US" b="1" dirty="0"/>
              <a:t>error detection</a:t>
            </a:r>
            <a:r>
              <a:rPr lang="en-US" dirty="0"/>
              <a:t>, which is performed by one set of control mechanisms, which is performed as another operation.</a:t>
            </a:r>
          </a:p>
          <a:p>
            <a:r>
              <a:rPr lang="en-US" b="1" dirty="0"/>
              <a:t>Data Processing and Revalidation: </a:t>
            </a:r>
          </a:p>
          <a:p>
            <a:pPr lvl="1"/>
            <a:r>
              <a:rPr lang="en-US" dirty="0"/>
              <a:t>Data processing is the mechanism of making them correct. </a:t>
            </a:r>
          </a:p>
          <a:p>
            <a:pPr lvl="1"/>
            <a:r>
              <a:rPr lang="en-US" dirty="0"/>
              <a:t>Error correction on the other hand is the mechanism converting the validated data into meaningful information.</a:t>
            </a:r>
          </a:p>
        </p:txBody>
      </p:sp>
    </p:spTree>
    <p:extLst>
      <p:ext uri="{BB962C8B-B14F-4D97-AF65-F5344CB8AC3E}">
        <p14:creationId xmlns:p14="http://schemas.microsoft.com/office/powerpoint/2010/main" val="21931522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52893"/>
            <a:ext cx="10515600" cy="5624070"/>
          </a:xfrm>
        </p:spPr>
        <p:txBody>
          <a:bodyPr>
            <a:normAutofit/>
          </a:bodyPr>
          <a:lstStyle/>
          <a:p>
            <a:r>
              <a:rPr lang="en-US" dirty="0"/>
              <a:t>They are two ways of processing data:</a:t>
            </a:r>
          </a:p>
          <a:p>
            <a:r>
              <a:rPr lang="en-US" b="1" dirty="0"/>
              <a:t>Online transaction processing (OLTP): </a:t>
            </a:r>
          </a:p>
          <a:p>
            <a:pPr lvl="1"/>
            <a:r>
              <a:rPr lang="en-US" dirty="0"/>
              <a:t>In an online transaction processing system, the data input device has a direct link with TPS. </a:t>
            </a:r>
          </a:p>
          <a:p>
            <a:pPr lvl="1"/>
            <a:r>
              <a:rPr lang="en-US" dirty="0"/>
              <a:t>So that data is processed as soon as it is entered into the system. </a:t>
            </a:r>
          </a:p>
          <a:p>
            <a:pPr lvl="1"/>
            <a:r>
              <a:rPr lang="en-US" dirty="0"/>
              <a:t>Though the input devices may be at different physical locations they can supply the received input via computer network and telecommunication.</a:t>
            </a:r>
          </a:p>
          <a:p>
            <a:pPr lvl="1"/>
            <a:r>
              <a:rPr lang="en-US" dirty="0"/>
              <a:t>Online computer systems work with time-sensitive, transaction-related data which is processed immediately and is always kept current. </a:t>
            </a:r>
          </a:p>
          <a:p>
            <a:pPr lvl="1"/>
            <a:r>
              <a:rPr lang="en-US" dirty="0"/>
              <a:t>Examples of OLTP include online banking, inventory control, manufacturing scheduling, and ticket reservations; OLTP must possess </a:t>
            </a:r>
            <a:r>
              <a:rPr lang="en-US" b="1" dirty="0"/>
              <a:t>ACID (Atomicity, Consistency, Isolation, Durability) </a:t>
            </a:r>
            <a:r>
              <a:rPr lang="en-US" dirty="0"/>
              <a:t>qualities to maintain data integrity and to ensure that transactions are correctly executed.</a:t>
            </a:r>
          </a:p>
        </p:txBody>
      </p:sp>
    </p:spTree>
    <p:extLst>
      <p:ext uri="{BB962C8B-B14F-4D97-AF65-F5344CB8AC3E}">
        <p14:creationId xmlns:p14="http://schemas.microsoft.com/office/powerpoint/2010/main" val="22722284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56930"/>
            <a:ext cx="10515600" cy="5220033"/>
          </a:xfrm>
        </p:spPr>
        <p:txBody>
          <a:bodyPr/>
          <a:lstStyle/>
          <a:p>
            <a:r>
              <a:rPr lang="en-US" b="1" dirty="0"/>
              <a:t>Batch processing: </a:t>
            </a:r>
          </a:p>
          <a:p>
            <a:pPr lvl="1"/>
            <a:r>
              <a:rPr lang="en-US" dirty="0"/>
              <a:t>In this type of processing, transactions are accumulated over time and processed periodically. </a:t>
            </a:r>
          </a:p>
          <a:p>
            <a:pPr lvl="1"/>
            <a:r>
              <a:rPr lang="en-US" dirty="0"/>
              <a:t>The processing period can be a day, a week, a month, or any other time applicable to the application.</a:t>
            </a:r>
          </a:p>
        </p:txBody>
      </p:sp>
    </p:spTree>
    <p:extLst>
      <p:ext uri="{BB962C8B-B14F-4D97-AF65-F5344CB8AC3E}">
        <p14:creationId xmlns:p14="http://schemas.microsoft.com/office/powerpoint/2010/main" val="258217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20994"/>
            <a:ext cx="10515600" cy="5847907"/>
          </a:xfrm>
        </p:spPr>
        <p:txBody>
          <a:bodyPr>
            <a:normAutofit/>
          </a:bodyPr>
          <a:lstStyle/>
          <a:p>
            <a:r>
              <a:rPr lang="en-US" b="1" dirty="0"/>
              <a:t>Example of Batch processing includes:</a:t>
            </a:r>
          </a:p>
          <a:p>
            <a:pPr lvl="1"/>
            <a:r>
              <a:rPr lang="en-US" dirty="0"/>
              <a:t>A stock control program may store records of every item sold in a shop that day. </a:t>
            </a:r>
          </a:p>
          <a:p>
            <a:pPr lvl="1"/>
            <a:r>
              <a:rPr lang="en-US" dirty="0"/>
              <a:t>Then, at the end of each day it calculates what needs to be ordered.</a:t>
            </a:r>
          </a:p>
          <a:p>
            <a:pPr lvl="1"/>
            <a:r>
              <a:rPr lang="en-US" dirty="0"/>
              <a:t>An online competition stores all the entries until it is time to find the winner.</a:t>
            </a:r>
          </a:p>
          <a:p>
            <a:pPr lvl="1"/>
            <a:r>
              <a:rPr lang="en-US" dirty="0"/>
              <a:t>Electricity, gas, and telephone bills are usually calculated monthly.</a:t>
            </a:r>
            <a:br>
              <a:rPr lang="en-US" dirty="0"/>
            </a:br>
            <a:r>
              <a:rPr lang="en-US" dirty="0"/>
              <a:t>Producing monthly bank statements to send out to customers.</a:t>
            </a:r>
          </a:p>
          <a:p>
            <a:r>
              <a:rPr lang="en-US" dirty="0"/>
              <a:t>After the completion of data processing, the output also needs to be validated for accuracy and reliability. </a:t>
            </a:r>
          </a:p>
          <a:p>
            <a:r>
              <a:rPr lang="en-US" dirty="0"/>
              <a:t>The validation, which is done before processing, is termed input validation and the validation done after data processing is termed as output validation.</a:t>
            </a:r>
          </a:p>
        </p:txBody>
      </p:sp>
    </p:spTree>
    <p:extLst>
      <p:ext uri="{BB962C8B-B14F-4D97-AF65-F5344CB8AC3E}">
        <p14:creationId xmlns:p14="http://schemas.microsoft.com/office/powerpoint/2010/main" val="1229444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06056"/>
            <a:ext cx="10515600" cy="5570907"/>
          </a:xfrm>
        </p:spPr>
        <p:txBody>
          <a:bodyPr/>
          <a:lstStyle/>
          <a:p>
            <a:r>
              <a:rPr lang="en-US" b="1" dirty="0"/>
              <a:t>Data Storage: </a:t>
            </a:r>
          </a:p>
          <a:p>
            <a:pPr lvl="1"/>
            <a:r>
              <a:rPr lang="en-US" dirty="0"/>
              <a:t>After the data is processed and converted to the information they need to be stored inside the computer for future use. </a:t>
            </a:r>
          </a:p>
          <a:p>
            <a:pPr lvl="1"/>
            <a:r>
              <a:rPr lang="en-US" dirty="0"/>
              <a:t>Data has now become one of the most important assets of every business firm. </a:t>
            </a:r>
          </a:p>
          <a:p>
            <a:pPr lvl="1"/>
            <a:r>
              <a:rPr lang="en-US" dirty="0"/>
              <a:t>To perform different business analytics data is the most important entity, which helps the business find new concepts, solve existing problems, and sell more products or services.</a:t>
            </a:r>
          </a:p>
        </p:txBody>
      </p:sp>
    </p:spTree>
    <p:extLst>
      <p:ext uri="{BB962C8B-B14F-4D97-AF65-F5344CB8AC3E}">
        <p14:creationId xmlns:p14="http://schemas.microsoft.com/office/powerpoint/2010/main" val="7168037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06056"/>
            <a:ext cx="10515600" cy="5570907"/>
          </a:xfrm>
        </p:spPr>
        <p:txBody>
          <a:bodyPr>
            <a:normAutofit/>
          </a:bodyPr>
          <a:lstStyle/>
          <a:p>
            <a:r>
              <a:rPr lang="en-US" b="1" dirty="0"/>
              <a:t>Output Generation: </a:t>
            </a:r>
          </a:p>
          <a:p>
            <a:pPr lvl="1"/>
            <a:r>
              <a:rPr lang="en-US" dirty="0"/>
              <a:t>Once the processed data is stored, it can be retrieved in different formats. </a:t>
            </a:r>
          </a:p>
          <a:p>
            <a:pPr lvl="1"/>
            <a:r>
              <a:rPr lang="en-US" dirty="0"/>
              <a:t>The information system generates reports in different formats such as documents, reports, forms etc. </a:t>
            </a:r>
          </a:p>
          <a:p>
            <a:pPr lvl="1"/>
            <a:r>
              <a:rPr lang="en-US" dirty="0"/>
              <a:t>The generated report is then communicated to decision makers.</a:t>
            </a:r>
          </a:p>
          <a:p>
            <a:pPr lvl="1"/>
            <a:r>
              <a:rPr lang="en-US" dirty="0"/>
              <a:t>Documents are one of the most used output formats. </a:t>
            </a:r>
          </a:p>
          <a:p>
            <a:pPr lvl="1"/>
            <a:r>
              <a:rPr lang="en-US" dirty="0"/>
              <a:t>Examples of such a format include invoices, paychecks, purchase invoices, sales receipts, job orders etc. </a:t>
            </a:r>
          </a:p>
          <a:p>
            <a:pPr lvl="1"/>
            <a:r>
              <a:rPr lang="en-US" dirty="0"/>
              <a:t>Whereas a report is the summary of two or more transactions i.e. a report may summarize all the invoices from a given supplier. </a:t>
            </a:r>
          </a:p>
          <a:p>
            <a:pPr lvl="1"/>
            <a:r>
              <a:rPr lang="en-US" dirty="0"/>
              <a:t>Digital reporting formats are popular these days. </a:t>
            </a:r>
          </a:p>
          <a:p>
            <a:pPr lvl="1"/>
            <a:r>
              <a:rPr lang="en-US" dirty="0"/>
              <a:t>Those reports appear on computer screens or smart devices. </a:t>
            </a:r>
          </a:p>
          <a:p>
            <a:pPr lvl="1"/>
            <a:r>
              <a:rPr lang="en-US" dirty="0"/>
              <a:t>It is the flexible way of presenting reports. </a:t>
            </a:r>
          </a:p>
          <a:p>
            <a:pPr lvl="1"/>
            <a:r>
              <a:rPr lang="en-US" dirty="0"/>
              <a:t>Such softcopy presentations are known as forms.</a:t>
            </a:r>
          </a:p>
        </p:txBody>
      </p:sp>
    </p:spTree>
    <p:extLst>
      <p:ext uri="{BB962C8B-B14F-4D97-AF65-F5344CB8AC3E}">
        <p14:creationId xmlns:p14="http://schemas.microsoft.com/office/powerpoint/2010/main" val="26269386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37953"/>
            <a:ext cx="10515600" cy="5539010"/>
          </a:xfrm>
        </p:spPr>
        <p:txBody>
          <a:bodyPr/>
          <a:lstStyle/>
          <a:p>
            <a:r>
              <a:rPr lang="en-US" b="1" dirty="0"/>
              <a:t>Query Support: </a:t>
            </a:r>
          </a:p>
          <a:p>
            <a:pPr lvl="1"/>
            <a:r>
              <a:rPr lang="en-US" dirty="0"/>
              <a:t>This is the last step of a </a:t>
            </a:r>
            <a:r>
              <a:rPr lang="en-US" b="1" dirty="0"/>
              <a:t>TPS</a:t>
            </a:r>
            <a:r>
              <a:rPr lang="en-US" dirty="0"/>
              <a:t>, which responds to the request for data of the users by providing relevant information. </a:t>
            </a:r>
          </a:p>
          <a:p>
            <a:pPr lvl="1"/>
            <a:r>
              <a:rPr lang="en-US" dirty="0"/>
              <a:t>For example, a college principal may query the system for the number of enrolled students in the BIM program.</a:t>
            </a:r>
          </a:p>
          <a:p>
            <a:pPr lvl="1"/>
            <a:r>
              <a:rPr lang="en-US" dirty="0"/>
              <a:t>A TPS is the data lifeline for a company because it is the source of data to other information systems such as </a:t>
            </a:r>
            <a:r>
              <a:rPr lang="en-US" b="1" dirty="0"/>
              <a:t>MIS </a:t>
            </a:r>
            <a:r>
              <a:rPr lang="en-US" dirty="0"/>
              <a:t>and </a:t>
            </a:r>
            <a:r>
              <a:rPr lang="en-US" b="1" dirty="0"/>
              <a:t>DSS</a:t>
            </a:r>
            <a:r>
              <a:rPr lang="en-US" dirty="0"/>
              <a:t>. </a:t>
            </a:r>
          </a:p>
          <a:p>
            <a:pPr lvl="1"/>
            <a:r>
              <a:rPr lang="en-US" dirty="0"/>
              <a:t>If the TPS goes out of business, the consequences can be serious for the organization. </a:t>
            </a:r>
          </a:p>
          <a:p>
            <a:pPr lvl="1"/>
            <a:r>
              <a:rPr lang="en-US" dirty="0"/>
              <a:t>The examples of TPS include Airlines Reservation System, Payroll Processing System, Transport Ticket Reservation System, and Purchase Order Entry System etc.</a:t>
            </a:r>
          </a:p>
        </p:txBody>
      </p:sp>
    </p:spTree>
    <p:extLst>
      <p:ext uri="{BB962C8B-B14F-4D97-AF65-F5344CB8AC3E}">
        <p14:creationId xmlns:p14="http://schemas.microsoft.com/office/powerpoint/2010/main" val="40886381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B86F4-2D5E-623C-23B0-16CD096C84C6}"/>
              </a:ext>
            </a:extLst>
          </p:cNvPr>
          <p:cNvSpPr>
            <a:spLocks noGrp="1"/>
          </p:cNvSpPr>
          <p:nvPr>
            <p:ph type="title"/>
          </p:nvPr>
        </p:nvSpPr>
        <p:spPr>
          <a:xfrm>
            <a:off x="838200" y="129590"/>
            <a:ext cx="10515600" cy="1325563"/>
          </a:xfrm>
        </p:spPr>
        <p:txBody>
          <a:bodyPr>
            <a:normAutofit/>
          </a:bodyPr>
          <a:lstStyle/>
          <a:p>
            <a:r>
              <a:rPr lang="en-US" sz="3600" b="1" dirty="0">
                <a:solidFill>
                  <a:srgbClr val="000000"/>
                </a:solidFill>
                <a:effectLst/>
                <a:latin typeface="Segoe UI" panose="020B0502040204020203" pitchFamily="34" charset="0"/>
                <a:ea typeface="Calibri" panose="020F0502020204030204" pitchFamily="34" charset="0"/>
              </a:rPr>
              <a:t>Systems based on major business functions (Functional Area Information Systems)</a:t>
            </a:r>
            <a:endParaRPr lang="en-US" sz="7200" b="1" dirty="0"/>
          </a:p>
        </p:txBody>
      </p:sp>
      <p:sp>
        <p:nvSpPr>
          <p:cNvPr id="3" name="Content Placeholder 2">
            <a:extLst>
              <a:ext uri="{FF2B5EF4-FFF2-40B4-BE49-F238E27FC236}">
                <a16:creationId xmlns:a16="http://schemas.microsoft.com/office/drawing/2014/main" id="{6C665EB7-3F12-A50A-2A24-77C0570082E1}"/>
              </a:ext>
            </a:extLst>
          </p:cNvPr>
          <p:cNvSpPr>
            <a:spLocks noGrp="1"/>
          </p:cNvSpPr>
          <p:nvPr>
            <p:ph idx="1"/>
          </p:nvPr>
        </p:nvSpPr>
        <p:spPr>
          <a:xfrm>
            <a:off x="838200" y="1607134"/>
            <a:ext cx="10515600" cy="4763799"/>
          </a:xfrm>
        </p:spPr>
        <p:txBody>
          <a:bodyPr>
            <a:noAutofit/>
          </a:bodyPr>
          <a:lstStyle/>
          <a:p>
            <a:r>
              <a:rPr lang="en-US" sz="2400" dirty="0">
                <a:solidFill>
                  <a:srgbClr val="000000"/>
                </a:solidFill>
                <a:effectLst/>
                <a:latin typeface="Segoe UI" panose="020B0502040204020203" pitchFamily="34" charset="0"/>
                <a:ea typeface="Calibri" panose="020F0502020204030204" pitchFamily="34" charset="0"/>
              </a:rPr>
              <a:t>A typical business organization has different functional areas such as sales and marketing, manufacturing and production, finance and accounting, quality control and human resources. </a:t>
            </a:r>
          </a:p>
          <a:p>
            <a:r>
              <a:rPr lang="en-US" sz="2400" dirty="0">
                <a:solidFill>
                  <a:srgbClr val="000000"/>
                </a:solidFill>
                <a:effectLst/>
                <a:latin typeface="Segoe UI" panose="020B0502040204020203" pitchFamily="34" charset="0"/>
                <a:ea typeface="Calibri" panose="020F0502020204030204" pitchFamily="34" charset="0"/>
              </a:rPr>
              <a:t>To increase organizational productivity &amp; market growth and enhance communication in the workplace the information system needs to cover those functions. </a:t>
            </a:r>
          </a:p>
          <a:p>
            <a:r>
              <a:rPr lang="en-US" sz="2400" dirty="0">
                <a:solidFill>
                  <a:srgbClr val="000000"/>
                </a:solidFill>
                <a:effectLst/>
                <a:latin typeface="Segoe UI" panose="020B0502040204020203" pitchFamily="34" charset="0"/>
                <a:ea typeface="Calibri" panose="020F0502020204030204" pitchFamily="34" charset="0"/>
              </a:rPr>
              <a:t>Although stand-alone systems were developed a few years ago to meet the functional needs individually but those systems are integrated with each other to facilitate information flow, hence making it a cross functional system. </a:t>
            </a:r>
          </a:p>
        </p:txBody>
      </p:sp>
    </p:spTree>
    <p:extLst>
      <p:ext uri="{BB962C8B-B14F-4D97-AF65-F5344CB8AC3E}">
        <p14:creationId xmlns:p14="http://schemas.microsoft.com/office/powerpoint/2010/main" val="24651090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C45FF2-DF3F-5901-CD71-724B9BAB6C23}"/>
              </a:ext>
            </a:extLst>
          </p:cNvPr>
          <p:cNvSpPr>
            <a:spLocks noGrp="1"/>
          </p:cNvSpPr>
          <p:nvPr>
            <p:ph idx="1"/>
          </p:nvPr>
        </p:nvSpPr>
        <p:spPr>
          <a:xfrm>
            <a:off x="838200" y="775855"/>
            <a:ext cx="10515600" cy="5401108"/>
          </a:xfrm>
        </p:spPr>
        <p:txBody>
          <a:bodyPr>
            <a:noAutofit/>
          </a:bodyPr>
          <a:lstStyle/>
          <a:p>
            <a:r>
              <a:rPr lang="en-US" sz="2400" dirty="0">
                <a:solidFill>
                  <a:srgbClr val="000000"/>
                </a:solidFill>
                <a:effectLst/>
                <a:latin typeface="Segoe UI" panose="020B0502040204020203" pitchFamily="34" charset="0"/>
                <a:ea typeface="Calibri" panose="020F0502020204030204" pitchFamily="34" charset="0"/>
              </a:rPr>
              <a:t>Truly successful systems that have a lasting impact on the organization are those highly integrated and cross-functional systems that are not narrowly defined by functional boundaries but instead address the broad information needs of the management regardless of their functional specifications.</a:t>
            </a:r>
          </a:p>
          <a:p>
            <a:r>
              <a:rPr lang="en-US" sz="2400" dirty="0">
                <a:solidFill>
                  <a:srgbClr val="000000"/>
                </a:solidFill>
                <a:effectLst/>
                <a:latin typeface="Segoe UI" panose="020B0502040204020203" pitchFamily="34" charset="0"/>
                <a:ea typeface="Calibri" panose="020F0502020204030204" pitchFamily="34" charset="0"/>
              </a:rPr>
              <a:t>Focusing on the function prospective, all the functional information systems are integrated to make it a complete Business Information System. </a:t>
            </a:r>
          </a:p>
          <a:p>
            <a:r>
              <a:rPr lang="en-US" sz="2400" dirty="0">
                <a:solidFill>
                  <a:srgbClr val="000000"/>
                </a:solidFill>
                <a:effectLst/>
                <a:latin typeface="Segoe UI" panose="020B0502040204020203" pitchFamily="34" charset="0"/>
                <a:ea typeface="Calibri" panose="020F0502020204030204" pitchFamily="34" charset="0"/>
              </a:rPr>
              <a:t>Business information systems are the forefront of change and guide organizations toward their goals. </a:t>
            </a:r>
          </a:p>
          <a:p>
            <a:r>
              <a:rPr lang="en-US" sz="2400" dirty="0">
                <a:solidFill>
                  <a:srgbClr val="000000"/>
                </a:solidFill>
                <a:effectLst/>
                <a:latin typeface="Segoe UI" panose="020B0502040204020203" pitchFamily="34" charset="0"/>
                <a:ea typeface="Calibri" panose="020F0502020204030204" pitchFamily="34" charset="0"/>
              </a:rPr>
              <a:t>These systems will enhance understanding of the fundamentals of using information systems to model and solve business problems. </a:t>
            </a:r>
          </a:p>
          <a:p>
            <a:r>
              <a:rPr lang="en-US" sz="2400" dirty="0">
                <a:solidFill>
                  <a:srgbClr val="000000"/>
                </a:solidFill>
                <a:effectLst/>
                <a:latin typeface="Segoe UI" panose="020B0502040204020203" pitchFamily="34" charset="0"/>
                <a:ea typeface="Calibri" panose="020F0502020204030204" pitchFamily="34" charset="0"/>
              </a:rPr>
              <a:t>Thus, business information systems provide us with the skills necessary to lead communication across all business functions. </a:t>
            </a:r>
          </a:p>
          <a:p>
            <a:endParaRPr lang="en-US" sz="2400" dirty="0"/>
          </a:p>
        </p:txBody>
      </p:sp>
    </p:spTree>
    <p:extLst>
      <p:ext uri="{BB962C8B-B14F-4D97-AF65-F5344CB8AC3E}">
        <p14:creationId xmlns:p14="http://schemas.microsoft.com/office/powerpoint/2010/main" val="29262069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4196FE-381B-CD68-5EBA-50364C7167DD}"/>
              </a:ext>
            </a:extLst>
          </p:cNvPr>
          <p:cNvSpPr>
            <a:spLocks noGrp="1"/>
          </p:cNvSpPr>
          <p:nvPr>
            <p:ph idx="1"/>
          </p:nvPr>
        </p:nvSpPr>
        <p:spPr>
          <a:xfrm>
            <a:off x="838200" y="886691"/>
            <a:ext cx="10515600" cy="5290272"/>
          </a:xfrm>
        </p:spPr>
        <p:txBody>
          <a:bodyPr/>
          <a:lstStyle/>
          <a:p>
            <a:r>
              <a:rPr lang="en-US" dirty="0">
                <a:solidFill>
                  <a:srgbClr val="000000"/>
                </a:solidFill>
                <a:effectLst/>
                <a:latin typeface="Segoe UI" panose="020B0502040204020203" pitchFamily="34" charset="0"/>
                <a:ea typeface="Calibri" panose="020F0502020204030204" pitchFamily="34" charset="0"/>
              </a:rPr>
              <a:t>One way of assessing the contribution of information systems to organizational productivity and market growth is to study the impact of information systems and each of the following functional areas in an organization.</a:t>
            </a:r>
          </a:p>
          <a:p>
            <a:pPr lvl="1"/>
            <a:r>
              <a:rPr lang="en-US" b="1" dirty="0">
                <a:solidFill>
                  <a:srgbClr val="000000"/>
                </a:solidFill>
                <a:effectLst/>
                <a:latin typeface="Segoe UI" panose="020B0502040204020203" pitchFamily="34" charset="0"/>
                <a:ea typeface="Calibri" panose="020F0502020204030204" pitchFamily="34" charset="0"/>
              </a:rPr>
              <a:t>Marketing Information System</a:t>
            </a:r>
          </a:p>
          <a:p>
            <a:pPr lvl="1"/>
            <a:r>
              <a:rPr lang="en-US" b="1" dirty="0">
                <a:solidFill>
                  <a:srgbClr val="000000"/>
                </a:solidFill>
                <a:effectLst/>
                <a:latin typeface="Segoe UI" panose="020B0502040204020203" pitchFamily="34" charset="0"/>
                <a:ea typeface="Calibri" panose="020F0502020204030204" pitchFamily="34" charset="0"/>
              </a:rPr>
              <a:t>Manufacturing and Production Information System</a:t>
            </a:r>
          </a:p>
          <a:p>
            <a:pPr lvl="1"/>
            <a:r>
              <a:rPr lang="en-US" b="1" dirty="0">
                <a:solidFill>
                  <a:srgbClr val="000000"/>
                </a:solidFill>
                <a:effectLst/>
                <a:latin typeface="Segoe UI" panose="020B0502040204020203" pitchFamily="34" charset="0"/>
                <a:ea typeface="Calibri" panose="020F0502020204030204" pitchFamily="34" charset="0"/>
              </a:rPr>
              <a:t>Financing and Accounting Information System</a:t>
            </a:r>
          </a:p>
          <a:p>
            <a:pPr lvl="1"/>
            <a:r>
              <a:rPr lang="en-US" b="1" dirty="0">
                <a:solidFill>
                  <a:srgbClr val="000000"/>
                </a:solidFill>
                <a:effectLst/>
                <a:latin typeface="Segoe UI" panose="020B0502040204020203" pitchFamily="34" charset="0"/>
                <a:ea typeface="Calibri" panose="020F0502020204030204" pitchFamily="34" charset="0"/>
              </a:rPr>
              <a:t>Human Resources Information System</a:t>
            </a:r>
          </a:p>
          <a:p>
            <a:pPr lvl="1"/>
            <a:r>
              <a:rPr lang="en-US" b="1" dirty="0">
                <a:solidFill>
                  <a:srgbClr val="000000"/>
                </a:solidFill>
                <a:effectLst/>
                <a:latin typeface="Segoe UI" panose="020B0502040204020203" pitchFamily="34" charset="0"/>
                <a:ea typeface="Calibri" panose="020F0502020204030204" pitchFamily="34" charset="0"/>
              </a:rPr>
              <a:t>Quality Control Information System</a:t>
            </a:r>
            <a:endParaRPr lang="en-US" b="1" dirty="0"/>
          </a:p>
          <a:p>
            <a:endParaRPr lang="en-US" dirty="0"/>
          </a:p>
        </p:txBody>
      </p:sp>
    </p:spTree>
    <p:extLst>
      <p:ext uri="{BB962C8B-B14F-4D97-AF65-F5344CB8AC3E}">
        <p14:creationId xmlns:p14="http://schemas.microsoft.com/office/powerpoint/2010/main" val="19189463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70083-D9D7-EA6F-86B4-41017F2B45C8}"/>
              </a:ext>
            </a:extLst>
          </p:cNvPr>
          <p:cNvSpPr>
            <a:spLocks noGrp="1"/>
          </p:cNvSpPr>
          <p:nvPr>
            <p:ph type="title"/>
          </p:nvPr>
        </p:nvSpPr>
        <p:spPr/>
        <p:txBody>
          <a:bodyPr>
            <a:normAutofit/>
          </a:bodyPr>
          <a:lstStyle/>
          <a:p>
            <a:r>
              <a:rPr lang="en-US" sz="4000" b="1" dirty="0">
                <a:solidFill>
                  <a:srgbClr val="000000"/>
                </a:solidFill>
                <a:effectLst/>
                <a:latin typeface="Segoe UI" panose="020B0502040204020203" pitchFamily="34" charset="0"/>
                <a:ea typeface="Calibri" panose="020F0502020204030204" pitchFamily="34" charset="0"/>
              </a:rPr>
              <a:t>Marketing Information Systems</a:t>
            </a:r>
            <a:endParaRPr lang="en-US" sz="8000" dirty="0"/>
          </a:p>
        </p:txBody>
      </p:sp>
      <p:sp>
        <p:nvSpPr>
          <p:cNvPr id="3" name="Content Placeholder 2">
            <a:extLst>
              <a:ext uri="{FF2B5EF4-FFF2-40B4-BE49-F238E27FC236}">
                <a16:creationId xmlns:a16="http://schemas.microsoft.com/office/drawing/2014/main" id="{1D352418-5389-DDEF-0206-953EDA777FDF}"/>
              </a:ext>
            </a:extLst>
          </p:cNvPr>
          <p:cNvSpPr>
            <a:spLocks noGrp="1"/>
          </p:cNvSpPr>
          <p:nvPr>
            <p:ph idx="1"/>
          </p:nvPr>
        </p:nvSpPr>
        <p:spPr/>
        <p:txBody>
          <a:bodyPr>
            <a:normAutofit lnSpcReduction="10000"/>
          </a:bodyPr>
          <a:lstStyle/>
          <a:p>
            <a:r>
              <a:rPr lang="en-US" dirty="0">
                <a:solidFill>
                  <a:srgbClr val="000000"/>
                </a:solidFill>
                <a:effectLst/>
                <a:latin typeface="Segoe UI" panose="020B0502040204020203" pitchFamily="34" charset="0"/>
                <a:ea typeface="Calibri" panose="020F0502020204030204" pitchFamily="34" charset="0"/>
              </a:rPr>
              <a:t>The market is always changing; some markets change quickly whereas some progress slowly, but they always change. </a:t>
            </a:r>
          </a:p>
          <a:p>
            <a:r>
              <a:rPr lang="en-US" dirty="0">
                <a:solidFill>
                  <a:srgbClr val="000000"/>
                </a:solidFill>
                <a:effectLst/>
                <a:latin typeface="Segoe UI" panose="020B0502040204020203" pitchFamily="34" charset="0"/>
                <a:ea typeface="Calibri" panose="020F0502020204030204" pitchFamily="34" charset="0"/>
              </a:rPr>
              <a:t>In context with market change, Hugh Davidson (2007) says‘ tomorrow’s standards are always higher’. </a:t>
            </a:r>
          </a:p>
          <a:p>
            <a:r>
              <a:rPr lang="en-US" dirty="0">
                <a:solidFill>
                  <a:srgbClr val="000000"/>
                </a:solidFill>
                <a:effectLst/>
                <a:latin typeface="Segoe UI" panose="020B0502040204020203" pitchFamily="34" charset="0"/>
                <a:ea typeface="Calibri" panose="020F0502020204030204" pitchFamily="34" charset="0"/>
              </a:rPr>
              <a:t>The market management strategy of the business firm must be set up to ensure that these changes can be anticipated, monitored, and acted upon. </a:t>
            </a:r>
          </a:p>
          <a:p>
            <a:r>
              <a:rPr lang="en-US" dirty="0">
                <a:solidFill>
                  <a:srgbClr val="000000"/>
                </a:solidFill>
                <a:effectLst/>
                <a:latin typeface="Segoe UI" panose="020B0502040204020203" pitchFamily="34" charset="0"/>
                <a:ea typeface="Calibri" panose="020F0502020204030204" pitchFamily="34" charset="0"/>
              </a:rPr>
              <a:t>Marketing management is about finding ways of satisfying customers’ wants and needs, while achieving organizational objectives in terms of profit or some other measure of corporate performance. </a:t>
            </a:r>
            <a:endParaRPr lang="en-US" dirty="0"/>
          </a:p>
        </p:txBody>
      </p:sp>
    </p:spTree>
    <p:extLst>
      <p:ext uri="{BB962C8B-B14F-4D97-AF65-F5344CB8AC3E}">
        <p14:creationId xmlns:p14="http://schemas.microsoft.com/office/powerpoint/2010/main" val="41515952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9D1FE5-C900-DCFD-480C-4A17712A06AE}"/>
              </a:ext>
            </a:extLst>
          </p:cNvPr>
          <p:cNvSpPr>
            <a:spLocks noGrp="1"/>
          </p:cNvSpPr>
          <p:nvPr>
            <p:ph idx="1"/>
          </p:nvPr>
        </p:nvSpPr>
        <p:spPr>
          <a:xfrm>
            <a:off x="838200" y="637309"/>
            <a:ext cx="10515600" cy="5539654"/>
          </a:xfrm>
        </p:spPr>
        <p:txBody>
          <a:bodyPr>
            <a:normAutofit lnSpcReduction="10000"/>
          </a:bodyPr>
          <a:lstStyle/>
          <a:p>
            <a:r>
              <a:rPr lang="en-US" dirty="0">
                <a:solidFill>
                  <a:srgbClr val="000000"/>
                </a:solidFill>
                <a:effectLst/>
                <a:latin typeface="Segoe UI" panose="020B0502040204020203" pitchFamily="34" charset="0"/>
                <a:ea typeface="Calibri" panose="020F0502020204030204" pitchFamily="34" charset="0"/>
              </a:rPr>
              <a:t>It brings together all customer- imposing resources, such as product design and specification, advertising, and other forms of promotion, pricing policy, selling, channels of distribution and physical distribution to achieve this end. </a:t>
            </a:r>
          </a:p>
          <a:p>
            <a:r>
              <a:rPr lang="en-US" dirty="0">
                <a:solidFill>
                  <a:srgbClr val="000000"/>
                </a:solidFill>
                <a:effectLst/>
                <a:latin typeface="Segoe UI" panose="020B0502040204020203" pitchFamily="34" charset="0"/>
                <a:ea typeface="Calibri" panose="020F0502020204030204" pitchFamily="34" charset="0"/>
              </a:rPr>
              <a:t>These customer- imposing resources are often summarized under four headings and referred to as the four Ps of the marketing mix (price, promotion, place, and product). </a:t>
            </a:r>
          </a:p>
          <a:p>
            <a:r>
              <a:rPr lang="en-US" dirty="0">
                <a:solidFill>
                  <a:srgbClr val="000000"/>
                </a:solidFill>
                <a:effectLst/>
                <a:latin typeface="Segoe UI" panose="020B0502040204020203" pitchFamily="34" charset="0"/>
                <a:ea typeface="Calibri" panose="020F0502020204030204" pitchFamily="34" charset="0"/>
              </a:rPr>
              <a:t>The art or science of marketing management is concerned with making decisions/policies with respect to the elements of the’ marketing mix such that the company’s interface with its markets is both profitable and customer satisfying. </a:t>
            </a:r>
          </a:p>
          <a:p>
            <a:r>
              <a:rPr lang="en-US" dirty="0">
                <a:solidFill>
                  <a:srgbClr val="000000"/>
                </a:solidFill>
                <a:effectLst/>
                <a:latin typeface="Segoe UI" panose="020B0502040204020203" pitchFamily="34" charset="0"/>
                <a:ea typeface="Calibri" panose="020F0502020204030204" pitchFamily="34" charset="0"/>
              </a:rPr>
              <a:t>A marketing information system is a management information system designed to support marketing decision-making.</a:t>
            </a:r>
            <a:br>
              <a:rPr lang="en-US" dirty="0">
                <a:effectLst/>
                <a:latin typeface="Segoe UI" panose="020B0502040204020203" pitchFamily="34" charset="0"/>
                <a:ea typeface="Calibri" panose="020F0502020204030204" pitchFamily="34" charset="0"/>
              </a:rPr>
            </a:br>
            <a:endParaRPr lang="en-US" sz="4000" dirty="0"/>
          </a:p>
        </p:txBody>
      </p:sp>
    </p:spTree>
    <p:extLst>
      <p:ext uri="{BB962C8B-B14F-4D97-AF65-F5344CB8AC3E}">
        <p14:creationId xmlns:p14="http://schemas.microsoft.com/office/powerpoint/2010/main" val="35098252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0EE46A-E8D5-5213-BCC7-76C421825B1B}"/>
              </a:ext>
            </a:extLst>
          </p:cNvPr>
          <p:cNvSpPr>
            <a:spLocks noGrp="1"/>
          </p:cNvSpPr>
          <p:nvPr>
            <p:ph idx="1"/>
          </p:nvPr>
        </p:nvSpPr>
        <p:spPr>
          <a:xfrm>
            <a:off x="838200" y="678873"/>
            <a:ext cx="10515600" cy="5498090"/>
          </a:xfrm>
        </p:spPr>
        <p:txBody>
          <a:bodyPr>
            <a:normAutofit/>
          </a:bodyPr>
          <a:lstStyle/>
          <a:p>
            <a:r>
              <a:rPr lang="en-US" dirty="0">
                <a:solidFill>
                  <a:srgbClr val="000000"/>
                </a:solidFill>
                <a:effectLst/>
                <a:latin typeface="Segoe UI" panose="020B0502040204020203" pitchFamily="34" charset="0"/>
                <a:ea typeface="Calibri" panose="020F0502020204030204" pitchFamily="34" charset="0"/>
              </a:rPr>
              <a:t>Managers require information to help them forecast changes in product demand, increase selling productivity, and exercise control over sales and distribution expenses. </a:t>
            </a:r>
          </a:p>
          <a:p>
            <a:r>
              <a:rPr lang="en-US" dirty="0">
                <a:solidFill>
                  <a:srgbClr val="000000"/>
                </a:solidFill>
                <a:effectLst/>
                <a:latin typeface="Segoe UI" panose="020B0502040204020203" pitchFamily="34" charset="0"/>
                <a:ea typeface="Calibri" panose="020F0502020204030204" pitchFamily="34" charset="0"/>
              </a:rPr>
              <a:t>Marketing information system helps them with marketing business processes (identifying customers, promoting products and services) and sales processes (selling the products and services for the firm’s products or services, developing products and services to meet their needs, taking orders, contacting customers, and providing customer support). </a:t>
            </a:r>
          </a:p>
          <a:p>
            <a:r>
              <a:rPr lang="en-US" dirty="0">
                <a:solidFill>
                  <a:srgbClr val="000000"/>
                </a:solidFill>
                <a:effectLst/>
                <a:latin typeface="Segoe UI" panose="020B0502040204020203" pitchFamily="34" charset="0"/>
                <a:ea typeface="Calibri" panose="020F0502020204030204" pitchFamily="34" charset="0"/>
              </a:rPr>
              <a:t>To automate these marketing business processes an information system is needed which is referred to as a marketing information system.</a:t>
            </a:r>
            <a:endParaRPr lang="en-US" sz="4000" dirty="0"/>
          </a:p>
        </p:txBody>
      </p:sp>
    </p:spTree>
    <p:extLst>
      <p:ext uri="{BB962C8B-B14F-4D97-AF65-F5344CB8AC3E}">
        <p14:creationId xmlns:p14="http://schemas.microsoft.com/office/powerpoint/2010/main" val="19929832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D070B4-8393-A291-92AB-EE5B34F6DF9B}"/>
              </a:ext>
            </a:extLst>
          </p:cNvPr>
          <p:cNvSpPr>
            <a:spLocks noGrp="1"/>
          </p:cNvSpPr>
          <p:nvPr>
            <p:ph idx="1"/>
          </p:nvPr>
        </p:nvSpPr>
        <p:spPr/>
        <p:txBody>
          <a:bodyPr>
            <a:normAutofit/>
          </a:bodyPr>
          <a:lstStyle/>
          <a:p>
            <a:r>
              <a:rPr lang="en-US" dirty="0">
                <a:solidFill>
                  <a:srgbClr val="000000"/>
                </a:solidFill>
                <a:effectLst/>
                <a:latin typeface="Segoe UI" panose="020B0502040204020203" pitchFamily="34" charset="0"/>
                <a:ea typeface="Calibri" panose="020F0502020204030204" pitchFamily="34" charset="0"/>
              </a:rPr>
              <a:t>“Marketing information system is a system in which marketing data is formally gathered, stored, analyzed and distributed to managers in accordance with their informational needs</a:t>
            </a:r>
            <a:br>
              <a:rPr lang="en-US" dirty="0">
                <a:effectLst/>
                <a:latin typeface="Segoe UI" panose="020B0502040204020203" pitchFamily="34" charset="0"/>
                <a:ea typeface="Calibri" panose="020F0502020204030204" pitchFamily="34" charset="0"/>
              </a:rPr>
            </a:br>
            <a:r>
              <a:rPr lang="en-US" dirty="0">
                <a:solidFill>
                  <a:srgbClr val="000000"/>
                </a:solidFill>
                <a:effectLst/>
                <a:latin typeface="Segoe UI" panose="020B0502040204020203" pitchFamily="34" charset="0"/>
                <a:ea typeface="Calibri" panose="020F0502020204030204" pitchFamily="34" charset="0"/>
              </a:rPr>
              <a:t>on a regular basis.” - Jobber (2007)</a:t>
            </a:r>
            <a:endParaRPr lang="en-US" sz="4000" dirty="0"/>
          </a:p>
        </p:txBody>
      </p:sp>
    </p:spTree>
    <p:extLst>
      <p:ext uri="{BB962C8B-B14F-4D97-AF65-F5344CB8AC3E}">
        <p14:creationId xmlns:p14="http://schemas.microsoft.com/office/powerpoint/2010/main" val="41132231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1032FB-974D-9C19-4529-5AEB7B1FC8DF}"/>
              </a:ext>
            </a:extLst>
          </p:cNvPr>
          <p:cNvSpPr>
            <a:spLocks noGrp="1"/>
          </p:cNvSpPr>
          <p:nvPr>
            <p:ph idx="1"/>
          </p:nvPr>
        </p:nvSpPr>
        <p:spPr>
          <a:xfrm>
            <a:off x="838200" y="734291"/>
            <a:ext cx="10515600" cy="5442672"/>
          </a:xfrm>
        </p:spPr>
        <p:txBody>
          <a:bodyPr>
            <a:normAutofit/>
          </a:bodyPr>
          <a:lstStyle/>
          <a:p>
            <a:r>
              <a:rPr lang="en-US" sz="2600" dirty="0">
                <a:solidFill>
                  <a:srgbClr val="000000"/>
                </a:solidFill>
                <a:effectLst/>
                <a:latin typeface="Segoe UI" panose="020B0502040204020203" pitchFamily="34" charset="0"/>
                <a:ea typeface="Calibri" panose="020F0502020204030204" pitchFamily="34" charset="0"/>
              </a:rPr>
              <a:t>A marketing information system serves to fulfill an organization’s informational requirements across various aspects of sales, distribution, advertising, market analysis and more. </a:t>
            </a:r>
          </a:p>
          <a:p>
            <a:r>
              <a:rPr lang="en-US" sz="2600" dirty="0">
                <a:solidFill>
                  <a:srgbClr val="000000"/>
                </a:solidFill>
                <a:effectLst/>
                <a:latin typeface="Segoe UI" panose="020B0502040204020203" pitchFamily="34" charset="0"/>
                <a:ea typeface="Calibri" panose="020F0502020204030204" pitchFamily="34" charset="0"/>
              </a:rPr>
              <a:t>It gathers and evaluates marketing data from both internal and external sources, ensuring continuous access to relevant information critical for informed decision making. </a:t>
            </a:r>
          </a:p>
          <a:p>
            <a:r>
              <a:rPr lang="en-US" sz="2600" dirty="0">
                <a:solidFill>
                  <a:srgbClr val="000000"/>
                </a:solidFill>
                <a:effectLst/>
                <a:latin typeface="Segoe UI" panose="020B0502040204020203" pitchFamily="34" charset="0"/>
                <a:ea typeface="Calibri" panose="020F0502020204030204" pitchFamily="34" charset="0"/>
              </a:rPr>
              <a:t>Without this information and its insightful analysis, an organization risks losing touch with its markets, suppliers, customers, and prospects. </a:t>
            </a:r>
          </a:p>
          <a:p>
            <a:r>
              <a:rPr lang="en-US" sz="2600" dirty="0">
                <a:solidFill>
                  <a:srgbClr val="000000"/>
                </a:solidFill>
                <a:effectLst/>
                <a:latin typeface="Segoe UI" panose="020B0502040204020203" pitchFamily="34" charset="0"/>
                <a:ea typeface="Calibri" panose="020F0502020204030204" pitchFamily="34" charset="0"/>
              </a:rPr>
              <a:t>Timely marketing information forms the foundation for key decisions such as product enhancements, pricing strategies, distribution channels, and promotional activities. </a:t>
            </a:r>
            <a:endParaRPr lang="en-US" sz="2600" dirty="0"/>
          </a:p>
        </p:txBody>
      </p:sp>
    </p:spTree>
    <p:extLst>
      <p:ext uri="{BB962C8B-B14F-4D97-AF65-F5344CB8AC3E}">
        <p14:creationId xmlns:p14="http://schemas.microsoft.com/office/powerpoint/2010/main" val="33881790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CA1BBC-E23B-BA6A-4D7D-9F378E7B12C4}"/>
              </a:ext>
            </a:extLst>
          </p:cNvPr>
          <p:cNvSpPr>
            <a:spLocks noGrp="1"/>
          </p:cNvSpPr>
          <p:nvPr>
            <p:ph idx="1"/>
          </p:nvPr>
        </p:nvSpPr>
        <p:spPr>
          <a:xfrm>
            <a:off x="838200" y="969818"/>
            <a:ext cx="10515600" cy="5207145"/>
          </a:xfrm>
        </p:spPr>
        <p:txBody>
          <a:bodyPr>
            <a:normAutofit/>
          </a:bodyPr>
          <a:lstStyle/>
          <a:p>
            <a:r>
              <a:rPr lang="en-US" dirty="0">
                <a:solidFill>
                  <a:srgbClr val="000000"/>
                </a:solidFill>
                <a:effectLst/>
                <a:latin typeface="Segoe UI" panose="020B0502040204020203" pitchFamily="34" charset="0"/>
                <a:ea typeface="Calibri" panose="020F0502020204030204" pitchFamily="34" charset="0"/>
              </a:rPr>
              <a:t>Therefore, a marketing information system is tailored to the specific needs and objectives of the organization, guiding</a:t>
            </a:r>
            <a:br>
              <a:rPr lang="en-US" dirty="0">
                <a:effectLst/>
                <a:latin typeface="Segoe UI" panose="020B0502040204020203" pitchFamily="34" charset="0"/>
                <a:ea typeface="Calibri" panose="020F0502020204030204" pitchFamily="34" charset="0"/>
              </a:rPr>
            </a:br>
            <a:r>
              <a:rPr lang="en-US" dirty="0">
                <a:solidFill>
                  <a:srgbClr val="000000"/>
                </a:solidFill>
                <a:effectLst/>
                <a:latin typeface="Segoe UI" panose="020B0502040204020203" pitchFamily="34" charset="0"/>
                <a:ea typeface="Calibri" panose="020F0502020204030204" pitchFamily="34" charset="0"/>
              </a:rPr>
              <a:t>strategic sales and marketing plans. </a:t>
            </a:r>
          </a:p>
          <a:p>
            <a:r>
              <a:rPr lang="en-US" dirty="0">
                <a:solidFill>
                  <a:srgbClr val="000000"/>
                </a:solidFill>
                <a:effectLst/>
                <a:latin typeface="Segoe UI" panose="020B0502040204020203" pitchFamily="34" charset="0"/>
                <a:ea typeface="Calibri" panose="020F0502020204030204" pitchFamily="34" charset="0"/>
              </a:rPr>
              <a:t>While the operational aspects of marketing systems may vary among firms, their underlying policies and procedures are shaped by the strategic marketing goals of the organization.</a:t>
            </a:r>
            <a:br>
              <a:rPr lang="en-US" dirty="0">
                <a:effectLst/>
                <a:latin typeface="Segoe UI" panose="020B0502040204020203" pitchFamily="34" charset="0"/>
                <a:ea typeface="Calibri" panose="020F0502020204030204" pitchFamily="34" charset="0"/>
              </a:rPr>
            </a:br>
            <a:endParaRPr lang="en-US" sz="4000" dirty="0"/>
          </a:p>
        </p:txBody>
      </p:sp>
    </p:spTree>
    <p:extLst>
      <p:ext uri="{BB962C8B-B14F-4D97-AF65-F5344CB8AC3E}">
        <p14:creationId xmlns:p14="http://schemas.microsoft.com/office/powerpoint/2010/main" val="13581398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A87866-E8A5-81AF-0A63-E90C7E9D8645}"/>
              </a:ext>
            </a:extLst>
          </p:cNvPr>
          <p:cNvSpPr>
            <a:spLocks noGrp="1"/>
          </p:cNvSpPr>
          <p:nvPr>
            <p:ph idx="1"/>
          </p:nvPr>
        </p:nvSpPr>
        <p:spPr>
          <a:xfrm>
            <a:off x="838200" y="928255"/>
            <a:ext cx="10515600" cy="5248708"/>
          </a:xfrm>
        </p:spPr>
        <p:txBody>
          <a:bodyPr>
            <a:normAutofit/>
          </a:bodyPr>
          <a:lstStyle/>
          <a:p>
            <a:r>
              <a:rPr lang="en-US" dirty="0">
                <a:solidFill>
                  <a:srgbClr val="000000"/>
                </a:solidFill>
                <a:effectLst/>
                <a:latin typeface="Segoe UI" panose="020B0502040204020203" pitchFamily="34" charset="0"/>
                <a:ea typeface="Calibri" panose="020F0502020204030204" pitchFamily="34" charset="0"/>
              </a:rPr>
              <a:t>An effective marketing information system is the one that automates the sales and marketing functions such as capture customer information that leads a business firm to improve productivity, enhance customer service and create better marketing and sales strategies. </a:t>
            </a:r>
          </a:p>
          <a:p>
            <a:r>
              <a:rPr lang="en-US" dirty="0">
                <a:solidFill>
                  <a:srgbClr val="000000"/>
                </a:solidFill>
                <a:effectLst/>
                <a:latin typeface="Segoe UI" panose="020B0502040204020203" pitchFamily="34" charset="0"/>
                <a:ea typeface="Calibri" panose="020F0502020204030204" pitchFamily="34" charset="0"/>
              </a:rPr>
              <a:t>The marketing information system also helps the company closely monitor and respond to marketing information which includes stock on hand, merchandise opportunities, effectiveness of applied promotion mechanisms, advertising strategies etc.</a:t>
            </a:r>
            <a:endParaRPr lang="en-US" sz="4000" dirty="0"/>
          </a:p>
        </p:txBody>
      </p:sp>
    </p:spTree>
    <p:extLst>
      <p:ext uri="{BB962C8B-B14F-4D97-AF65-F5344CB8AC3E}">
        <p14:creationId xmlns:p14="http://schemas.microsoft.com/office/powerpoint/2010/main" val="1597208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395285-4AD4-057F-870C-8006F91A38A4}"/>
              </a:ext>
            </a:extLst>
          </p:cNvPr>
          <p:cNvSpPr>
            <a:spLocks noGrp="1"/>
          </p:cNvSpPr>
          <p:nvPr>
            <p:ph idx="1"/>
          </p:nvPr>
        </p:nvSpPr>
        <p:spPr>
          <a:xfrm>
            <a:off x="838200" y="942109"/>
            <a:ext cx="10515600" cy="5234854"/>
          </a:xfrm>
        </p:spPr>
        <p:txBody>
          <a:bodyPr>
            <a:normAutofit/>
          </a:bodyPr>
          <a:lstStyle/>
          <a:p>
            <a:r>
              <a:rPr lang="en-US" dirty="0">
                <a:solidFill>
                  <a:srgbClr val="000000"/>
                </a:solidFill>
                <a:effectLst/>
                <a:latin typeface="Segoe UI" panose="020B0502040204020203" pitchFamily="34" charset="0"/>
                <a:ea typeface="Calibri" panose="020F0502020204030204" pitchFamily="34" charset="0"/>
              </a:rPr>
              <a:t>“Integrated marketing information systems can enhance the total quality management efforts of the organization. </a:t>
            </a:r>
          </a:p>
          <a:p>
            <a:r>
              <a:rPr lang="en-US" dirty="0">
                <a:solidFill>
                  <a:srgbClr val="000000"/>
                </a:solidFill>
                <a:effectLst/>
                <a:latin typeface="Segoe UI" panose="020B0502040204020203" pitchFamily="34" charset="0"/>
                <a:ea typeface="Calibri" panose="020F0502020204030204" pitchFamily="34" charset="0"/>
              </a:rPr>
              <a:t>The principles of total quality management should be dynamically applied to marketing by rewarding both quality and quantity, including quality of leads, reduction of product cycle time for closing a deal, and decreases in the rejection rate of proposals.” - Paul Selden, President, Sales Automation Association, Michigan, USA</a:t>
            </a:r>
            <a:endParaRPr lang="en-US" sz="4000" dirty="0"/>
          </a:p>
        </p:txBody>
      </p:sp>
    </p:spTree>
    <p:extLst>
      <p:ext uri="{BB962C8B-B14F-4D97-AF65-F5344CB8AC3E}">
        <p14:creationId xmlns:p14="http://schemas.microsoft.com/office/powerpoint/2010/main" val="42476752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ED0E6647-4688-690C-B2B0-F229CD73A2DC}"/>
              </a:ext>
            </a:extLst>
          </p:cNvPr>
          <p:cNvGrpSpPr/>
          <p:nvPr/>
        </p:nvGrpSpPr>
        <p:grpSpPr>
          <a:xfrm>
            <a:off x="914400" y="1080657"/>
            <a:ext cx="10363200" cy="3463635"/>
            <a:chOff x="817418" y="1025237"/>
            <a:chExt cx="10363200" cy="3463635"/>
          </a:xfrm>
        </p:grpSpPr>
        <p:sp>
          <p:nvSpPr>
            <p:cNvPr id="4" name="Rectangle 3">
              <a:extLst>
                <a:ext uri="{FF2B5EF4-FFF2-40B4-BE49-F238E27FC236}">
                  <a16:creationId xmlns:a16="http://schemas.microsoft.com/office/drawing/2014/main" id="{85DE9FD5-FF82-C1BC-1EF9-D8A3A709CCE5}"/>
                </a:ext>
              </a:extLst>
            </p:cNvPr>
            <p:cNvSpPr/>
            <p:nvPr/>
          </p:nvSpPr>
          <p:spPr>
            <a:xfrm>
              <a:off x="817418" y="1025237"/>
              <a:ext cx="1884218" cy="346363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285750" indent="-285750">
                <a:lnSpc>
                  <a:spcPct val="150000"/>
                </a:lnSpc>
                <a:buFont typeface="Wingdings" panose="05000000000000000000" pitchFamily="2" charset="2"/>
                <a:buChar char="§"/>
              </a:pPr>
              <a:r>
                <a:rPr lang="en-US" dirty="0"/>
                <a:t>TPS Data</a:t>
              </a:r>
            </a:p>
            <a:p>
              <a:pPr marL="285750" indent="-285750">
                <a:lnSpc>
                  <a:spcPct val="150000"/>
                </a:lnSpc>
                <a:buFont typeface="Wingdings" panose="05000000000000000000" pitchFamily="2" charset="2"/>
                <a:buChar char="§"/>
              </a:pPr>
              <a:r>
                <a:rPr lang="en-US" dirty="0"/>
                <a:t>Orders</a:t>
              </a:r>
            </a:p>
            <a:p>
              <a:pPr marL="285750" indent="-285750">
                <a:lnSpc>
                  <a:spcPct val="150000"/>
                </a:lnSpc>
                <a:buFont typeface="Wingdings" panose="05000000000000000000" pitchFamily="2" charset="2"/>
                <a:buChar char="§"/>
              </a:pPr>
              <a:r>
                <a:rPr lang="en-US" dirty="0"/>
                <a:t>Forecasted Data</a:t>
              </a:r>
            </a:p>
            <a:p>
              <a:pPr marL="285750" indent="-285750">
                <a:lnSpc>
                  <a:spcPct val="150000"/>
                </a:lnSpc>
                <a:buFont typeface="Wingdings" panose="05000000000000000000" pitchFamily="2" charset="2"/>
                <a:buChar char="§"/>
              </a:pPr>
              <a:r>
                <a:rPr lang="en-US" dirty="0"/>
                <a:t>Marketing Intelligence</a:t>
              </a:r>
            </a:p>
            <a:p>
              <a:pPr marL="285750" indent="-285750">
                <a:lnSpc>
                  <a:spcPct val="150000"/>
                </a:lnSpc>
                <a:buFont typeface="Wingdings" panose="05000000000000000000" pitchFamily="2" charset="2"/>
                <a:buChar char="§"/>
              </a:pPr>
              <a:r>
                <a:rPr lang="en-US" dirty="0"/>
                <a:t>Marketing Research</a:t>
              </a:r>
            </a:p>
          </p:txBody>
        </p:sp>
        <p:sp>
          <p:nvSpPr>
            <p:cNvPr id="5" name="Rectangle: Rounded Corners 4">
              <a:extLst>
                <a:ext uri="{FF2B5EF4-FFF2-40B4-BE49-F238E27FC236}">
                  <a16:creationId xmlns:a16="http://schemas.microsoft.com/office/drawing/2014/main" id="{62945D1C-0401-105C-3A94-49BA0B3B775E}"/>
                </a:ext>
              </a:extLst>
            </p:cNvPr>
            <p:cNvSpPr/>
            <p:nvPr/>
          </p:nvSpPr>
          <p:spPr>
            <a:xfrm>
              <a:off x="3588328" y="2147454"/>
              <a:ext cx="1870362" cy="12192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Process and Storage</a:t>
              </a:r>
            </a:p>
          </p:txBody>
        </p:sp>
        <p:sp>
          <p:nvSpPr>
            <p:cNvPr id="6" name="Rectangle 5">
              <a:extLst>
                <a:ext uri="{FF2B5EF4-FFF2-40B4-BE49-F238E27FC236}">
                  <a16:creationId xmlns:a16="http://schemas.microsoft.com/office/drawing/2014/main" id="{E5AC1C49-FA5A-F252-9353-FB6DA4DB367A}"/>
                </a:ext>
              </a:extLst>
            </p:cNvPr>
            <p:cNvSpPr/>
            <p:nvPr/>
          </p:nvSpPr>
          <p:spPr>
            <a:xfrm>
              <a:off x="6317672" y="1378527"/>
              <a:ext cx="1884218" cy="275705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285750" indent="-285750">
                <a:lnSpc>
                  <a:spcPct val="150000"/>
                </a:lnSpc>
                <a:buFont typeface="Wingdings" panose="05000000000000000000" pitchFamily="2" charset="2"/>
                <a:buChar char="§"/>
              </a:pPr>
              <a:r>
                <a:rPr lang="en-US" dirty="0"/>
                <a:t>Price</a:t>
              </a:r>
            </a:p>
            <a:p>
              <a:pPr marL="285750" indent="-285750">
                <a:lnSpc>
                  <a:spcPct val="150000"/>
                </a:lnSpc>
                <a:buFont typeface="Wingdings" panose="05000000000000000000" pitchFamily="2" charset="2"/>
                <a:buChar char="§"/>
              </a:pPr>
              <a:r>
                <a:rPr lang="en-US" dirty="0"/>
                <a:t>Place</a:t>
              </a:r>
            </a:p>
            <a:p>
              <a:pPr marL="285750" indent="-285750">
                <a:lnSpc>
                  <a:spcPct val="150000"/>
                </a:lnSpc>
                <a:buFont typeface="Wingdings" panose="05000000000000000000" pitchFamily="2" charset="2"/>
                <a:buChar char="§"/>
              </a:pPr>
              <a:r>
                <a:rPr lang="en-US" dirty="0"/>
                <a:t>Product</a:t>
              </a:r>
            </a:p>
            <a:p>
              <a:pPr marL="285750" indent="-285750">
                <a:lnSpc>
                  <a:spcPct val="150000"/>
                </a:lnSpc>
                <a:buFont typeface="Wingdings" panose="05000000000000000000" pitchFamily="2" charset="2"/>
                <a:buChar char="§"/>
              </a:pPr>
              <a:r>
                <a:rPr lang="en-US" dirty="0"/>
                <a:t>Promotion</a:t>
              </a:r>
            </a:p>
            <a:p>
              <a:pPr marL="285750" indent="-285750">
                <a:lnSpc>
                  <a:spcPct val="150000"/>
                </a:lnSpc>
                <a:buFont typeface="Wingdings" panose="05000000000000000000" pitchFamily="2" charset="2"/>
                <a:buChar char="§"/>
              </a:pPr>
              <a:r>
                <a:rPr lang="en-US" dirty="0"/>
                <a:t>Physical</a:t>
              </a:r>
            </a:p>
            <a:p>
              <a:pPr marL="285750" indent="-285750">
                <a:lnSpc>
                  <a:spcPct val="150000"/>
                </a:lnSpc>
                <a:buFont typeface="Wingdings" panose="05000000000000000000" pitchFamily="2" charset="2"/>
                <a:buChar char="§"/>
              </a:pPr>
              <a:r>
                <a:rPr lang="en-US" dirty="0"/>
                <a:t>Evidence</a:t>
              </a:r>
            </a:p>
          </p:txBody>
        </p:sp>
        <p:sp>
          <p:nvSpPr>
            <p:cNvPr id="7" name="Oval 6">
              <a:extLst>
                <a:ext uri="{FF2B5EF4-FFF2-40B4-BE49-F238E27FC236}">
                  <a16:creationId xmlns:a16="http://schemas.microsoft.com/office/drawing/2014/main" id="{81C799A3-A85C-9CBF-78C2-69D69BF327C3}"/>
                </a:ext>
              </a:extLst>
            </p:cNvPr>
            <p:cNvSpPr/>
            <p:nvPr/>
          </p:nvSpPr>
          <p:spPr>
            <a:xfrm>
              <a:off x="9074727" y="2015836"/>
              <a:ext cx="2105891" cy="14824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Decision Makers</a:t>
              </a:r>
            </a:p>
          </p:txBody>
        </p:sp>
        <p:sp>
          <p:nvSpPr>
            <p:cNvPr id="8" name="Arrow: Right 7">
              <a:extLst>
                <a:ext uri="{FF2B5EF4-FFF2-40B4-BE49-F238E27FC236}">
                  <a16:creationId xmlns:a16="http://schemas.microsoft.com/office/drawing/2014/main" id="{AF6B9394-23DC-15A3-4F2C-D3C739C3B819}"/>
                </a:ext>
              </a:extLst>
            </p:cNvPr>
            <p:cNvSpPr/>
            <p:nvPr/>
          </p:nvSpPr>
          <p:spPr>
            <a:xfrm>
              <a:off x="2701637" y="2563091"/>
              <a:ext cx="886691" cy="401782"/>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Arrow: Right 8">
              <a:extLst>
                <a:ext uri="{FF2B5EF4-FFF2-40B4-BE49-F238E27FC236}">
                  <a16:creationId xmlns:a16="http://schemas.microsoft.com/office/drawing/2014/main" id="{90C5F622-BD63-41E9-38F5-88DB1A5B15E2}"/>
                </a:ext>
              </a:extLst>
            </p:cNvPr>
            <p:cNvSpPr/>
            <p:nvPr/>
          </p:nvSpPr>
          <p:spPr>
            <a:xfrm>
              <a:off x="5458692" y="2563091"/>
              <a:ext cx="872835" cy="401782"/>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Arrow: Right 9">
              <a:extLst>
                <a:ext uri="{FF2B5EF4-FFF2-40B4-BE49-F238E27FC236}">
                  <a16:creationId xmlns:a16="http://schemas.microsoft.com/office/drawing/2014/main" id="{D55531B5-E6D7-0F82-ED7F-03A76E10A8C8}"/>
                </a:ext>
              </a:extLst>
            </p:cNvPr>
            <p:cNvSpPr/>
            <p:nvPr/>
          </p:nvSpPr>
          <p:spPr>
            <a:xfrm>
              <a:off x="8201892" y="2549236"/>
              <a:ext cx="872835" cy="401782"/>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13" name="TextBox 12">
            <a:extLst>
              <a:ext uri="{FF2B5EF4-FFF2-40B4-BE49-F238E27FC236}">
                <a16:creationId xmlns:a16="http://schemas.microsoft.com/office/drawing/2014/main" id="{4EAE797E-953A-3B64-C7E1-B29494517416}"/>
              </a:ext>
            </a:extLst>
          </p:cNvPr>
          <p:cNvSpPr txBox="1"/>
          <p:nvPr/>
        </p:nvSpPr>
        <p:spPr>
          <a:xfrm>
            <a:off x="2778369" y="5350217"/>
            <a:ext cx="6635262" cy="461665"/>
          </a:xfrm>
          <a:prstGeom prst="rect">
            <a:avLst/>
          </a:prstGeom>
          <a:noFill/>
        </p:spPr>
        <p:txBody>
          <a:bodyPr wrap="square">
            <a:spAutoFit/>
          </a:bodyPr>
          <a:lstStyle/>
          <a:p>
            <a:pPr algn="ctr"/>
            <a:r>
              <a:rPr lang="en-US" sz="2400" b="1" dirty="0">
                <a:effectLst/>
                <a:latin typeface="Segoe UI" panose="020B0502040204020203" pitchFamily="34" charset="0"/>
                <a:ea typeface="Calibri" panose="020F0502020204030204" pitchFamily="34" charset="0"/>
              </a:rPr>
              <a:t>Figure 6.12: Marketing Information Systems</a:t>
            </a:r>
            <a:endParaRPr lang="en-US" sz="2400" b="1" dirty="0"/>
          </a:p>
        </p:txBody>
      </p:sp>
      <p:sp>
        <p:nvSpPr>
          <p:cNvPr id="12" name="Rectangle 11"/>
          <p:cNvSpPr/>
          <p:nvPr/>
        </p:nvSpPr>
        <p:spPr>
          <a:xfrm>
            <a:off x="766415" y="487490"/>
            <a:ext cx="2180188" cy="3827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Input</a:t>
            </a:r>
          </a:p>
        </p:txBody>
      </p:sp>
      <p:sp>
        <p:nvSpPr>
          <p:cNvPr id="14" name="Rectangle 13"/>
          <p:cNvSpPr/>
          <p:nvPr/>
        </p:nvSpPr>
        <p:spPr>
          <a:xfrm>
            <a:off x="6266669" y="840780"/>
            <a:ext cx="2180188" cy="3827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Output</a:t>
            </a:r>
          </a:p>
        </p:txBody>
      </p:sp>
    </p:spTree>
    <p:extLst>
      <p:ext uri="{BB962C8B-B14F-4D97-AF65-F5344CB8AC3E}">
        <p14:creationId xmlns:p14="http://schemas.microsoft.com/office/powerpoint/2010/main" val="4779583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96FFC4-4E2B-F3AE-4B59-6E5DAD383464}"/>
              </a:ext>
            </a:extLst>
          </p:cNvPr>
          <p:cNvSpPr>
            <a:spLocks noGrp="1"/>
          </p:cNvSpPr>
          <p:nvPr>
            <p:ph idx="1"/>
          </p:nvPr>
        </p:nvSpPr>
        <p:spPr>
          <a:xfrm>
            <a:off x="838200" y="678873"/>
            <a:ext cx="10515600" cy="5498090"/>
          </a:xfrm>
        </p:spPr>
        <p:txBody>
          <a:bodyPr>
            <a:normAutofit/>
          </a:bodyPr>
          <a:lstStyle/>
          <a:p>
            <a:r>
              <a:rPr lang="en-US" sz="2600" dirty="0">
                <a:solidFill>
                  <a:srgbClr val="000000"/>
                </a:solidFill>
                <a:effectLst/>
                <a:latin typeface="Segoe UI" panose="020B0502040204020203" pitchFamily="34" charset="0"/>
                <a:ea typeface="Calibri" panose="020F0502020204030204" pitchFamily="34" charset="0"/>
              </a:rPr>
              <a:t>As shown in the above figure marketing information systems should be able to replace all the paper-based marketing support process with digital form by using the marketing IS software. </a:t>
            </a:r>
          </a:p>
          <a:p>
            <a:r>
              <a:rPr lang="en-US" sz="2600" dirty="0">
                <a:solidFill>
                  <a:srgbClr val="000000"/>
                </a:solidFill>
                <a:effectLst/>
                <a:latin typeface="Segoe UI" panose="020B0502040204020203" pitchFamily="34" charset="0"/>
                <a:ea typeface="Calibri" panose="020F0502020204030204" pitchFamily="34" charset="0"/>
              </a:rPr>
              <a:t>The system captures TPS data, orders, forecast data, market intelligence, marketing research etc. as the input. </a:t>
            </a:r>
          </a:p>
          <a:p>
            <a:r>
              <a:rPr lang="en-US" sz="2600" dirty="0">
                <a:solidFill>
                  <a:srgbClr val="000000"/>
                </a:solidFill>
                <a:effectLst/>
                <a:latin typeface="Segoe UI" panose="020B0502040204020203" pitchFamily="34" charset="0"/>
                <a:ea typeface="Calibri" panose="020F0502020204030204" pitchFamily="34" charset="0"/>
              </a:rPr>
              <a:t>After these inputs are entered into the system, the IS will process them into meaningful information. </a:t>
            </a:r>
          </a:p>
          <a:p>
            <a:r>
              <a:rPr lang="en-US" sz="2600" dirty="0">
                <a:solidFill>
                  <a:srgbClr val="000000"/>
                </a:solidFill>
                <a:effectLst/>
                <a:latin typeface="Segoe UI" panose="020B0502040204020203" pitchFamily="34" charset="0"/>
                <a:ea typeface="Calibri" panose="020F0502020204030204" pitchFamily="34" charset="0"/>
              </a:rPr>
              <a:t>After the processing and storage of data is completed, the system should be able to develop various types of outputs required for the marketing managers. </a:t>
            </a:r>
          </a:p>
          <a:p>
            <a:r>
              <a:rPr lang="en-US" sz="2600" dirty="0">
                <a:solidFill>
                  <a:srgbClr val="000000"/>
                </a:solidFill>
                <a:effectLst/>
                <a:latin typeface="Segoe UI" panose="020B0502040204020203" pitchFamily="34" charset="0"/>
                <a:ea typeface="Calibri" panose="020F0502020204030204" pitchFamily="34" charset="0"/>
              </a:rPr>
              <a:t>The reports would finally be price, place, product, promotion physical</a:t>
            </a:r>
            <a:br>
              <a:rPr lang="en-US" sz="2600" dirty="0">
                <a:effectLst/>
                <a:latin typeface="Segoe UI" panose="020B0502040204020203" pitchFamily="34" charset="0"/>
                <a:ea typeface="Calibri" panose="020F0502020204030204" pitchFamily="34" charset="0"/>
              </a:rPr>
            </a:br>
            <a:r>
              <a:rPr lang="en-US" sz="2600" dirty="0">
                <a:solidFill>
                  <a:srgbClr val="000000"/>
                </a:solidFill>
                <a:effectLst/>
                <a:latin typeface="Segoe UI" panose="020B0502040204020203" pitchFamily="34" charset="0"/>
                <a:ea typeface="Calibri" panose="020F0502020204030204" pitchFamily="34" charset="0"/>
              </a:rPr>
              <a:t>evidence, people, and process etc.</a:t>
            </a:r>
            <a:endParaRPr lang="en-US" sz="2600" dirty="0"/>
          </a:p>
        </p:txBody>
      </p:sp>
    </p:spTree>
    <p:extLst>
      <p:ext uri="{BB962C8B-B14F-4D97-AF65-F5344CB8AC3E}">
        <p14:creationId xmlns:p14="http://schemas.microsoft.com/office/powerpoint/2010/main" val="40331211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DC4546-3AEE-FCEF-42FD-1E8810F8CD93}"/>
              </a:ext>
            </a:extLst>
          </p:cNvPr>
          <p:cNvSpPr>
            <a:spLocks noGrp="1"/>
          </p:cNvSpPr>
          <p:nvPr>
            <p:ph idx="1"/>
          </p:nvPr>
        </p:nvSpPr>
        <p:spPr>
          <a:xfrm>
            <a:off x="838200" y="748145"/>
            <a:ext cx="10515600" cy="5791200"/>
          </a:xfrm>
        </p:spPr>
        <p:txBody>
          <a:bodyPr>
            <a:normAutofit/>
          </a:bodyPr>
          <a:lstStyle/>
          <a:p>
            <a:r>
              <a:rPr lang="en-US" sz="3200" dirty="0">
                <a:solidFill>
                  <a:srgbClr val="000000"/>
                </a:solidFill>
                <a:effectLst/>
                <a:latin typeface="Segoe UI" panose="020B0502040204020203" pitchFamily="34" charset="0"/>
                <a:ea typeface="Calibri" panose="020F0502020204030204" pitchFamily="34" charset="0"/>
              </a:rPr>
              <a:t>Basically, marketing information system performs following:</a:t>
            </a:r>
          </a:p>
          <a:p>
            <a:pPr marL="1028700" lvl="1" indent="-571500">
              <a:buFont typeface="+mj-lt"/>
              <a:buAutoNum type="romanLcPeriod"/>
            </a:pPr>
            <a:r>
              <a:rPr lang="en-US" sz="2600" dirty="0">
                <a:solidFill>
                  <a:srgbClr val="000000"/>
                </a:solidFill>
                <a:effectLst/>
                <a:latin typeface="Segoe UI" panose="020B0502040204020203" pitchFamily="34" charset="0"/>
                <a:ea typeface="Calibri" panose="020F0502020204030204" pitchFamily="34" charset="0"/>
              </a:rPr>
              <a:t>It creates a bank of information about individual customers.</a:t>
            </a:r>
          </a:p>
          <a:p>
            <a:pPr marL="1028700" lvl="1" indent="-571500">
              <a:buFont typeface="+mj-lt"/>
              <a:buAutoNum type="romanLcPeriod"/>
            </a:pPr>
            <a:r>
              <a:rPr lang="en-US" sz="2600" dirty="0">
                <a:solidFill>
                  <a:srgbClr val="000000"/>
                </a:solidFill>
                <a:effectLst/>
                <a:latin typeface="Segoe UI" panose="020B0502040204020203" pitchFamily="34" charset="0"/>
                <a:ea typeface="Calibri" panose="020F0502020204030204" pitchFamily="34" charset="0"/>
              </a:rPr>
              <a:t>It uses that information to analyze buying and inquiry patterns, thereby creating the ability to target goods and services more accurately.</a:t>
            </a:r>
          </a:p>
          <a:p>
            <a:pPr marL="1028700" lvl="1" indent="-571500">
              <a:buFont typeface="+mj-lt"/>
              <a:buAutoNum type="romanLcPeriod"/>
            </a:pPr>
            <a:r>
              <a:rPr lang="en-US" sz="2600" dirty="0">
                <a:solidFill>
                  <a:srgbClr val="000000"/>
                </a:solidFill>
                <a:effectLst/>
                <a:latin typeface="Segoe UI" panose="020B0502040204020203" pitchFamily="34" charset="0"/>
                <a:ea typeface="Calibri" panose="020F0502020204030204" pitchFamily="34" charset="0"/>
              </a:rPr>
              <a:t>It can be used to promote the benefits of brand loyalty to customers at risk from competition.</a:t>
            </a:r>
          </a:p>
          <a:p>
            <a:pPr marL="1028700" lvl="1" indent="-571500">
              <a:buFont typeface="+mj-lt"/>
              <a:buAutoNum type="romanLcPeriod"/>
            </a:pPr>
            <a:r>
              <a:rPr lang="en-US" sz="2600" dirty="0">
                <a:solidFill>
                  <a:srgbClr val="000000"/>
                </a:solidFill>
                <a:effectLst/>
                <a:latin typeface="Segoe UI" panose="020B0502040204020203" pitchFamily="34" charset="0"/>
                <a:ea typeface="Calibri" panose="020F0502020204030204" pitchFamily="34" charset="0"/>
              </a:rPr>
              <a:t>It can fuel sales growth by identifying customers most appropriate to buy new goods and services.</a:t>
            </a:r>
          </a:p>
          <a:p>
            <a:pPr marL="1028700" lvl="1" indent="-571500">
              <a:buFont typeface="+mj-lt"/>
              <a:buAutoNum type="romanLcPeriod"/>
            </a:pPr>
            <a:r>
              <a:rPr lang="en-US" sz="2600" dirty="0">
                <a:solidFill>
                  <a:srgbClr val="000000"/>
                </a:solidFill>
                <a:effectLst/>
                <a:latin typeface="Segoe UI" panose="020B0502040204020203" pitchFamily="34" charset="0"/>
                <a:ea typeface="Calibri" panose="020F0502020204030204" pitchFamily="34" charset="0"/>
              </a:rPr>
              <a:t>It can increase sales effectiveness.</a:t>
            </a:r>
          </a:p>
          <a:p>
            <a:pPr marL="1028700" lvl="1" indent="-571500">
              <a:buFont typeface="+mj-lt"/>
              <a:buAutoNum type="romanLcPeriod"/>
            </a:pPr>
            <a:r>
              <a:rPr lang="en-US" sz="2600" dirty="0">
                <a:solidFill>
                  <a:srgbClr val="000000"/>
                </a:solidFill>
                <a:effectLst/>
                <a:latin typeface="Segoe UI" panose="020B0502040204020203" pitchFamily="34" charset="0"/>
                <a:ea typeface="Calibri" panose="020F0502020204030204" pitchFamily="34" charset="0"/>
              </a:rPr>
              <a:t>It can support low-cost alternatives to traditional sales methods, which can be of strategic importance in markets where margins are being eroded.</a:t>
            </a:r>
            <a:endParaRPr lang="en-US" sz="2600" dirty="0"/>
          </a:p>
        </p:txBody>
      </p:sp>
    </p:spTree>
    <p:extLst>
      <p:ext uri="{BB962C8B-B14F-4D97-AF65-F5344CB8AC3E}">
        <p14:creationId xmlns:p14="http://schemas.microsoft.com/office/powerpoint/2010/main" val="40335957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E3C0AB-26BD-F7EA-223C-1D44244BDAB3}"/>
              </a:ext>
            </a:extLst>
          </p:cNvPr>
          <p:cNvSpPr>
            <a:spLocks noGrp="1"/>
          </p:cNvSpPr>
          <p:nvPr>
            <p:ph idx="1"/>
          </p:nvPr>
        </p:nvSpPr>
        <p:spPr>
          <a:xfrm>
            <a:off x="838200" y="997527"/>
            <a:ext cx="10515600" cy="5179436"/>
          </a:xfrm>
        </p:spPr>
        <p:txBody>
          <a:bodyPr>
            <a:normAutofit/>
          </a:bodyPr>
          <a:lstStyle/>
          <a:p>
            <a:r>
              <a:rPr lang="en-US" dirty="0">
                <a:solidFill>
                  <a:srgbClr val="000000"/>
                </a:solidFill>
                <a:effectLst/>
                <a:latin typeface="Segoe UI" panose="020B0502040204020203" pitchFamily="34" charset="0"/>
                <a:ea typeface="Calibri" panose="020F0502020204030204" pitchFamily="34" charset="0"/>
              </a:rPr>
              <a:t>A company can set up an MIS that helps track ongoing consumer buying trends and behaviors, which can be predicted by the analysis of sales and revenue reports from each</a:t>
            </a:r>
            <a:br>
              <a:rPr lang="en-US" dirty="0">
                <a:effectLst/>
                <a:latin typeface="Segoe UI" panose="020B0502040204020203" pitchFamily="34" charset="0"/>
                <a:ea typeface="Calibri" panose="020F0502020204030204" pitchFamily="34" charset="0"/>
              </a:rPr>
            </a:br>
            <a:r>
              <a:rPr lang="en-US" dirty="0">
                <a:solidFill>
                  <a:srgbClr val="000000"/>
                </a:solidFill>
                <a:effectLst/>
                <a:latin typeface="Segoe UI" panose="020B0502040204020203" pitchFamily="34" charset="0"/>
                <a:ea typeface="Calibri" panose="020F0502020204030204" pitchFamily="34" charset="0"/>
              </a:rPr>
              <a:t>operating region of the company.</a:t>
            </a:r>
            <a:endParaRPr lang="en-US" sz="4000" dirty="0"/>
          </a:p>
        </p:txBody>
      </p:sp>
    </p:spTree>
    <p:extLst>
      <p:ext uri="{BB962C8B-B14F-4D97-AF65-F5344CB8AC3E}">
        <p14:creationId xmlns:p14="http://schemas.microsoft.com/office/powerpoint/2010/main" val="21177482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F5351-22DA-A59E-EAEC-C5A4B20CFB3B}"/>
              </a:ext>
            </a:extLst>
          </p:cNvPr>
          <p:cNvSpPr>
            <a:spLocks noGrp="1"/>
          </p:cNvSpPr>
          <p:nvPr>
            <p:ph type="title"/>
          </p:nvPr>
        </p:nvSpPr>
        <p:spPr/>
        <p:txBody>
          <a:bodyPr>
            <a:normAutofit/>
          </a:bodyPr>
          <a:lstStyle/>
          <a:p>
            <a:r>
              <a:rPr lang="en-US" sz="3200" b="1" dirty="0">
                <a:solidFill>
                  <a:srgbClr val="000000"/>
                </a:solidFill>
                <a:effectLst/>
                <a:latin typeface="Segoe UI" panose="020B0502040204020203" pitchFamily="34" charset="0"/>
                <a:ea typeface="Calibri" panose="020F0502020204030204" pitchFamily="34" charset="0"/>
              </a:rPr>
              <a:t>Manufacturing and production information systems</a:t>
            </a:r>
            <a:endParaRPr lang="en-US" sz="6600" b="1" dirty="0"/>
          </a:p>
        </p:txBody>
      </p:sp>
      <p:sp>
        <p:nvSpPr>
          <p:cNvPr id="3" name="Content Placeholder 2">
            <a:extLst>
              <a:ext uri="{FF2B5EF4-FFF2-40B4-BE49-F238E27FC236}">
                <a16:creationId xmlns:a16="http://schemas.microsoft.com/office/drawing/2014/main" id="{C321535F-A194-800A-724E-2ED93D4B6E7B}"/>
              </a:ext>
            </a:extLst>
          </p:cNvPr>
          <p:cNvSpPr>
            <a:spLocks noGrp="1"/>
          </p:cNvSpPr>
          <p:nvPr>
            <p:ph idx="1"/>
          </p:nvPr>
        </p:nvSpPr>
        <p:spPr/>
        <p:txBody>
          <a:bodyPr>
            <a:normAutofit/>
          </a:bodyPr>
          <a:lstStyle/>
          <a:p>
            <a:r>
              <a:rPr lang="en-US" dirty="0">
                <a:solidFill>
                  <a:srgbClr val="000000"/>
                </a:solidFill>
                <a:effectLst/>
                <a:latin typeface="Segoe UI" panose="020B0502040204020203" pitchFamily="34" charset="0"/>
                <a:ea typeface="Calibri" panose="020F0502020204030204" pitchFamily="34" charset="0"/>
              </a:rPr>
              <a:t>Manufacturing is the organized approach to producing goods and services. </a:t>
            </a:r>
          </a:p>
          <a:p>
            <a:r>
              <a:rPr lang="en-US" dirty="0">
                <a:solidFill>
                  <a:srgbClr val="000000"/>
                </a:solidFill>
                <a:effectLst/>
                <a:latin typeface="Segoe UI" panose="020B0502040204020203" pitchFamily="34" charset="0"/>
                <a:ea typeface="Calibri" panose="020F0502020204030204" pitchFamily="34" charset="0"/>
              </a:rPr>
              <a:t>Modern manufacturing and production have changed significantly. </a:t>
            </a:r>
          </a:p>
          <a:p>
            <a:r>
              <a:rPr lang="en-US" dirty="0">
                <a:solidFill>
                  <a:srgbClr val="000000"/>
                </a:solidFill>
                <a:effectLst/>
                <a:latin typeface="Segoe UI" panose="020B0502040204020203" pitchFamily="34" charset="0"/>
                <a:ea typeface="Calibri" panose="020F0502020204030204" pitchFamily="34" charset="0"/>
              </a:rPr>
              <a:t>Use of computers and information technology are playing big roles in converting the traditional way to computerized way. </a:t>
            </a:r>
          </a:p>
          <a:p>
            <a:r>
              <a:rPr lang="en-US" dirty="0">
                <a:solidFill>
                  <a:srgbClr val="000000"/>
                </a:solidFill>
                <a:effectLst/>
                <a:latin typeface="Segoe UI" panose="020B0502040204020203" pitchFamily="34" charset="0"/>
                <a:ea typeface="Calibri" panose="020F0502020204030204" pitchFamily="34" charset="0"/>
              </a:rPr>
              <a:t>Computer-integrated manufacturing is now the big trend to be followed by business firms, which focus on the use of proper information technologies and</a:t>
            </a:r>
            <a:r>
              <a:rPr lang="en-US" dirty="0">
                <a:effectLst/>
                <a:latin typeface="Segoe UI" panose="020B0502040204020203" pitchFamily="34" charset="0"/>
                <a:ea typeface="Calibri" panose="020F0502020204030204" pitchFamily="34" charset="0"/>
              </a:rPr>
              <a:t> </a:t>
            </a:r>
            <a:r>
              <a:rPr lang="en-US" dirty="0">
                <a:solidFill>
                  <a:srgbClr val="000000"/>
                </a:solidFill>
                <a:effectLst/>
                <a:latin typeface="Segoe UI" panose="020B0502040204020203" pitchFamily="34" charset="0"/>
                <a:ea typeface="Calibri" panose="020F0502020204030204" pitchFamily="34" charset="0"/>
              </a:rPr>
              <a:t>information systems. </a:t>
            </a:r>
            <a:endParaRPr lang="en-US" sz="4000" dirty="0"/>
          </a:p>
        </p:txBody>
      </p:sp>
    </p:spTree>
    <p:extLst>
      <p:ext uri="{BB962C8B-B14F-4D97-AF65-F5344CB8AC3E}">
        <p14:creationId xmlns:p14="http://schemas.microsoft.com/office/powerpoint/2010/main" val="22998816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F73653-3C78-9812-DF4F-42A44FAC4C51}"/>
              </a:ext>
            </a:extLst>
          </p:cNvPr>
          <p:cNvSpPr>
            <a:spLocks noGrp="1"/>
          </p:cNvSpPr>
          <p:nvPr>
            <p:ph idx="1"/>
          </p:nvPr>
        </p:nvSpPr>
        <p:spPr>
          <a:xfrm>
            <a:off x="838200" y="692727"/>
            <a:ext cx="10515600" cy="5484236"/>
          </a:xfrm>
        </p:spPr>
        <p:txBody>
          <a:bodyPr>
            <a:normAutofit lnSpcReduction="10000"/>
          </a:bodyPr>
          <a:lstStyle/>
          <a:p>
            <a:r>
              <a:rPr lang="en-US" sz="2400" dirty="0">
                <a:solidFill>
                  <a:srgbClr val="000000"/>
                </a:solidFill>
                <a:effectLst/>
                <a:latin typeface="Segoe UI" panose="020B0502040204020203" pitchFamily="34" charset="0"/>
                <a:ea typeface="Calibri" panose="020F0502020204030204" pitchFamily="34" charset="0"/>
              </a:rPr>
              <a:t>An information system that is targeted for manufacturing and production use is referred to as the manufacturing and production information system. </a:t>
            </a:r>
          </a:p>
          <a:p>
            <a:r>
              <a:rPr lang="en-US" sz="2400" dirty="0">
                <a:solidFill>
                  <a:srgbClr val="000000"/>
                </a:solidFill>
                <a:effectLst/>
                <a:latin typeface="Segoe UI" panose="020B0502040204020203" pitchFamily="34" charset="0"/>
                <a:ea typeface="Calibri" panose="020F0502020204030204" pitchFamily="34" charset="0"/>
              </a:rPr>
              <a:t>The manufacturing information system supports the functions such as purchasing, receiving, quality control, inventory management, material requirement planning, capacity planning, production scheduling and plant design.</a:t>
            </a:r>
          </a:p>
          <a:p>
            <a:r>
              <a:rPr lang="en-US" sz="2400" dirty="0">
                <a:solidFill>
                  <a:srgbClr val="000000"/>
                </a:solidFill>
                <a:effectLst/>
                <a:latin typeface="Segoe UI" panose="020B0502040204020203" pitchFamily="34" charset="0"/>
                <a:ea typeface="Calibri" panose="020F0502020204030204" pitchFamily="34" charset="0"/>
              </a:rPr>
              <a:t>Likewise, production systems that are also stated as a subset of manufacturing information system focus its concern on production of goods and services. </a:t>
            </a:r>
          </a:p>
          <a:p>
            <a:r>
              <a:rPr lang="en-US" sz="2400" dirty="0">
                <a:solidFill>
                  <a:srgbClr val="000000"/>
                </a:solidFill>
                <a:effectLst/>
                <a:latin typeface="Segoe UI" panose="020B0502040204020203" pitchFamily="34" charset="0"/>
                <a:ea typeface="Calibri" panose="020F0502020204030204" pitchFamily="34" charset="0"/>
              </a:rPr>
              <a:t>It specifically addresses information needs relating to acquiring and managing of raw materials, scheduling equipment, manpower planning, repair and maintenance and other issues related to production of goods and services. </a:t>
            </a:r>
          </a:p>
          <a:p>
            <a:r>
              <a:rPr lang="en-US" sz="2400" dirty="0">
                <a:solidFill>
                  <a:srgbClr val="000000"/>
                </a:solidFill>
                <a:effectLst/>
                <a:latin typeface="Segoe UI" panose="020B0502040204020203" pitchFamily="34" charset="0"/>
                <a:ea typeface="Calibri" panose="020F0502020204030204" pitchFamily="34" charset="0"/>
              </a:rPr>
              <a:t>Thus, this system deals with the planning, development, and production of products and services, and controlling the flow of production.</a:t>
            </a:r>
            <a:br>
              <a:rPr lang="en-US" sz="2400" dirty="0">
                <a:effectLst/>
                <a:latin typeface="Segoe UI" panose="020B0502040204020203" pitchFamily="34" charset="0"/>
                <a:ea typeface="Calibri" panose="020F0502020204030204" pitchFamily="34" charset="0"/>
              </a:rPr>
            </a:br>
            <a:endParaRPr lang="en-US" sz="3600" dirty="0"/>
          </a:p>
        </p:txBody>
      </p:sp>
    </p:spTree>
    <p:extLst>
      <p:ext uri="{BB962C8B-B14F-4D97-AF65-F5344CB8AC3E}">
        <p14:creationId xmlns:p14="http://schemas.microsoft.com/office/powerpoint/2010/main" val="10925987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8DA02B-8890-03A4-4AAC-41C37CE684E1}"/>
              </a:ext>
            </a:extLst>
          </p:cNvPr>
          <p:cNvSpPr>
            <a:spLocks noGrp="1"/>
          </p:cNvSpPr>
          <p:nvPr>
            <p:ph idx="1"/>
          </p:nvPr>
        </p:nvSpPr>
        <p:spPr>
          <a:xfrm>
            <a:off x="838200" y="789709"/>
            <a:ext cx="10515600" cy="5387254"/>
          </a:xfrm>
        </p:spPr>
        <p:txBody>
          <a:bodyPr>
            <a:normAutofit lnSpcReduction="10000"/>
          </a:bodyPr>
          <a:lstStyle/>
          <a:p>
            <a:r>
              <a:rPr lang="en-US" dirty="0">
                <a:solidFill>
                  <a:srgbClr val="000000"/>
                </a:solidFill>
                <a:effectLst/>
                <a:latin typeface="Segoe UI" panose="020B0502040204020203" pitchFamily="34" charset="0"/>
                <a:ea typeface="Calibri" panose="020F0502020204030204" pitchFamily="34" charset="0"/>
              </a:rPr>
              <a:t>This information system incorporates the information regarding how much product is needed, how quickly the product must be produced and how unique the product must be to ensure sufficient sales. </a:t>
            </a:r>
          </a:p>
          <a:p>
            <a:r>
              <a:rPr lang="en-US" dirty="0">
                <a:solidFill>
                  <a:srgbClr val="000000"/>
                </a:solidFill>
                <a:effectLst/>
                <a:latin typeface="Segoe UI" panose="020B0502040204020203" pitchFamily="34" charset="0"/>
                <a:ea typeface="Calibri" panose="020F0502020204030204" pitchFamily="34" charset="0"/>
              </a:rPr>
              <a:t>Similarly, it also covers all activities related to services.</a:t>
            </a:r>
          </a:p>
          <a:p>
            <a:r>
              <a:rPr lang="en-US" dirty="0">
                <a:solidFill>
                  <a:srgbClr val="000000"/>
                </a:solidFill>
                <a:effectLst/>
                <a:latin typeface="Segoe UI" panose="020B0502040204020203" pitchFamily="34" charset="0"/>
                <a:ea typeface="Calibri" panose="020F0502020204030204" pitchFamily="34" charset="0"/>
              </a:rPr>
              <a:t>Manufacturing systems include custom, assembly, flexible, intermittent, reconfigurable, and just-in-time systems. </a:t>
            </a:r>
          </a:p>
          <a:p>
            <a:r>
              <a:rPr lang="en-US" dirty="0">
                <a:solidFill>
                  <a:srgbClr val="000000"/>
                </a:solidFill>
                <a:effectLst/>
                <a:latin typeface="Segoe UI" panose="020B0502040204020203" pitchFamily="34" charset="0"/>
                <a:ea typeface="Calibri" panose="020F0502020204030204" pitchFamily="34" charset="0"/>
              </a:rPr>
              <a:t>It is useless to discuss manufacturing information system without discussing </a:t>
            </a:r>
            <a:r>
              <a:rPr lang="en-US" b="1" dirty="0">
                <a:solidFill>
                  <a:srgbClr val="000000"/>
                </a:solidFill>
                <a:effectLst/>
                <a:latin typeface="Segoe UI" panose="020B0502040204020203" pitchFamily="34" charset="0"/>
                <a:ea typeface="Calibri" panose="020F0502020204030204" pitchFamily="34" charset="0"/>
              </a:rPr>
              <a:t>MRP (Material Requirements Planning), </a:t>
            </a:r>
            <a:r>
              <a:rPr lang="en-US" dirty="0">
                <a:solidFill>
                  <a:srgbClr val="000000"/>
                </a:solidFill>
                <a:effectLst/>
                <a:latin typeface="Segoe UI" panose="020B0502040204020203" pitchFamily="34" charset="0"/>
                <a:ea typeface="Calibri" panose="020F0502020204030204" pitchFamily="34" charset="0"/>
              </a:rPr>
              <a:t>which automates the process of production planning. </a:t>
            </a:r>
          </a:p>
          <a:p>
            <a:r>
              <a:rPr lang="en-US" b="1" dirty="0">
                <a:solidFill>
                  <a:srgbClr val="000000"/>
                </a:solidFill>
                <a:effectLst/>
                <a:latin typeface="Segoe UI" panose="020B0502040204020203" pitchFamily="34" charset="0"/>
                <a:ea typeface="Calibri" panose="020F0502020204030204" pitchFamily="34" charset="0"/>
              </a:rPr>
              <a:t>MRP</a:t>
            </a:r>
            <a:r>
              <a:rPr lang="en-US" dirty="0">
                <a:solidFill>
                  <a:srgbClr val="000000"/>
                </a:solidFill>
                <a:effectLst/>
                <a:latin typeface="Segoe UI" panose="020B0502040204020203" pitchFamily="34" charset="0"/>
                <a:ea typeface="Calibri" panose="020F0502020204030204" pitchFamily="34" charset="0"/>
              </a:rPr>
              <a:t> integrates all the resources required to make a product:</a:t>
            </a:r>
            <a:br>
              <a:rPr lang="en-US" dirty="0">
                <a:effectLst/>
                <a:latin typeface="Segoe UI" panose="020B0502040204020203" pitchFamily="34" charset="0"/>
                <a:ea typeface="Calibri" panose="020F0502020204030204" pitchFamily="34" charset="0"/>
              </a:rPr>
            </a:br>
            <a:r>
              <a:rPr lang="en-US" dirty="0">
                <a:solidFill>
                  <a:srgbClr val="000000"/>
                </a:solidFill>
                <a:effectLst/>
                <a:latin typeface="Segoe UI" panose="020B0502040204020203" pitchFamily="34" charset="0"/>
                <a:ea typeface="Calibri" panose="020F0502020204030204" pitchFamily="34" charset="0"/>
              </a:rPr>
              <a:t>personnel, machines and equipment, plan capacity, pricing, distribution, and cost accounting. </a:t>
            </a:r>
            <a:endParaRPr lang="en-US" sz="4000" dirty="0"/>
          </a:p>
        </p:txBody>
      </p:sp>
    </p:spTree>
    <p:extLst>
      <p:ext uri="{BB962C8B-B14F-4D97-AF65-F5344CB8AC3E}">
        <p14:creationId xmlns:p14="http://schemas.microsoft.com/office/powerpoint/2010/main" val="1507802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48CDC9-705D-8B5E-9E1E-6CFD59D6269C}"/>
              </a:ext>
            </a:extLst>
          </p:cNvPr>
          <p:cNvSpPr>
            <a:spLocks noGrp="1"/>
          </p:cNvSpPr>
          <p:nvPr>
            <p:ph idx="1"/>
          </p:nvPr>
        </p:nvSpPr>
        <p:spPr>
          <a:xfrm>
            <a:off x="838200" y="1025236"/>
            <a:ext cx="10515600" cy="5151727"/>
          </a:xfrm>
        </p:spPr>
        <p:txBody>
          <a:bodyPr>
            <a:normAutofit/>
          </a:bodyPr>
          <a:lstStyle/>
          <a:p>
            <a:r>
              <a:rPr lang="en-US" b="1" dirty="0">
                <a:solidFill>
                  <a:srgbClr val="000000"/>
                </a:solidFill>
                <a:effectLst/>
                <a:latin typeface="Segoe UI" panose="020B0502040204020203" pitchFamily="34" charset="0"/>
                <a:ea typeface="Calibri" panose="020F0502020204030204" pitchFamily="34" charset="0"/>
              </a:rPr>
              <a:t>MRP</a:t>
            </a:r>
            <a:r>
              <a:rPr lang="en-US" dirty="0">
                <a:solidFill>
                  <a:srgbClr val="000000"/>
                </a:solidFill>
                <a:effectLst/>
                <a:latin typeface="Segoe UI" panose="020B0502040204020203" pitchFamily="34" charset="0"/>
                <a:ea typeface="Calibri" panose="020F0502020204030204" pitchFamily="34" charset="0"/>
              </a:rPr>
              <a:t> is a computerized information system developed specially to aid in managing dependent demand inventory and scheduling replacement orders. </a:t>
            </a:r>
          </a:p>
          <a:p>
            <a:r>
              <a:rPr lang="en-US" dirty="0">
                <a:solidFill>
                  <a:srgbClr val="000000"/>
                </a:solidFill>
                <a:effectLst/>
                <a:latin typeface="Segoe UI" panose="020B0502040204020203" pitchFamily="34" charset="0"/>
                <a:ea typeface="Calibri" panose="020F0502020204030204" pitchFamily="34" charset="0"/>
              </a:rPr>
              <a:t>The </a:t>
            </a:r>
            <a:r>
              <a:rPr lang="en-US" b="1" dirty="0">
                <a:solidFill>
                  <a:srgbClr val="000000"/>
                </a:solidFill>
                <a:effectLst/>
                <a:latin typeface="Segoe UI" panose="020B0502040204020203" pitchFamily="34" charset="0"/>
                <a:ea typeface="Calibri" panose="020F0502020204030204" pitchFamily="34" charset="0"/>
              </a:rPr>
              <a:t>MRP</a:t>
            </a:r>
            <a:r>
              <a:rPr lang="en-US" dirty="0">
                <a:solidFill>
                  <a:srgbClr val="000000"/>
                </a:solidFill>
                <a:effectLst/>
                <a:latin typeface="Segoe UI" panose="020B0502040204020203" pitchFamily="34" charset="0"/>
                <a:ea typeface="Calibri" panose="020F0502020204030204" pitchFamily="34" charset="0"/>
              </a:rPr>
              <a:t> system enables businesses to reduce inventory levels, utilize labor and facilities better, and improve customer service.</a:t>
            </a:r>
            <a:endParaRPr lang="en-US" sz="4000" dirty="0"/>
          </a:p>
        </p:txBody>
      </p:sp>
    </p:spTree>
    <p:extLst>
      <p:ext uri="{BB962C8B-B14F-4D97-AF65-F5344CB8AC3E}">
        <p14:creationId xmlns:p14="http://schemas.microsoft.com/office/powerpoint/2010/main" val="16811645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1413A5-F330-3460-D7CC-D8CA640D811F}"/>
              </a:ext>
            </a:extLst>
          </p:cNvPr>
          <p:cNvSpPr>
            <a:spLocks noGrp="1"/>
          </p:cNvSpPr>
          <p:nvPr>
            <p:ph idx="1"/>
          </p:nvPr>
        </p:nvSpPr>
        <p:spPr>
          <a:xfrm>
            <a:off x="838200" y="498764"/>
            <a:ext cx="10515600" cy="5678199"/>
          </a:xfrm>
        </p:spPr>
        <p:txBody>
          <a:bodyPr>
            <a:noAutofit/>
          </a:bodyPr>
          <a:lstStyle/>
          <a:p>
            <a:r>
              <a:rPr lang="en-US" sz="2400" dirty="0">
                <a:solidFill>
                  <a:srgbClr val="000000"/>
                </a:solidFill>
                <a:effectLst/>
                <a:latin typeface="Segoe UI" panose="020B0502040204020203" pitchFamily="34" charset="0"/>
                <a:ea typeface="Calibri" panose="020F0502020204030204" pitchFamily="34" charset="0"/>
              </a:rPr>
              <a:t>The three advantages of Material requirement planning are:</a:t>
            </a:r>
          </a:p>
          <a:p>
            <a:endParaRPr lang="en-US" sz="2400" dirty="0">
              <a:solidFill>
                <a:srgbClr val="000000"/>
              </a:solidFill>
              <a:effectLst/>
              <a:latin typeface="Segoe UI" panose="020B0502040204020203" pitchFamily="34" charset="0"/>
              <a:ea typeface="Calibri" panose="020F0502020204030204" pitchFamily="34" charset="0"/>
            </a:endParaRPr>
          </a:p>
          <a:p>
            <a:pPr lvl="1"/>
            <a:r>
              <a:rPr lang="en-US" sz="2000" dirty="0">
                <a:solidFill>
                  <a:srgbClr val="000000"/>
                </a:solidFill>
                <a:effectLst/>
                <a:latin typeface="Segoe UI" panose="020B0502040204020203" pitchFamily="34" charset="0"/>
                <a:ea typeface="Calibri" panose="020F0502020204030204" pitchFamily="34" charset="0"/>
              </a:rPr>
              <a:t>Statistical forecasting for components with lumpy demand results in large</a:t>
            </a:r>
            <a:br>
              <a:rPr lang="en-US" sz="2000" dirty="0">
                <a:effectLst/>
                <a:latin typeface="Segoe UI" panose="020B0502040204020203" pitchFamily="34" charset="0"/>
                <a:ea typeface="Calibri" panose="020F0502020204030204" pitchFamily="34" charset="0"/>
              </a:rPr>
            </a:br>
            <a:r>
              <a:rPr lang="en-US" sz="2000" dirty="0">
                <a:solidFill>
                  <a:srgbClr val="000000"/>
                </a:solidFill>
                <a:effectLst/>
                <a:latin typeface="Segoe UI" panose="020B0502040204020203" pitchFamily="34" charset="0"/>
                <a:ea typeface="Calibri" panose="020F0502020204030204" pitchFamily="34" charset="0"/>
              </a:rPr>
              <a:t>forecasting errors. MRP calculates the dependent demand of components from the production schedules of their parents, thereby providing a better forecast of component requirements.</a:t>
            </a:r>
          </a:p>
          <a:p>
            <a:endParaRPr lang="en-US" sz="2400" dirty="0">
              <a:solidFill>
                <a:srgbClr val="000000"/>
              </a:solidFill>
              <a:effectLst/>
              <a:latin typeface="Segoe UI" panose="020B0502040204020203" pitchFamily="34" charset="0"/>
              <a:ea typeface="Calibri" panose="020F0502020204030204" pitchFamily="34" charset="0"/>
            </a:endParaRPr>
          </a:p>
          <a:p>
            <a:pPr lvl="1"/>
            <a:r>
              <a:rPr lang="en-US" sz="2000" dirty="0">
                <a:solidFill>
                  <a:srgbClr val="000000"/>
                </a:solidFill>
                <a:effectLst/>
                <a:latin typeface="Segoe UI" panose="020B0502040204020203" pitchFamily="34" charset="0"/>
                <a:ea typeface="Calibri" panose="020F0502020204030204" pitchFamily="34" charset="0"/>
              </a:rPr>
              <a:t>MRP systems provide managers with information useful for planning capacities and estimating financial requirements. Planners can use the information on parent item schedules to identify times when needed components may be unavailable because of capacity shortages, supplier delivery delays, and the like.</a:t>
            </a:r>
          </a:p>
          <a:p>
            <a:endParaRPr lang="en-US" sz="2400" dirty="0">
              <a:effectLst/>
              <a:latin typeface="Segoe UI" panose="020B0502040204020203" pitchFamily="34" charset="0"/>
              <a:ea typeface="Calibri" panose="020F0502020204030204" pitchFamily="34" charset="0"/>
            </a:endParaRPr>
          </a:p>
          <a:p>
            <a:pPr lvl="1"/>
            <a:r>
              <a:rPr lang="en-US" sz="2000" dirty="0">
                <a:solidFill>
                  <a:srgbClr val="000000"/>
                </a:solidFill>
                <a:effectLst/>
                <a:latin typeface="Segoe UI" panose="020B0502040204020203" pitchFamily="34" charset="0"/>
                <a:ea typeface="Calibri" panose="020F0502020204030204" pitchFamily="34" charset="0"/>
              </a:rPr>
              <a:t>MRP systems automatically update the dependent demand and inventory replacement schedules of components when the production schedules of parent item change. The MRP system alerts the planners whenever action is needed on any component.</a:t>
            </a:r>
            <a:endParaRPr lang="en-US" sz="2000" dirty="0"/>
          </a:p>
        </p:txBody>
      </p:sp>
    </p:spTree>
    <p:extLst>
      <p:ext uri="{BB962C8B-B14F-4D97-AF65-F5344CB8AC3E}">
        <p14:creationId xmlns:p14="http://schemas.microsoft.com/office/powerpoint/2010/main" val="301339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77E77-8C1A-F5DF-AFB5-E9D440D5F016}"/>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94DB099F-FED5-4C96-28A6-C72DD7F92085}"/>
              </a:ext>
            </a:extLst>
          </p:cNvPr>
          <p:cNvGrpSpPr/>
          <p:nvPr/>
        </p:nvGrpSpPr>
        <p:grpSpPr>
          <a:xfrm>
            <a:off x="824346" y="1697183"/>
            <a:ext cx="10543309" cy="3463635"/>
            <a:chOff x="775856" y="1080657"/>
            <a:chExt cx="10543309" cy="3463635"/>
          </a:xfrm>
        </p:grpSpPr>
        <p:sp>
          <p:nvSpPr>
            <p:cNvPr id="4" name="Rectangle 3">
              <a:extLst>
                <a:ext uri="{FF2B5EF4-FFF2-40B4-BE49-F238E27FC236}">
                  <a16:creationId xmlns:a16="http://schemas.microsoft.com/office/drawing/2014/main" id="{5060BAFB-2552-AAB7-A267-18F21AD4FA25}"/>
                </a:ext>
              </a:extLst>
            </p:cNvPr>
            <p:cNvSpPr/>
            <p:nvPr/>
          </p:nvSpPr>
          <p:spPr>
            <a:xfrm>
              <a:off x="775856" y="1080657"/>
              <a:ext cx="2064327" cy="346363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285750" indent="-285750">
                <a:buFont typeface="Wingdings" panose="05000000000000000000" pitchFamily="2" charset="2"/>
                <a:buChar char="§"/>
              </a:pPr>
              <a:r>
                <a:rPr lang="en-US" dirty="0"/>
                <a:t>Production Data</a:t>
              </a:r>
            </a:p>
            <a:p>
              <a:pPr marL="285750" indent="-285750">
                <a:buFont typeface="Wingdings" panose="05000000000000000000" pitchFamily="2" charset="2"/>
                <a:buChar char="§"/>
              </a:pPr>
              <a:r>
                <a:rPr lang="en-US" dirty="0"/>
                <a:t>Inventory Data</a:t>
              </a:r>
            </a:p>
            <a:p>
              <a:pPr marL="285750" indent="-285750">
                <a:buFont typeface="Wingdings" panose="05000000000000000000" pitchFamily="2" charset="2"/>
                <a:buChar char="§"/>
              </a:pPr>
              <a:r>
                <a:rPr lang="en-US" dirty="0"/>
                <a:t>Vendor Data</a:t>
              </a:r>
            </a:p>
            <a:p>
              <a:pPr marL="285750" indent="-285750">
                <a:buFont typeface="Wingdings" panose="05000000000000000000" pitchFamily="2" charset="2"/>
                <a:buChar char="§"/>
              </a:pPr>
              <a:r>
                <a:rPr lang="en-US" dirty="0"/>
                <a:t>Personal Data</a:t>
              </a:r>
            </a:p>
            <a:p>
              <a:pPr marL="285750" indent="-285750">
                <a:buFont typeface="Wingdings" panose="05000000000000000000" pitchFamily="2" charset="2"/>
                <a:buChar char="§"/>
              </a:pPr>
              <a:r>
                <a:rPr lang="en-US" dirty="0"/>
                <a:t>Union Data</a:t>
              </a:r>
            </a:p>
            <a:p>
              <a:pPr marL="285750" indent="-285750">
                <a:buFont typeface="Wingdings" panose="05000000000000000000" pitchFamily="2" charset="2"/>
                <a:buChar char="§"/>
              </a:pPr>
              <a:r>
                <a:rPr lang="en-US" dirty="0"/>
                <a:t>Labor Data</a:t>
              </a:r>
            </a:p>
            <a:p>
              <a:pPr marL="285750" indent="-285750">
                <a:buFont typeface="Wingdings" panose="05000000000000000000" pitchFamily="2" charset="2"/>
                <a:buChar char="§"/>
              </a:pPr>
              <a:r>
                <a:rPr lang="en-US" dirty="0"/>
                <a:t>External </a:t>
              </a:r>
            </a:p>
            <a:p>
              <a:pPr marL="285750" indent="-285750">
                <a:buFont typeface="Wingdings" panose="05000000000000000000" pitchFamily="2" charset="2"/>
                <a:buChar char="§"/>
              </a:pPr>
              <a:r>
                <a:rPr lang="en-US" dirty="0"/>
                <a:t>Environment</a:t>
              </a:r>
            </a:p>
            <a:p>
              <a:pPr marL="285750" indent="-285750">
                <a:buFont typeface="Wingdings" panose="05000000000000000000" pitchFamily="2" charset="2"/>
                <a:buChar char="§"/>
              </a:pPr>
              <a:r>
                <a:rPr lang="en-US" dirty="0"/>
                <a:t>Engineering</a:t>
              </a:r>
            </a:p>
            <a:p>
              <a:pPr marL="285750" indent="-285750">
                <a:buFont typeface="Wingdings" panose="05000000000000000000" pitchFamily="2" charset="2"/>
                <a:buChar char="§"/>
              </a:pPr>
              <a:r>
                <a:rPr lang="en-US" dirty="0"/>
                <a:t>Specifications</a:t>
              </a:r>
            </a:p>
            <a:p>
              <a:pPr marL="285750" indent="-285750">
                <a:buFont typeface="Wingdings" panose="05000000000000000000" pitchFamily="2" charset="2"/>
                <a:buChar char="§"/>
              </a:pPr>
              <a:r>
                <a:rPr lang="en-US" dirty="0"/>
                <a:t>Internal</a:t>
              </a:r>
            </a:p>
            <a:p>
              <a:pPr marL="285750" indent="-285750">
                <a:buFont typeface="Wingdings" panose="05000000000000000000" pitchFamily="2" charset="2"/>
                <a:buChar char="§"/>
              </a:pPr>
              <a:endParaRPr lang="en-US" dirty="0"/>
            </a:p>
          </p:txBody>
        </p:sp>
        <p:sp>
          <p:nvSpPr>
            <p:cNvPr id="5" name="Rectangle: Rounded Corners 4">
              <a:extLst>
                <a:ext uri="{FF2B5EF4-FFF2-40B4-BE49-F238E27FC236}">
                  <a16:creationId xmlns:a16="http://schemas.microsoft.com/office/drawing/2014/main" id="{133FD73B-AA96-5694-8DAC-0B73EDB3D8CE}"/>
                </a:ext>
              </a:extLst>
            </p:cNvPr>
            <p:cNvSpPr/>
            <p:nvPr/>
          </p:nvSpPr>
          <p:spPr>
            <a:xfrm>
              <a:off x="3532905" y="2202874"/>
              <a:ext cx="1870362" cy="12192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Process and Storage</a:t>
              </a:r>
            </a:p>
          </p:txBody>
        </p:sp>
        <p:sp>
          <p:nvSpPr>
            <p:cNvPr id="6" name="Rectangle 5">
              <a:extLst>
                <a:ext uri="{FF2B5EF4-FFF2-40B4-BE49-F238E27FC236}">
                  <a16:creationId xmlns:a16="http://schemas.microsoft.com/office/drawing/2014/main" id="{B03B8BA3-F916-4592-ADE0-BC9D511726AF}"/>
                </a:ext>
              </a:extLst>
            </p:cNvPr>
            <p:cNvSpPr/>
            <p:nvPr/>
          </p:nvSpPr>
          <p:spPr>
            <a:xfrm>
              <a:off x="6096004" y="1433947"/>
              <a:ext cx="2258291" cy="275705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285750" indent="-285750">
                <a:buFont typeface="Wingdings" panose="05000000000000000000" pitchFamily="2" charset="2"/>
                <a:buChar char="§"/>
              </a:pPr>
              <a:r>
                <a:rPr lang="en-US" dirty="0"/>
                <a:t>Production</a:t>
              </a:r>
            </a:p>
            <a:p>
              <a:pPr marL="285750" indent="-285750">
                <a:buFont typeface="Wingdings" panose="05000000000000000000" pitchFamily="2" charset="2"/>
                <a:buChar char="§"/>
              </a:pPr>
              <a:r>
                <a:rPr lang="en-US" dirty="0"/>
                <a:t>Subsystem</a:t>
              </a:r>
            </a:p>
            <a:p>
              <a:pPr marL="285750" indent="-285750">
                <a:buFont typeface="Wingdings" panose="05000000000000000000" pitchFamily="2" charset="2"/>
                <a:buChar char="§"/>
              </a:pPr>
              <a:r>
                <a:rPr lang="en-US" dirty="0"/>
                <a:t>Inventory</a:t>
              </a:r>
            </a:p>
            <a:p>
              <a:pPr marL="285750" indent="-285750">
                <a:buFont typeface="Wingdings" panose="05000000000000000000" pitchFamily="2" charset="2"/>
                <a:buChar char="§"/>
              </a:pPr>
              <a:r>
                <a:rPr lang="en-US" dirty="0"/>
                <a:t>Subsystem</a:t>
              </a:r>
            </a:p>
            <a:p>
              <a:pPr marL="285750" indent="-285750">
                <a:buFont typeface="Wingdings" panose="05000000000000000000" pitchFamily="2" charset="2"/>
                <a:buChar char="§"/>
              </a:pPr>
              <a:r>
                <a:rPr lang="en-US" dirty="0"/>
                <a:t>Quality Subsystem</a:t>
              </a:r>
            </a:p>
            <a:p>
              <a:pPr marL="285750" indent="-285750">
                <a:buFont typeface="Wingdings" panose="05000000000000000000" pitchFamily="2" charset="2"/>
                <a:buChar char="§"/>
              </a:pPr>
              <a:r>
                <a:rPr lang="en-US" dirty="0"/>
                <a:t>Cost Subsystem</a:t>
              </a:r>
            </a:p>
            <a:p>
              <a:pPr marL="285750" indent="-285750">
                <a:buFont typeface="Wingdings" panose="05000000000000000000" pitchFamily="2" charset="2"/>
                <a:buChar char="§"/>
              </a:pPr>
              <a:r>
                <a:rPr lang="en-US" dirty="0"/>
                <a:t>Resource Planning Subsystem</a:t>
              </a:r>
            </a:p>
            <a:p>
              <a:pPr marL="285750" indent="-285750">
                <a:buFont typeface="Wingdings" panose="05000000000000000000" pitchFamily="2" charset="2"/>
                <a:buChar char="§"/>
              </a:pPr>
              <a:endParaRPr lang="en-US" dirty="0"/>
            </a:p>
          </p:txBody>
        </p:sp>
        <p:sp>
          <p:nvSpPr>
            <p:cNvPr id="7" name="Oval 6">
              <a:extLst>
                <a:ext uri="{FF2B5EF4-FFF2-40B4-BE49-F238E27FC236}">
                  <a16:creationId xmlns:a16="http://schemas.microsoft.com/office/drawing/2014/main" id="{86C62C1E-694A-4E7B-A46A-DF954F86A5AC}"/>
                </a:ext>
              </a:extLst>
            </p:cNvPr>
            <p:cNvSpPr/>
            <p:nvPr/>
          </p:nvSpPr>
          <p:spPr>
            <a:xfrm>
              <a:off x="9213274" y="2071256"/>
              <a:ext cx="2105891" cy="14824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Decision Makers</a:t>
              </a:r>
            </a:p>
          </p:txBody>
        </p:sp>
        <p:sp>
          <p:nvSpPr>
            <p:cNvPr id="8" name="Arrow: Right 7">
              <a:extLst>
                <a:ext uri="{FF2B5EF4-FFF2-40B4-BE49-F238E27FC236}">
                  <a16:creationId xmlns:a16="http://schemas.microsoft.com/office/drawing/2014/main" id="{9784CECC-731D-0B7F-0F21-46C2C3C34382}"/>
                </a:ext>
              </a:extLst>
            </p:cNvPr>
            <p:cNvSpPr/>
            <p:nvPr/>
          </p:nvSpPr>
          <p:spPr>
            <a:xfrm>
              <a:off x="2840185" y="2618511"/>
              <a:ext cx="692726" cy="401782"/>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Arrow: Right 8">
              <a:extLst>
                <a:ext uri="{FF2B5EF4-FFF2-40B4-BE49-F238E27FC236}">
                  <a16:creationId xmlns:a16="http://schemas.microsoft.com/office/drawing/2014/main" id="{4D15EB04-550E-F529-284E-971B7F80F1B4}"/>
                </a:ext>
              </a:extLst>
            </p:cNvPr>
            <p:cNvSpPr/>
            <p:nvPr/>
          </p:nvSpPr>
          <p:spPr>
            <a:xfrm>
              <a:off x="5417124" y="2618511"/>
              <a:ext cx="665023" cy="401782"/>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Arrow: Right 9">
              <a:extLst>
                <a:ext uri="{FF2B5EF4-FFF2-40B4-BE49-F238E27FC236}">
                  <a16:creationId xmlns:a16="http://schemas.microsoft.com/office/drawing/2014/main" id="{141D15C8-BE78-0DC3-CCD0-54A43328707B}"/>
                </a:ext>
              </a:extLst>
            </p:cNvPr>
            <p:cNvSpPr/>
            <p:nvPr/>
          </p:nvSpPr>
          <p:spPr>
            <a:xfrm>
              <a:off x="8354291" y="2604656"/>
              <a:ext cx="858983" cy="401782"/>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13" name="TextBox 12">
            <a:extLst>
              <a:ext uri="{FF2B5EF4-FFF2-40B4-BE49-F238E27FC236}">
                <a16:creationId xmlns:a16="http://schemas.microsoft.com/office/drawing/2014/main" id="{1E23C446-61D7-F533-FB63-20A415578415}"/>
              </a:ext>
            </a:extLst>
          </p:cNvPr>
          <p:cNvSpPr txBox="1"/>
          <p:nvPr/>
        </p:nvSpPr>
        <p:spPr>
          <a:xfrm>
            <a:off x="2448791" y="5710441"/>
            <a:ext cx="7294418" cy="461665"/>
          </a:xfrm>
          <a:prstGeom prst="rect">
            <a:avLst/>
          </a:prstGeom>
          <a:noFill/>
        </p:spPr>
        <p:txBody>
          <a:bodyPr wrap="square">
            <a:spAutoFit/>
          </a:bodyPr>
          <a:lstStyle/>
          <a:p>
            <a:pPr algn="ctr"/>
            <a:r>
              <a:rPr lang="en-US" sz="2400" b="1" dirty="0">
                <a:effectLst/>
                <a:latin typeface="Segoe UI" panose="020B0502040204020203" pitchFamily="34" charset="0"/>
                <a:ea typeface="Calibri" panose="020F0502020204030204" pitchFamily="34" charset="0"/>
              </a:rPr>
              <a:t>Figure 6.13: Manufacturing Information Systems</a:t>
            </a:r>
            <a:endParaRPr lang="en-US" sz="2400" b="1" dirty="0"/>
          </a:p>
        </p:txBody>
      </p:sp>
      <p:sp>
        <p:nvSpPr>
          <p:cNvPr id="11" name="Rectangle 10"/>
          <p:cNvSpPr/>
          <p:nvPr/>
        </p:nvSpPr>
        <p:spPr>
          <a:xfrm>
            <a:off x="766415" y="1039600"/>
            <a:ext cx="2180188" cy="3827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Input</a:t>
            </a:r>
          </a:p>
        </p:txBody>
      </p:sp>
      <p:sp>
        <p:nvSpPr>
          <p:cNvPr id="12" name="Rectangle 11"/>
          <p:cNvSpPr/>
          <p:nvPr/>
        </p:nvSpPr>
        <p:spPr>
          <a:xfrm>
            <a:off x="6183545" y="1422372"/>
            <a:ext cx="2180188" cy="3827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Output</a:t>
            </a:r>
          </a:p>
        </p:txBody>
      </p:sp>
    </p:spTree>
    <p:extLst>
      <p:ext uri="{BB962C8B-B14F-4D97-AF65-F5344CB8AC3E}">
        <p14:creationId xmlns:p14="http://schemas.microsoft.com/office/powerpoint/2010/main" val="26977333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84791"/>
            <a:ext cx="10515600" cy="5592172"/>
          </a:xfrm>
        </p:spPr>
        <p:txBody>
          <a:bodyPr/>
          <a:lstStyle/>
          <a:p>
            <a:r>
              <a:rPr lang="en-US" dirty="0"/>
              <a:t>As shown in the above figure, manufacturing information system should be able to replace all the paper-based manufacturing support process into digital form by using the manufacturing IS software.</a:t>
            </a:r>
          </a:p>
          <a:p>
            <a:r>
              <a:rPr lang="en-US" dirty="0"/>
              <a:t>The system captures production data, inventory data, vendor data, personal data, union data etc. as the input.</a:t>
            </a:r>
          </a:p>
          <a:p>
            <a:r>
              <a:rPr lang="en-US" dirty="0"/>
              <a:t>After these inputs are entered into the system, the IS will process them into meaningful information.</a:t>
            </a:r>
          </a:p>
          <a:p>
            <a:r>
              <a:rPr lang="en-US" dirty="0"/>
              <a:t>After the processing and storage of data is completed, the system should be able to develop various types of reports required for the manufacturing managers. </a:t>
            </a:r>
          </a:p>
          <a:p>
            <a:r>
              <a:rPr lang="en-US" dirty="0"/>
              <a:t>The reports would finally be production subsystem, inventory subsystem, quality subsystem etc.</a:t>
            </a:r>
          </a:p>
        </p:txBody>
      </p:sp>
    </p:spTree>
    <p:extLst>
      <p:ext uri="{BB962C8B-B14F-4D97-AF65-F5344CB8AC3E}">
        <p14:creationId xmlns:p14="http://schemas.microsoft.com/office/powerpoint/2010/main" val="40433590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7531"/>
            <a:ext cx="10515600" cy="900149"/>
          </a:xfrm>
        </p:spPr>
        <p:txBody>
          <a:bodyPr/>
          <a:lstStyle/>
          <a:p>
            <a:r>
              <a:rPr lang="en-US" b="1" dirty="0"/>
              <a:t>Financial and Accounting Information Systems</a:t>
            </a:r>
            <a:endParaRPr lang="en-US" dirty="0"/>
          </a:p>
        </p:txBody>
      </p:sp>
      <p:sp>
        <p:nvSpPr>
          <p:cNvPr id="3" name="Content Placeholder 2"/>
          <p:cNvSpPr>
            <a:spLocks noGrp="1"/>
          </p:cNvSpPr>
          <p:nvPr>
            <p:ph idx="1"/>
          </p:nvPr>
        </p:nvSpPr>
        <p:spPr>
          <a:xfrm>
            <a:off x="838200" y="1350335"/>
            <a:ext cx="10515600" cy="4826628"/>
          </a:xfrm>
        </p:spPr>
        <p:txBody>
          <a:bodyPr>
            <a:normAutofit/>
          </a:bodyPr>
          <a:lstStyle/>
          <a:p>
            <a:r>
              <a:rPr lang="en-US" dirty="0"/>
              <a:t>Financial and accounting information system (FAIS) is a system that provides information related to the accounting and financial accounting activities in an organization. </a:t>
            </a:r>
          </a:p>
          <a:p>
            <a:r>
              <a:rPr lang="en-US" dirty="0"/>
              <a:t>The FAIS includes several subsystems such as budgeting, cash and asset management, capital budgeting, portfolio analysis, general ledger, accounts receivable, inventory control and payroll system. </a:t>
            </a:r>
          </a:p>
          <a:p>
            <a:r>
              <a:rPr lang="en-US" dirty="0"/>
              <a:t>The most important financial information in the process of business decisions comes from accounting. </a:t>
            </a:r>
          </a:p>
          <a:p>
            <a:r>
              <a:rPr lang="en-US" dirty="0"/>
              <a:t>Accounting is a service function to management. </a:t>
            </a:r>
          </a:p>
          <a:p>
            <a:r>
              <a:rPr lang="en-US" dirty="0"/>
              <a:t>It is required to provide both financial and non-financial information needed in the decision-making process. </a:t>
            </a:r>
          </a:p>
        </p:txBody>
      </p:sp>
    </p:spTree>
    <p:extLst>
      <p:ext uri="{BB962C8B-B14F-4D97-AF65-F5344CB8AC3E}">
        <p14:creationId xmlns:p14="http://schemas.microsoft.com/office/powerpoint/2010/main" val="9436015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48586"/>
            <a:ext cx="10515600" cy="5528377"/>
          </a:xfrm>
        </p:spPr>
        <p:txBody>
          <a:bodyPr>
            <a:normAutofit fontScale="92500" lnSpcReduction="10000"/>
          </a:bodyPr>
          <a:lstStyle/>
          <a:p>
            <a:r>
              <a:rPr lang="en-US" dirty="0"/>
              <a:t>It is viewed as an information system since it has inputs (financial data), processes (manipulation of data) and outputs (financial statements). </a:t>
            </a:r>
          </a:p>
          <a:p>
            <a:r>
              <a:rPr lang="en-US" dirty="0"/>
              <a:t>Thus, accounting systems collect, processes, and convert raw data into suitable information in the process of decision-making.</a:t>
            </a:r>
          </a:p>
          <a:p>
            <a:r>
              <a:rPr lang="en-US" dirty="0"/>
              <a:t>In fact, accounting information system is used to replace all the accounting activities in digital firm by capturing so many accounting documents like sales voucher, sales return voucher, purchase voucher, bill payment, receipt, deposit slip, bank transfer, cash transfer etc. </a:t>
            </a:r>
          </a:p>
          <a:p>
            <a:r>
              <a:rPr lang="en-US" dirty="0"/>
              <a:t>Finally, an accounting information system would generate various types of accounting reports like balance sheet, trial balance, cash flow, P/L account, customer details, bank reconciliation etc. </a:t>
            </a:r>
          </a:p>
          <a:p>
            <a:r>
              <a:rPr lang="en-US" dirty="0"/>
              <a:t>These types of reports generated by accounting information system would</a:t>
            </a:r>
            <a:br>
              <a:rPr lang="en-US" dirty="0"/>
            </a:br>
            <a:r>
              <a:rPr lang="en-US" dirty="0"/>
              <a:t>function as input details for the financial information system. </a:t>
            </a:r>
          </a:p>
          <a:p>
            <a:r>
              <a:rPr lang="en-US" dirty="0"/>
              <a:t>It can be illustrated with the help of the following figures.</a:t>
            </a:r>
            <a:br>
              <a:rPr lang="en-US" dirty="0"/>
            </a:br>
            <a:endParaRPr lang="en-US" dirty="0"/>
          </a:p>
        </p:txBody>
      </p:sp>
    </p:spTree>
    <p:extLst>
      <p:ext uri="{BB962C8B-B14F-4D97-AF65-F5344CB8AC3E}">
        <p14:creationId xmlns:p14="http://schemas.microsoft.com/office/powerpoint/2010/main" val="7390914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4DB099F-FED5-4C96-28A6-C72DD7F92085}"/>
              </a:ext>
            </a:extLst>
          </p:cNvPr>
          <p:cNvGrpSpPr/>
          <p:nvPr/>
        </p:nvGrpSpPr>
        <p:grpSpPr>
          <a:xfrm>
            <a:off x="603559" y="1648047"/>
            <a:ext cx="10984883" cy="3512771"/>
            <a:chOff x="775856" y="1031521"/>
            <a:chExt cx="10543309" cy="3512771"/>
          </a:xfrm>
        </p:grpSpPr>
        <p:sp>
          <p:nvSpPr>
            <p:cNvPr id="5" name="Rectangle 4">
              <a:extLst>
                <a:ext uri="{FF2B5EF4-FFF2-40B4-BE49-F238E27FC236}">
                  <a16:creationId xmlns:a16="http://schemas.microsoft.com/office/drawing/2014/main" id="{5060BAFB-2552-AAB7-A267-18F21AD4FA25}"/>
                </a:ext>
              </a:extLst>
            </p:cNvPr>
            <p:cNvSpPr/>
            <p:nvPr/>
          </p:nvSpPr>
          <p:spPr>
            <a:xfrm>
              <a:off x="775856" y="1031521"/>
              <a:ext cx="2064327" cy="35127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285750" indent="-285750">
                <a:buFont typeface="Wingdings" panose="05000000000000000000" pitchFamily="2" charset="2"/>
                <a:buChar char="§"/>
              </a:pPr>
              <a:r>
                <a:rPr lang="en-US" dirty="0"/>
                <a:t>Sales Voucher</a:t>
              </a:r>
            </a:p>
            <a:p>
              <a:pPr marL="285750" indent="-285750">
                <a:buFont typeface="Wingdings" panose="05000000000000000000" pitchFamily="2" charset="2"/>
                <a:buChar char="§"/>
              </a:pPr>
              <a:r>
                <a:rPr lang="en-US" dirty="0"/>
                <a:t>Sales Return Voucher</a:t>
              </a:r>
            </a:p>
            <a:p>
              <a:pPr marL="285750" indent="-285750">
                <a:buFont typeface="Wingdings" panose="05000000000000000000" pitchFamily="2" charset="2"/>
                <a:buChar char="§"/>
              </a:pPr>
              <a:r>
                <a:rPr lang="en-US" dirty="0"/>
                <a:t>Purchase Voucher</a:t>
              </a:r>
            </a:p>
            <a:p>
              <a:pPr marL="285750" indent="-285750">
                <a:buFont typeface="Wingdings" panose="05000000000000000000" pitchFamily="2" charset="2"/>
                <a:buChar char="§"/>
              </a:pPr>
              <a:r>
                <a:rPr lang="en-US" dirty="0"/>
                <a:t>Purchase Return Voucher</a:t>
              </a:r>
            </a:p>
            <a:p>
              <a:pPr marL="285750" indent="-285750">
                <a:buFont typeface="Wingdings" panose="05000000000000000000" pitchFamily="2" charset="2"/>
                <a:buChar char="§"/>
              </a:pPr>
              <a:r>
                <a:rPr lang="en-US" dirty="0"/>
                <a:t>Bill Payment</a:t>
              </a:r>
            </a:p>
            <a:p>
              <a:pPr marL="285750" indent="-285750">
                <a:buFont typeface="Wingdings" panose="05000000000000000000" pitchFamily="2" charset="2"/>
                <a:buChar char="§"/>
              </a:pPr>
              <a:r>
                <a:rPr lang="en-US" dirty="0"/>
                <a:t>Receipt</a:t>
              </a:r>
            </a:p>
            <a:p>
              <a:pPr marL="285750" indent="-285750">
                <a:buFont typeface="Wingdings" panose="05000000000000000000" pitchFamily="2" charset="2"/>
                <a:buChar char="§"/>
              </a:pPr>
              <a:r>
                <a:rPr lang="en-US" dirty="0"/>
                <a:t>Deposit</a:t>
              </a:r>
            </a:p>
            <a:p>
              <a:pPr marL="285750" indent="-285750">
                <a:buFont typeface="Wingdings" panose="05000000000000000000" pitchFamily="2" charset="2"/>
                <a:buChar char="§"/>
              </a:pPr>
              <a:r>
                <a:rPr lang="en-US" dirty="0"/>
                <a:t>Withdraw</a:t>
              </a:r>
            </a:p>
            <a:p>
              <a:pPr marL="285750" indent="-285750">
                <a:buFont typeface="Wingdings" panose="05000000000000000000" pitchFamily="2" charset="2"/>
                <a:buChar char="§"/>
              </a:pPr>
              <a:r>
                <a:rPr lang="en-US" dirty="0"/>
                <a:t>Bank Transfer / Cash Transfer</a:t>
              </a:r>
            </a:p>
          </p:txBody>
        </p:sp>
        <p:sp>
          <p:nvSpPr>
            <p:cNvPr id="6" name="Rectangle: Rounded Corners 4">
              <a:extLst>
                <a:ext uri="{FF2B5EF4-FFF2-40B4-BE49-F238E27FC236}">
                  <a16:creationId xmlns:a16="http://schemas.microsoft.com/office/drawing/2014/main" id="{133FD73B-AA96-5694-8DAC-0B73EDB3D8CE}"/>
                </a:ext>
              </a:extLst>
            </p:cNvPr>
            <p:cNvSpPr/>
            <p:nvPr/>
          </p:nvSpPr>
          <p:spPr>
            <a:xfrm>
              <a:off x="3532905" y="2202874"/>
              <a:ext cx="1870362" cy="12192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Process and Storage</a:t>
              </a:r>
            </a:p>
          </p:txBody>
        </p:sp>
        <p:sp>
          <p:nvSpPr>
            <p:cNvPr id="7" name="Rectangle 6">
              <a:extLst>
                <a:ext uri="{FF2B5EF4-FFF2-40B4-BE49-F238E27FC236}">
                  <a16:creationId xmlns:a16="http://schemas.microsoft.com/office/drawing/2014/main" id="{B03B8BA3-F916-4592-ADE0-BC9D511726AF}"/>
                </a:ext>
              </a:extLst>
            </p:cNvPr>
            <p:cNvSpPr/>
            <p:nvPr/>
          </p:nvSpPr>
          <p:spPr>
            <a:xfrm>
              <a:off x="6096004" y="1433947"/>
              <a:ext cx="2258291" cy="275705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285750" indent="-285750">
                <a:buFont typeface="Wingdings" panose="05000000000000000000" pitchFamily="2" charset="2"/>
                <a:buChar char="§"/>
              </a:pPr>
              <a:r>
                <a:rPr lang="en-US" dirty="0"/>
                <a:t>Balance Sheet</a:t>
              </a:r>
            </a:p>
            <a:p>
              <a:pPr marL="285750" indent="-285750">
                <a:buFont typeface="Wingdings" panose="05000000000000000000" pitchFamily="2" charset="2"/>
                <a:buChar char="§"/>
              </a:pPr>
              <a:r>
                <a:rPr lang="en-US" dirty="0"/>
                <a:t>Trail Balance</a:t>
              </a:r>
            </a:p>
            <a:p>
              <a:pPr marL="285750" indent="-285750">
                <a:buFont typeface="Wingdings" panose="05000000000000000000" pitchFamily="2" charset="2"/>
                <a:buChar char="§"/>
              </a:pPr>
              <a:r>
                <a:rPr lang="en-US" dirty="0"/>
                <a:t>Profit &amp; Loss Account</a:t>
              </a:r>
            </a:p>
            <a:p>
              <a:pPr marL="285750" indent="-285750">
                <a:buFont typeface="Wingdings" panose="05000000000000000000" pitchFamily="2" charset="2"/>
                <a:buChar char="§"/>
              </a:pPr>
              <a:r>
                <a:rPr lang="en-US" dirty="0"/>
                <a:t>Bank Reconciliation</a:t>
              </a:r>
            </a:p>
            <a:p>
              <a:pPr marL="285750" indent="-285750">
                <a:buFont typeface="Wingdings" panose="05000000000000000000" pitchFamily="2" charset="2"/>
                <a:buChar char="§"/>
              </a:pPr>
              <a:r>
                <a:rPr lang="en-US" dirty="0"/>
                <a:t>Stock Report</a:t>
              </a:r>
            </a:p>
            <a:p>
              <a:pPr marL="285750" indent="-285750">
                <a:buFont typeface="Wingdings" panose="05000000000000000000" pitchFamily="2" charset="2"/>
                <a:buChar char="§"/>
              </a:pPr>
              <a:r>
                <a:rPr lang="en-US" dirty="0"/>
                <a:t>Customer Details</a:t>
              </a:r>
            </a:p>
            <a:p>
              <a:pPr marL="285750" indent="-285750">
                <a:buFont typeface="Wingdings" panose="05000000000000000000" pitchFamily="2" charset="2"/>
                <a:buChar char="§"/>
              </a:pPr>
              <a:r>
                <a:rPr lang="en-US" dirty="0"/>
                <a:t>Cash Flow</a:t>
              </a:r>
            </a:p>
            <a:p>
              <a:pPr marL="285750" indent="-285750">
                <a:buFont typeface="Wingdings" panose="05000000000000000000" pitchFamily="2" charset="2"/>
                <a:buChar char="§"/>
              </a:pPr>
              <a:endParaRPr lang="en-US" dirty="0"/>
            </a:p>
          </p:txBody>
        </p:sp>
        <p:sp>
          <p:nvSpPr>
            <p:cNvPr id="8" name="Oval 7">
              <a:extLst>
                <a:ext uri="{FF2B5EF4-FFF2-40B4-BE49-F238E27FC236}">
                  <a16:creationId xmlns:a16="http://schemas.microsoft.com/office/drawing/2014/main" id="{86C62C1E-694A-4E7B-A46A-DF954F86A5AC}"/>
                </a:ext>
              </a:extLst>
            </p:cNvPr>
            <p:cNvSpPr/>
            <p:nvPr/>
          </p:nvSpPr>
          <p:spPr>
            <a:xfrm>
              <a:off x="9213274" y="2071256"/>
              <a:ext cx="2105891" cy="14824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Decision Makers</a:t>
              </a:r>
            </a:p>
          </p:txBody>
        </p:sp>
        <p:sp>
          <p:nvSpPr>
            <p:cNvPr id="9" name="Arrow: Right 7">
              <a:extLst>
                <a:ext uri="{FF2B5EF4-FFF2-40B4-BE49-F238E27FC236}">
                  <a16:creationId xmlns:a16="http://schemas.microsoft.com/office/drawing/2014/main" id="{9784CECC-731D-0B7F-0F21-46C2C3C34382}"/>
                </a:ext>
              </a:extLst>
            </p:cNvPr>
            <p:cNvSpPr/>
            <p:nvPr/>
          </p:nvSpPr>
          <p:spPr>
            <a:xfrm>
              <a:off x="2840185" y="2618511"/>
              <a:ext cx="692726" cy="401782"/>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Arrow: Right 8">
              <a:extLst>
                <a:ext uri="{FF2B5EF4-FFF2-40B4-BE49-F238E27FC236}">
                  <a16:creationId xmlns:a16="http://schemas.microsoft.com/office/drawing/2014/main" id="{4D15EB04-550E-F529-284E-971B7F80F1B4}"/>
                </a:ext>
              </a:extLst>
            </p:cNvPr>
            <p:cNvSpPr/>
            <p:nvPr/>
          </p:nvSpPr>
          <p:spPr>
            <a:xfrm>
              <a:off x="5417124" y="2618511"/>
              <a:ext cx="665023" cy="401782"/>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 name="Arrow: Right 9">
              <a:extLst>
                <a:ext uri="{FF2B5EF4-FFF2-40B4-BE49-F238E27FC236}">
                  <a16:creationId xmlns:a16="http://schemas.microsoft.com/office/drawing/2014/main" id="{141D15C8-BE78-0DC3-CCD0-54A43328707B}"/>
                </a:ext>
              </a:extLst>
            </p:cNvPr>
            <p:cNvSpPr/>
            <p:nvPr/>
          </p:nvSpPr>
          <p:spPr>
            <a:xfrm>
              <a:off x="8354291" y="2604656"/>
              <a:ext cx="858983" cy="401782"/>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12" name="TextBox 11">
            <a:extLst>
              <a:ext uri="{FF2B5EF4-FFF2-40B4-BE49-F238E27FC236}">
                <a16:creationId xmlns:a16="http://schemas.microsoft.com/office/drawing/2014/main" id="{1E23C446-61D7-F533-FB63-20A415578415}"/>
              </a:ext>
            </a:extLst>
          </p:cNvPr>
          <p:cNvSpPr txBox="1"/>
          <p:nvPr/>
        </p:nvSpPr>
        <p:spPr>
          <a:xfrm>
            <a:off x="2611582" y="5710441"/>
            <a:ext cx="6968836" cy="461665"/>
          </a:xfrm>
          <a:prstGeom prst="rect">
            <a:avLst/>
          </a:prstGeom>
          <a:noFill/>
        </p:spPr>
        <p:txBody>
          <a:bodyPr wrap="square">
            <a:spAutoFit/>
          </a:bodyPr>
          <a:lstStyle/>
          <a:p>
            <a:pPr algn="ctr"/>
            <a:r>
              <a:rPr lang="en-US" sz="2400" b="1" dirty="0">
                <a:effectLst/>
                <a:latin typeface="Segoe UI" panose="020B0502040204020203" pitchFamily="34" charset="0"/>
                <a:ea typeface="Calibri" panose="020F0502020204030204" pitchFamily="34" charset="0"/>
              </a:rPr>
              <a:t>Figure 6.14: Accounting Information System</a:t>
            </a:r>
            <a:endParaRPr lang="en-US" sz="2400" b="1" dirty="0"/>
          </a:p>
        </p:txBody>
      </p:sp>
      <p:sp>
        <p:nvSpPr>
          <p:cNvPr id="13" name="Rectangle 12"/>
          <p:cNvSpPr/>
          <p:nvPr/>
        </p:nvSpPr>
        <p:spPr>
          <a:xfrm>
            <a:off x="574158" y="1031358"/>
            <a:ext cx="2180188" cy="3827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Input</a:t>
            </a:r>
          </a:p>
        </p:txBody>
      </p:sp>
      <p:sp>
        <p:nvSpPr>
          <p:cNvPr id="14" name="Rectangle 13"/>
          <p:cNvSpPr/>
          <p:nvPr/>
        </p:nvSpPr>
        <p:spPr>
          <a:xfrm>
            <a:off x="6146525" y="1031358"/>
            <a:ext cx="2180188" cy="3827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Output</a:t>
            </a:r>
          </a:p>
        </p:txBody>
      </p:sp>
    </p:spTree>
    <p:extLst>
      <p:ext uri="{BB962C8B-B14F-4D97-AF65-F5344CB8AC3E}">
        <p14:creationId xmlns:p14="http://schemas.microsoft.com/office/powerpoint/2010/main" val="33387600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4DB099F-FED5-4C96-28A6-C72DD7F92085}"/>
              </a:ext>
            </a:extLst>
          </p:cNvPr>
          <p:cNvGrpSpPr/>
          <p:nvPr/>
        </p:nvGrpSpPr>
        <p:grpSpPr>
          <a:xfrm>
            <a:off x="603559" y="2050472"/>
            <a:ext cx="10984883" cy="2757056"/>
            <a:chOff x="775856" y="1433946"/>
            <a:chExt cx="10543309" cy="2757056"/>
          </a:xfrm>
        </p:grpSpPr>
        <p:sp>
          <p:nvSpPr>
            <p:cNvPr id="5" name="Rectangle 4">
              <a:extLst>
                <a:ext uri="{FF2B5EF4-FFF2-40B4-BE49-F238E27FC236}">
                  <a16:creationId xmlns:a16="http://schemas.microsoft.com/office/drawing/2014/main" id="{5060BAFB-2552-AAB7-A267-18F21AD4FA25}"/>
                </a:ext>
              </a:extLst>
            </p:cNvPr>
            <p:cNvSpPr/>
            <p:nvPr/>
          </p:nvSpPr>
          <p:spPr>
            <a:xfrm>
              <a:off x="775856" y="1433946"/>
              <a:ext cx="2064327" cy="275705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285750" indent="-285750">
                <a:buFont typeface="Wingdings" panose="05000000000000000000" pitchFamily="2" charset="2"/>
                <a:buChar char="§"/>
              </a:pPr>
              <a:r>
                <a:rPr lang="en-US" dirty="0"/>
                <a:t>Balance Sheet</a:t>
              </a:r>
            </a:p>
            <a:p>
              <a:pPr marL="285750" indent="-285750">
                <a:buFont typeface="Wingdings" panose="05000000000000000000" pitchFamily="2" charset="2"/>
                <a:buChar char="§"/>
              </a:pPr>
              <a:r>
                <a:rPr lang="en-US" dirty="0"/>
                <a:t>Trail Balance</a:t>
              </a:r>
            </a:p>
            <a:p>
              <a:pPr marL="285750" indent="-285750">
                <a:buFont typeface="Wingdings" panose="05000000000000000000" pitchFamily="2" charset="2"/>
                <a:buChar char="§"/>
              </a:pPr>
              <a:r>
                <a:rPr lang="en-US" dirty="0"/>
                <a:t>Profit &amp; Loss Account</a:t>
              </a:r>
            </a:p>
            <a:p>
              <a:pPr marL="285750" indent="-285750">
                <a:buFont typeface="Wingdings" panose="05000000000000000000" pitchFamily="2" charset="2"/>
                <a:buChar char="§"/>
              </a:pPr>
              <a:r>
                <a:rPr lang="en-US" dirty="0"/>
                <a:t>Bank Reconciliation</a:t>
              </a:r>
            </a:p>
            <a:p>
              <a:pPr marL="285750" indent="-285750">
                <a:buFont typeface="Wingdings" panose="05000000000000000000" pitchFamily="2" charset="2"/>
                <a:buChar char="§"/>
              </a:pPr>
              <a:r>
                <a:rPr lang="en-US" dirty="0"/>
                <a:t>Stock Report</a:t>
              </a:r>
            </a:p>
            <a:p>
              <a:pPr marL="285750" indent="-285750">
                <a:buFont typeface="Wingdings" panose="05000000000000000000" pitchFamily="2" charset="2"/>
                <a:buChar char="§"/>
              </a:pPr>
              <a:r>
                <a:rPr lang="en-US" dirty="0"/>
                <a:t>Customer Details</a:t>
              </a:r>
            </a:p>
            <a:p>
              <a:pPr marL="285750" indent="-285750">
                <a:buFont typeface="Wingdings" panose="05000000000000000000" pitchFamily="2" charset="2"/>
                <a:buChar char="§"/>
              </a:pPr>
              <a:r>
                <a:rPr lang="en-US" dirty="0"/>
                <a:t>Cash Flow</a:t>
              </a:r>
            </a:p>
          </p:txBody>
        </p:sp>
        <p:sp>
          <p:nvSpPr>
            <p:cNvPr id="6" name="Rectangle: Rounded Corners 4">
              <a:extLst>
                <a:ext uri="{FF2B5EF4-FFF2-40B4-BE49-F238E27FC236}">
                  <a16:creationId xmlns:a16="http://schemas.microsoft.com/office/drawing/2014/main" id="{133FD73B-AA96-5694-8DAC-0B73EDB3D8CE}"/>
                </a:ext>
              </a:extLst>
            </p:cNvPr>
            <p:cNvSpPr/>
            <p:nvPr/>
          </p:nvSpPr>
          <p:spPr>
            <a:xfrm>
              <a:off x="3532905" y="2202874"/>
              <a:ext cx="1870362" cy="12192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Process and Storage</a:t>
              </a:r>
            </a:p>
          </p:txBody>
        </p:sp>
        <p:sp>
          <p:nvSpPr>
            <p:cNvPr id="7" name="Rectangle 6">
              <a:extLst>
                <a:ext uri="{FF2B5EF4-FFF2-40B4-BE49-F238E27FC236}">
                  <a16:creationId xmlns:a16="http://schemas.microsoft.com/office/drawing/2014/main" id="{B03B8BA3-F916-4592-ADE0-BC9D511726AF}"/>
                </a:ext>
              </a:extLst>
            </p:cNvPr>
            <p:cNvSpPr/>
            <p:nvPr/>
          </p:nvSpPr>
          <p:spPr>
            <a:xfrm>
              <a:off x="6096004" y="1433947"/>
              <a:ext cx="2258291" cy="275705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285750" indent="-285750">
                <a:buFont typeface="Wingdings" panose="05000000000000000000" pitchFamily="2" charset="2"/>
                <a:buChar char="§"/>
              </a:pPr>
              <a:r>
                <a:rPr lang="en-US" dirty="0"/>
                <a:t>Ratio Analysis</a:t>
              </a:r>
            </a:p>
            <a:p>
              <a:pPr marL="285750" indent="-285750">
                <a:buFont typeface="Wingdings" panose="05000000000000000000" pitchFamily="2" charset="2"/>
                <a:buChar char="§"/>
              </a:pPr>
              <a:r>
                <a:rPr lang="en-US" dirty="0"/>
                <a:t>Bond Valuation</a:t>
              </a:r>
            </a:p>
            <a:p>
              <a:pPr marL="285750" indent="-285750">
                <a:buFont typeface="Wingdings" panose="05000000000000000000" pitchFamily="2" charset="2"/>
                <a:buChar char="§"/>
              </a:pPr>
              <a:r>
                <a:rPr lang="en-US" dirty="0"/>
                <a:t>Risk Analysis</a:t>
              </a:r>
            </a:p>
            <a:p>
              <a:pPr marL="285750" indent="-285750">
                <a:buFont typeface="Wingdings" panose="05000000000000000000" pitchFamily="2" charset="2"/>
                <a:buChar char="§"/>
              </a:pPr>
              <a:r>
                <a:rPr lang="en-US" dirty="0"/>
                <a:t>Share Analysis</a:t>
              </a:r>
            </a:p>
            <a:p>
              <a:pPr marL="285750" indent="-285750">
                <a:buFont typeface="Wingdings" panose="05000000000000000000" pitchFamily="2" charset="2"/>
                <a:buChar char="§"/>
              </a:pPr>
              <a:r>
                <a:rPr lang="en-US" dirty="0"/>
                <a:t>Budgeting</a:t>
              </a:r>
            </a:p>
            <a:p>
              <a:pPr marL="285750" indent="-285750">
                <a:buFont typeface="Wingdings" panose="05000000000000000000" pitchFamily="2" charset="2"/>
                <a:buChar char="§"/>
              </a:pPr>
              <a:r>
                <a:rPr lang="en-US" dirty="0"/>
                <a:t>Fund Management</a:t>
              </a:r>
            </a:p>
            <a:p>
              <a:pPr marL="285750" indent="-285750">
                <a:buFont typeface="Wingdings" panose="05000000000000000000" pitchFamily="2" charset="2"/>
                <a:buChar char="§"/>
              </a:pPr>
              <a:r>
                <a:rPr lang="en-US" dirty="0"/>
                <a:t>Forecasting</a:t>
              </a:r>
            </a:p>
            <a:p>
              <a:pPr marL="285750" indent="-285750">
                <a:buFont typeface="Wingdings" panose="05000000000000000000" pitchFamily="2" charset="2"/>
                <a:buChar char="§"/>
              </a:pPr>
              <a:endParaRPr lang="en-US" dirty="0"/>
            </a:p>
          </p:txBody>
        </p:sp>
        <p:sp>
          <p:nvSpPr>
            <p:cNvPr id="8" name="Oval 7">
              <a:extLst>
                <a:ext uri="{FF2B5EF4-FFF2-40B4-BE49-F238E27FC236}">
                  <a16:creationId xmlns:a16="http://schemas.microsoft.com/office/drawing/2014/main" id="{86C62C1E-694A-4E7B-A46A-DF954F86A5AC}"/>
                </a:ext>
              </a:extLst>
            </p:cNvPr>
            <p:cNvSpPr/>
            <p:nvPr/>
          </p:nvSpPr>
          <p:spPr>
            <a:xfrm>
              <a:off x="9213274" y="2071256"/>
              <a:ext cx="2105891" cy="148243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Decision Makers</a:t>
              </a:r>
            </a:p>
          </p:txBody>
        </p:sp>
        <p:sp>
          <p:nvSpPr>
            <p:cNvPr id="9" name="Arrow: Right 7">
              <a:extLst>
                <a:ext uri="{FF2B5EF4-FFF2-40B4-BE49-F238E27FC236}">
                  <a16:creationId xmlns:a16="http://schemas.microsoft.com/office/drawing/2014/main" id="{9784CECC-731D-0B7F-0F21-46C2C3C34382}"/>
                </a:ext>
              </a:extLst>
            </p:cNvPr>
            <p:cNvSpPr/>
            <p:nvPr/>
          </p:nvSpPr>
          <p:spPr>
            <a:xfrm>
              <a:off x="2840185" y="2618511"/>
              <a:ext cx="692726" cy="401782"/>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Arrow: Right 8">
              <a:extLst>
                <a:ext uri="{FF2B5EF4-FFF2-40B4-BE49-F238E27FC236}">
                  <a16:creationId xmlns:a16="http://schemas.microsoft.com/office/drawing/2014/main" id="{4D15EB04-550E-F529-284E-971B7F80F1B4}"/>
                </a:ext>
              </a:extLst>
            </p:cNvPr>
            <p:cNvSpPr/>
            <p:nvPr/>
          </p:nvSpPr>
          <p:spPr>
            <a:xfrm>
              <a:off x="5417124" y="2618511"/>
              <a:ext cx="665023" cy="401782"/>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 name="Arrow: Right 9">
              <a:extLst>
                <a:ext uri="{FF2B5EF4-FFF2-40B4-BE49-F238E27FC236}">
                  <a16:creationId xmlns:a16="http://schemas.microsoft.com/office/drawing/2014/main" id="{141D15C8-BE78-0DC3-CCD0-54A43328707B}"/>
                </a:ext>
              </a:extLst>
            </p:cNvPr>
            <p:cNvSpPr/>
            <p:nvPr/>
          </p:nvSpPr>
          <p:spPr>
            <a:xfrm>
              <a:off x="8354291" y="2604656"/>
              <a:ext cx="858983" cy="401782"/>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12" name="TextBox 11">
            <a:extLst>
              <a:ext uri="{FF2B5EF4-FFF2-40B4-BE49-F238E27FC236}">
                <a16:creationId xmlns:a16="http://schemas.microsoft.com/office/drawing/2014/main" id="{1E23C446-61D7-F533-FB63-20A415578415}"/>
              </a:ext>
            </a:extLst>
          </p:cNvPr>
          <p:cNvSpPr txBox="1"/>
          <p:nvPr/>
        </p:nvSpPr>
        <p:spPr>
          <a:xfrm>
            <a:off x="2611582" y="5710441"/>
            <a:ext cx="6968836" cy="461665"/>
          </a:xfrm>
          <a:prstGeom prst="rect">
            <a:avLst/>
          </a:prstGeom>
          <a:noFill/>
        </p:spPr>
        <p:txBody>
          <a:bodyPr wrap="square">
            <a:spAutoFit/>
          </a:bodyPr>
          <a:lstStyle/>
          <a:p>
            <a:pPr algn="ctr"/>
            <a:r>
              <a:rPr lang="en-US" sz="2400" b="1" dirty="0">
                <a:effectLst/>
                <a:latin typeface="Segoe UI" panose="020B0502040204020203" pitchFamily="34" charset="0"/>
                <a:ea typeface="Calibri" panose="020F0502020204030204" pitchFamily="34" charset="0"/>
              </a:rPr>
              <a:t>Figure 6.15: Financial Information System</a:t>
            </a:r>
            <a:endParaRPr lang="en-US" sz="2400" b="1" dirty="0"/>
          </a:p>
        </p:txBody>
      </p:sp>
      <p:sp>
        <p:nvSpPr>
          <p:cNvPr id="13" name="Rectangle 12"/>
          <p:cNvSpPr/>
          <p:nvPr/>
        </p:nvSpPr>
        <p:spPr>
          <a:xfrm>
            <a:off x="574158" y="1031358"/>
            <a:ext cx="2180188" cy="3827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Input</a:t>
            </a:r>
          </a:p>
        </p:txBody>
      </p:sp>
      <p:sp>
        <p:nvSpPr>
          <p:cNvPr id="14" name="Rectangle 13"/>
          <p:cNvSpPr/>
          <p:nvPr/>
        </p:nvSpPr>
        <p:spPr>
          <a:xfrm>
            <a:off x="6146525" y="1031358"/>
            <a:ext cx="2180188" cy="3827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Output</a:t>
            </a:r>
          </a:p>
        </p:txBody>
      </p:sp>
    </p:spTree>
    <p:extLst>
      <p:ext uri="{BB962C8B-B14F-4D97-AF65-F5344CB8AC3E}">
        <p14:creationId xmlns:p14="http://schemas.microsoft.com/office/powerpoint/2010/main" val="17430567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199" y="520999"/>
            <a:ext cx="11142921" cy="6081823"/>
          </a:xfrm>
        </p:spPr>
        <p:txBody>
          <a:bodyPr>
            <a:normAutofit lnSpcReduction="10000"/>
          </a:bodyPr>
          <a:lstStyle/>
          <a:p>
            <a:r>
              <a:rPr lang="en-US" dirty="0"/>
              <a:t>The financial information system provides information related to financial management and enables decisions easily to solve financial problems. </a:t>
            </a:r>
          </a:p>
          <a:p>
            <a:r>
              <a:rPr lang="en-US" dirty="0"/>
              <a:t>In other words, an information system that tracks financial events and summarizes information that supports adequate management reporting, policy decisions, responsibilities and preparation of auditable financial statements is called financial information system. </a:t>
            </a:r>
          </a:p>
          <a:p>
            <a:r>
              <a:rPr lang="en-US" dirty="0"/>
              <a:t>Thus, FIS is an information system, which takes data related to finance and generates information for the better management of finance and business firms. </a:t>
            </a:r>
          </a:p>
          <a:p>
            <a:r>
              <a:rPr lang="en-US" dirty="0"/>
              <a:t>As shown in the above figure FIS is used to capture all the accounting reports as its inputs to the system such as trial balance, balance</a:t>
            </a:r>
            <a:br>
              <a:rPr lang="en-US" dirty="0"/>
            </a:br>
            <a:r>
              <a:rPr lang="en-US" dirty="0"/>
              <a:t>sheet, TPS data, cash flow etc. </a:t>
            </a:r>
          </a:p>
          <a:p>
            <a:r>
              <a:rPr lang="en-US" dirty="0"/>
              <a:t>Finally, financial information system can generate various types of financial reports like ratio analysis, bond value analysis, risk analysis, budgeting, fund management and forecasting etc.</a:t>
            </a:r>
          </a:p>
        </p:txBody>
      </p:sp>
    </p:spTree>
    <p:extLst>
      <p:ext uri="{BB962C8B-B14F-4D97-AF65-F5344CB8AC3E}">
        <p14:creationId xmlns:p14="http://schemas.microsoft.com/office/powerpoint/2010/main" val="31732862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AE6AC-DDC0-0AFE-D8B0-A4C5C2437C6E}"/>
              </a:ext>
            </a:extLst>
          </p:cNvPr>
          <p:cNvSpPr>
            <a:spLocks noGrp="1"/>
          </p:cNvSpPr>
          <p:nvPr>
            <p:ph type="title"/>
          </p:nvPr>
        </p:nvSpPr>
        <p:spPr/>
        <p:txBody>
          <a:bodyPr>
            <a:normAutofit/>
          </a:bodyPr>
          <a:lstStyle/>
          <a:p>
            <a:r>
              <a:rPr lang="en-US" b="1" dirty="0">
                <a:solidFill>
                  <a:srgbClr val="000000"/>
                </a:solidFill>
                <a:effectLst/>
                <a:latin typeface="Segoe UI" panose="020B0502040204020203" pitchFamily="34" charset="0"/>
                <a:ea typeface="Calibri" panose="020F0502020204030204" pitchFamily="34" charset="0"/>
              </a:rPr>
              <a:t>Human resources information systems</a:t>
            </a:r>
            <a:endParaRPr lang="en-GB" sz="8800" dirty="0"/>
          </a:p>
        </p:txBody>
      </p:sp>
      <p:sp>
        <p:nvSpPr>
          <p:cNvPr id="3" name="Content Placeholder 2">
            <a:extLst>
              <a:ext uri="{FF2B5EF4-FFF2-40B4-BE49-F238E27FC236}">
                <a16:creationId xmlns:a16="http://schemas.microsoft.com/office/drawing/2014/main" id="{4CCB3A42-308B-F3D1-9678-0F00A36413DB}"/>
              </a:ext>
            </a:extLst>
          </p:cNvPr>
          <p:cNvSpPr>
            <a:spLocks noGrp="1"/>
          </p:cNvSpPr>
          <p:nvPr>
            <p:ph idx="1"/>
          </p:nvPr>
        </p:nvSpPr>
        <p:spPr/>
        <p:txBody>
          <a:bodyPr>
            <a:normAutofit/>
          </a:bodyPr>
          <a:lstStyle/>
          <a:p>
            <a:r>
              <a:rPr lang="en-US" b="1" dirty="0">
                <a:solidFill>
                  <a:srgbClr val="000000"/>
                </a:solidFill>
                <a:effectLst/>
                <a:latin typeface="Segoe UI" panose="020B0502040204020203" pitchFamily="34" charset="0"/>
                <a:ea typeface="Calibri" panose="020F0502020204030204" pitchFamily="34" charset="0"/>
              </a:rPr>
              <a:t>Human Resources </a:t>
            </a:r>
            <a:r>
              <a:rPr lang="en-US" b="1" dirty="0">
                <a:solidFill>
                  <a:srgbClr val="000000"/>
                </a:solidFill>
                <a:latin typeface="Segoe UI" panose="020B0502040204020203" pitchFamily="34" charset="0"/>
                <a:ea typeface="Calibri" panose="020F0502020204030204" pitchFamily="34" charset="0"/>
              </a:rPr>
              <a:t>I</a:t>
            </a:r>
            <a:r>
              <a:rPr lang="en-US" b="1" dirty="0">
                <a:solidFill>
                  <a:srgbClr val="000000"/>
                </a:solidFill>
                <a:effectLst/>
                <a:latin typeface="Segoe UI" panose="020B0502040204020203" pitchFamily="34" charset="0"/>
                <a:ea typeface="Calibri" panose="020F0502020204030204" pitchFamily="34" charset="0"/>
              </a:rPr>
              <a:t>nformation </a:t>
            </a:r>
            <a:r>
              <a:rPr lang="en-US" b="1" dirty="0">
                <a:solidFill>
                  <a:srgbClr val="000000"/>
                </a:solidFill>
                <a:latin typeface="Segoe UI" panose="020B0502040204020203" pitchFamily="34" charset="0"/>
                <a:ea typeface="Calibri" panose="020F0502020204030204" pitchFamily="34" charset="0"/>
              </a:rPr>
              <a:t>S</a:t>
            </a:r>
            <a:r>
              <a:rPr lang="en-US" b="1" dirty="0">
                <a:solidFill>
                  <a:srgbClr val="000000"/>
                </a:solidFill>
                <a:effectLst/>
                <a:latin typeface="Segoe UI" panose="020B0502040204020203" pitchFamily="34" charset="0"/>
                <a:ea typeface="Calibri" panose="020F0502020204030204" pitchFamily="34" charset="0"/>
              </a:rPr>
              <a:t>ystem (HRIS) </a:t>
            </a:r>
            <a:r>
              <a:rPr lang="en-US" dirty="0">
                <a:solidFill>
                  <a:srgbClr val="000000"/>
                </a:solidFill>
                <a:effectLst/>
                <a:latin typeface="Segoe UI" panose="020B0502040204020203" pitchFamily="34" charset="0"/>
                <a:ea typeface="Calibri" panose="020F0502020204030204" pitchFamily="34" charset="0"/>
              </a:rPr>
              <a:t>supports the planning, control, coordination, and management of the human resource assets in an organization. </a:t>
            </a:r>
          </a:p>
          <a:p>
            <a:r>
              <a:rPr lang="en-US" b="1" dirty="0">
                <a:solidFill>
                  <a:srgbClr val="000000"/>
                </a:solidFill>
                <a:effectLst/>
                <a:latin typeface="Segoe UI" panose="020B0502040204020203" pitchFamily="34" charset="0"/>
                <a:ea typeface="Calibri" panose="020F0502020204030204" pitchFamily="34" charset="0"/>
              </a:rPr>
              <a:t>HRIS</a:t>
            </a:r>
            <a:r>
              <a:rPr lang="en-US" dirty="0">
                <a:solidFill>
                  <a:srgbClr val="000000"/>
                </a:solidFill>
                <a:effectLst/>
                <a:latin typeface="Segoe UI" panose="020B0502040204020203" pitchFamily="34" charset="0"/>
                <a:ea typeface="Calibri" panose="020F0502020204030204" pitchFamily="34" charset="0"/>
              </a:rPr>
              <a:t> includes many subsystems that address the information needs of various human resource functions. </a:t>
            </a:r>
          </a:p>
          <a:p>
            <a:r>
              <a:rPr lang="en-US" dirty="0">
                <a:solidFill>
                  <a:srgbClr val="000000"/>
                </a:solidFill>
                <a:effectLst/>
                <a:latin typeface="Segoe UI" panose="020B0502040204020203" pitchFamily="34" charset="0"/>
                <a:ea typeface="Calibri" panose="020F0502020204030204" pitchFamily="34" charset="0"/>
              </a:rPr>
              <a:t>It provides managers with information, policies, and procedures concerning recruiting, layoffs, employee evaluation, promotion, termination, transfers, job descriptions and responsibilities, training, employee compensation, career development, affirmative actions, employment opportunities etc.</a:t>
            </a:r>
            <a:endParaRPr lang="en-GB" sz="4000" dirty="0"/>
          </a:p>
        </p:txBody>
      </p:sp>
    </p:spTree>
    <p:extLst>
      <p:ext uri="{BB962C8B-B14F-4D97-AF65-F5344CB8AC3E}">
        <p14:creationId xmlns:p14="http://schemas.microsoft.com/office/powerpoint/2010/main" val="13452166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CB0C17-8731-3696-E677-5865FFC86483}"/>
              </a:ext>
            </a:extLst>
          </p:cNvPr>
          <p:cNvSpPr>
            <a:spLocks noGrp="1"/>
          </p:cNvSpPr>
          <p:nvPr>
            <p:ph idx="1"/>
          </p:nvPr>
        </p:nvSpPr>
        <p:spPr>
          <a:xfrm>
            <a:off x="838200" y="527537"/>
            <a:ext cx="10515600" cy="5931877"/>
          </a:xfrm>
        </p:spPr>
        <p:txBody>
          <a:bodyPr>
            <a:noAutofit/>
          </a:bodyPr>
          <a:lstStyle/>
          <a:p>
            <a:r>
              <a:rPr lang="en-US" sz="2400" b="1" dirty="0">
                <a:solidFill>
                  <a:srgbClr val="000000"/>
                </a:solidFill>
                <a:effectLst/>
                <a:latin typeface="Segoe UI" panose="020B0502040204020203" pitchFamily="34" charset="0"/>
                <a:ea typeface="Calibri" panose="020F0502020204030204" pitchFamily="34" charset="0"/>
              </a:rPr>
              <a:t>HRIS</a:t>
            </a:r>
            <a:r>
              <a:rPr lang="en-US" sz="2400" dirty="0">
                <a:solidFill>
                  <a:srgbClr val="000000"/>
                </a:solidFill>
                <a:effectLst/>
                <a:latin typeface="Segoe UI" panose="020B0502040204020203" pitchFamily="34" charset="0"/>
                <a:ea typeface="Calibri" panose="020F0502020204030204" pitchFamily="34" charset="0"/>
              </a:rPr>
              <a:t> equally provide vital information on matters such as payroll, central and state taxes, health benefits, childcare, grievance procedures, and other personal information that affects employee needs. </a:t>
            </a:r>
          </a:p>
          <a:p>
            <a:r>
              <a:rPr lang="en-US" sz="2400" dirty="0">
                <a:solidFill>
                  <a:srgbClr val="000000"/>
                </a:solidFill>
                <a:effectLst/>
                <a:latin typeface="Segoe UI" panose="020B0502040204020203" pitchFamily="34" charset="0"/>
                <a:ea typeface="Calibri" panose="020F0502020204030204" pitchFamily="34" charset="0"/>
              </a:rPr>
              <a:t>Similarly, an efficient </a:t>
            </a:r>
            <a:r>
              <a:rPr lang="en-US" sz="2400" b="1" dirty="0">
                <a:solidFill>
                  <a:srgbClr val="000000"/>
                </a:solidFill>
                <a:effectLst/>
                <a:latin typeface="Segoe UI" panose="020B0502040204020203" pitchFamily="34" charset="0"/>
                <a:ea typeface="Calibri" panose="020F0502020204030204" pitchFamily="34" charset="0"/>
              </a:rPr>
              <a:t>HRIS</a:t>
            </a:r>
            <a:r>
              <a:rPr lang="en-US" sz="2400" dirty="0">
                <a:solidFill>
                  <a:srgbClr val="000000"/>
                </a:solidFill>
                <a:effectLst/>
                <a:latin typeface="Segoe UI" panose="020B0502040204020203" pitchFamily="34" charset="0"/>
                <a:ea typeface="Calibri" panose="020F0502020204030204" pitchFamily="34" charset="0"/>
              </a:rPr>
              <a:t> provides proper management of all employees' information, reporting, emergency evacuation procedure and safety guidelines, rewards like employee handbooks, status modifications and updating of personal data, comprehensive integration with payroll, in addition to other accounting systems and financial software, applicant monitoring and resume administration etc. </a:t>
            </a:r>
          </a:p>
          <a:p>
            <a:r>
              <a:rPr lang="en-US" sz="2400" dirty="0">
                <a:solidFill>
                  <a:srgbClr val="000000"/>
                </a:solidFill>
                <a:effectLst/>
                <a:latin typeface="Segoe UI" panose="020B0502040204020203" pitchFamily="34" charset="0"/>
                <a:ea typeface="Calibri" panose="020F0502020204030204" pitchFamily="34" charset="0"/>
              </a:rPr>
              <a:t>Likewise, </a:t>
            </a:r>
            <a:r>
              <a:rPr lang="en-US" sz="2400" b="1" dirty="0">
                <a:solidFill>
                  <a:srgbClr val="000000"/>
                </a:solidFill>
                <a:effectLst/>
                <a:latin typeface="Segoe UI" panose="020B0502040204020203" pitchFamily="34" charset="0"/>
                <a:ea typeface="Calibri" panose="020F0502020204030204" pitchFamily="34" charset="0"/>
              </a:rPr>
              <a:t>HRIS</a:t>
            </a:r>
            <a:r>
              <a:rPr lang="en-US" sz="2400" dirty="0">
                <a:solidFill>
                  <a:srgbClr val="000000"/>
                </a:solidFill>
                <a:effectLst/>
                <a:latin typeface="Segoe UI" panose="020B0502040204020203" pitchFamily="34" charset="0"/>
                <a:ea typeface="Calibri" panose="020F0502020204030204" pitchFamily="34" charset="0"/>
              </a:rPr>
              <a:t> helps organization track and monitor paid time off and attendance, pay scale history, positions and pay grades, overall performance, development strategies, coaching obtained, disciplinary actions, personal staff data, key staff succession plans, identification of prospective staff etc.</a:t>
            </a:r>
          </a:p>
          <a:p>
            <a:r>
              <a:rPr lang="en-US" sz="2400" dirty="0">
                <a:solidFill>
                  <a:srgbClr val="000000"/>
                </a:solidFill>
                <a:effectLst/>
                <a:latin typeface="Segoe UI" panose="020B0502040204020203" pitchFamily="34" charset="0"/>
                <a:ea typeface="Calibri" panose="020F0502020204030204" pitchFamily="34" charset="0"/>
              </a:rPr>
              <a:t>The</a:t>
            </a:r>
            <a:r>
              <a:rPr lang="en-US" sz="2400" b="1" dirty="0">
                <a:solidFill>
                  <a:srgbClr val="000000"/>
                </a:solidFill>
                <a:effectLst/>
                <a:latin typeface="Segoe UI" panose="020B0502040204020203" pitchFamily="34" charset="0"/>
                <a:ea typeface="Calibri" panose="020F0502020204030204" pitchFamily="34" charset="0"/>
              </a:rPr>
              <a:t> HRIS </a:t>
            </a:r>
            <a:r>
              <a:rPr lang="en-US" sz="2400" dirty="0">
                <a:solidFill>
                  <a:srgbClr val="000000"/>
                </a:solidFill>
                <a:effectLst/>
                <a:latin typeface="Segoe UI" panose="020B0502040204020203" pitchFamily="34" charset="0"/>
                <a:ea typeface="Calibri" panose="020F0502020204030204" pitchFamily="34" charset="0"/>
              </a:rPr>
              <a:t>is derived from the strategic business plan, the strategic human resources plan, and the strategic information plans, as shown below.</a:t>
            </a:r>
            <a:endParaRPr lang="en-GB" sz="2400" dirty="0"/>
          </a:p>
        </p:txBody>
      </p:sp>
    </p:spTree>
    <p:extLst>
      <p:ext uri="{BB962C8B-B14F-4D97-AF65-F5344CB8AC3E}">
        <p14:creationId xmlns:p14="http://schemas.microsoft.com/office/powerpoint/2010/main" val="4312884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Group 39">
            <a:extLst>
              <a:ext uri="{FF2B5EF4-FFF2-40B4-BE49-F238E27FC236}">
                <a16:creationId xmlns:a16="http://schemas.microsoft.com/office/drawing/2014/main" id="{BE0B18BB-CEF6-7DF9-89D4-A114EE9B46DC}"/>
              </a:ext>
            </a:extLst>
          </p:cNvPr>
          <p:cNvGrpSpPr/>
          <p:nvPr/>
        </p:nvGrpSpPr>
        <p:grpSpPr>
          <a:xfrm>
            <a:off x="1958011" y="644769"/>
            <a:ext cx="8528419" cy="4866143"/>
            <a:chOff x="2743135" y="644769"/>
            <a:chExt cx="8528419" cy="4866143"/>
          </a:xfrm>
        </p:grpSpPr>
        <p:sp>
          <p:nvSpPr>
            <p:cNvPr id="4" name="Rectangle 3">
              <a:extLst>
                <a:ext uri="{FF2B5EF4-FFF2-40B4-BE49-F238E27FC236}">
                  <a16:creationId xmlns:a16="http://schemas.microsoft.com/office/drawing/2014/main" id="{42F0877D-6735-71E8-BD90-707334994A1B}"/>
                </a:ext>
              </a:extLst>
            </p:cNvPr>
            <p:cNvSpPr/>
            <p:nvPr/>
          </p:nvSpPr>
          <p:spPr>
            <a:xfrm>
              <a:off x="8868328" y="2753857"/>
              <a:ext cx="2403226" cy="275705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285750" indent="-285750">
                <a:buFont typeface="Wingdings" panose="05000000000000000000" pitchFamily="2" charset="2"/>
                <a:buChar char="§"/>
              </a:pPr>
              <a:r>
                <a:rPr lang="en-US" dirty="0"/>
                <a:t>Personal</a:t>
              </a:r>
            </a:p>
            <a:p>
              <a:pPr marL="285750" indent="-285750">
                <a:buFont typeface="Wingdings" panose="05000000000000000000" pitchFamily="2" charset="2"/>
                <a:buChar char="§"/>
              </a:pPr>
              <a:r>
                <a:rPr lang="en-US" dirty="0"/>
                <a:t>Payroll</a:t>
              </a:r>
            </a:p>
            <a:p>
              <a:pPr marL="285750" indent="-285750">
                <a:buFont typeface="Wingdings" panose="05000000000000000000" pitchFamily="2" charset="2"/>
                <a:buChar char="§"/>
              </a:pPr>
              <a:r>
                <a:rPr lang="en-US" dirty="0"/>
                <a:t>Benefits</a:t>
              </a:r>
            </a:p>
            <a:p>
              <a:pPr marL="285750" indent="-285750">
                <a:buFont typeface="Wingdings" panose="05000000000000000000" pitchFamily="2" charset="2"/>
                <a:buChar char="§"/>
              </a:pPr>
              <a:r>
                <a:rPr lang="en-US" dirty="0"/>
                <a:t>Equity Monitoring</a:t>
              </a:r>
            </a:p>
            <a:p>
              <a:pPr marL="285750" indent="-285750">
                <a:buFont typeface="Wingdings" panose="05000000000000000000" pitchFamily="2" charset="2"/>
                <a:buChar char="§"/>
              </a:pPr>
              <a:r>
                <a:rPr lang="en-US" dirty="0"/>
                <a:t>Recruitment</a:t>
              </a:r>
            </a:p>
            <a:p>
              <a:pPr marL="285750" indent="-285750">
                <a:buFont typeface="Wingdings" panose="05000000000000000000" pitchFamily="2" charset="2"/>
                <a:buChar char="§"/>
              </a:pPr>
              <a:r>
                <a:rPr lang="en-US" dirty="0"/>
                <a:t>Compliance System</a:t>
              </a:r>
            </a:p>
            <a:p>
              <a:pPr marL="285750" indent="-285750">
                <a:buFont typeface="Wingdings" panose="05000000000000000000" pitchFamily="2" charset="2"/>
                <a:buChar char="§"/>
              </a:pPr>
              <a:r>
                <a:rPr lang="en-US" dirty="0"/>
                <a:t>Manpower Planning</a:t>
              </a:r>
            </a:p>
            <a:p>
              <a:pPr marL="285750" indent="-285750">
                <a:buFont typeface="Wingdings" panose="05000000000000000000" pitchFamily="2" charset="2"/>
                <a:buChar char="§"/>
              </a:pPr>
              <a:endParaRPr lang="en-US" dirty="0"/>
            </a:p>
          </p:txBody>
        </p:sp>
        <p:sp>
          <p:nvSpPr>
            <p:cNvPr id="5" name="Rectangle 4">
              <a:extLst>
                <a:ext uri="{FF2B5EF4-FFF2-40B4-BE49-F238E27FC236}">
                  <a16:creationId xmlns:a16="http://schemas.microsoft.com/office/drawing/2014/main" id="{76C69319-8756-10BE-30C6-90D5E554E995}"/>
                </a:ext>
              </a:extLst>
            </p:cNvPr>
            <p:cNvSpPr/>
            <p:nvPr/>
          </p:nvSpPr>
          <p:spPr>
            <a:xfrm>
              <a:off x="3481749" y="644769"/>
              <a:ext cx="2403231" cy="44547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Strategic Business</a:t>
              </a:r>
            </a:p>
          </p:txBody>
        </p:sp>
        <p:sp>
          <p:nvSpPr>
            <p:cNvPr id="6" name="Rectangle 5">
              <a:extLst>
                <a:ext uri="{FF2B5EF4-FFF2-40B4-BE49-F238E27FC236}">
                  <a16:creationId xmlns:a16="http://schemas.microsoft.com/office/drawing/2014/main" id="{6EADE999-28CE-FFA5-6D6B-A0A83C57A9E0}"/>
                </a:ext>
              </a:extLst>
            </p:cNvPr>
            <p:cNvSpPr/>
            <p:nvPr/>
          </p:nvSpPr>
          <p:spPr>
            <a:xfrm>
              <a:off x="3481749" y="1330569"/>
              <a:ext cx="2403231" cy="5920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Strategic Human Resource Plan</a:t>
              </a:r>
            </a:p>
          </p:txBody>
        </p:sp>
        <p:sp>
          <p:nvSpPr>
            <p:cNvPr id="9" name="Rectangle 8">
              <a:extLst>
                <a:ext uri="{FF2B5EF4-FFF2-40B4-BE49-F238E27FC236}">
                  <a16:creationId xmlns:a16="http://schemas.microsoft.com/office/drawing/2014/main" id="{83885EC1-2804-5A1A-C02E-42BCE30B4F6D}"/>
                </a:ext>
              </a:extLst>
            </p:cNvPr>
            <p:cNvSpPr/>
            <p:nvPr/>
          </p:nvSpPr>
          <p:spPr>
            <a:xfrm>
              <a:off x="3481749" y="2162908"/>
              <a:ext cx="2403231" cy="5920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Strategic Information Plan</a:t>
              </a:r>
            </a:p>
          </p:txBody>
        </p:sp>
        <p:sp>
          <p:nvSpPr>
            <p:cNvPr id="10" name="Rectangle 9">
              <a:extLst>
                <a:ext uri="{FF2B5EF4-FFF2-40B4-BE49-F238E27FC236}">
                  <a16:creationId xmlns:a16="http://schemas.microsoft.com/office/drawing/2014/main" id="{1FD7EABC-5614-2C5E-CC08-ED1F1E707379}"/>
                </a:ext>
              </a:extLst>
            </p:cNvPr>
            <p:cNvSpPr/>
            <p:nvPr/>
          </p:nvSpPr>
          <p:spPr>
            <a:xfrm>
              <a:off x="3481748" y="2995248"/>
              <a:ext cx="2403231" cy="5920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Human Resource Information</a:t>
              </a:r>
            </a:p>
          </p:txBody>
        </p:sp>
        <p:cxnSp>
          <p:nvCxnSpPr>
            <p:cNvPr id="14" name="Connector: Elbow 13">
              <a:extLst>
                <a:ext uri="{FF2B5EF4-FFF2-40B4-BE49-F238E27FC236}">
                  <a16:creationId xmlns:a16="http://schemas.microsoft.com/office/drawing/2014/main" id="{A254CDC7-80BC-F06C-C9A9-827CD5A73FF9}"/>
                </a:ext>
              </a:extLst>
            </p:cNvPr>
            <p:cNvCxnSpPr>
              <a:cxnSpLocks/>
              <a:stCxn id="5" idx="1"/>
              <a:endCxn id="10" idx="1"/>
            </p:cNvCxnSpPr>
            <p:nvPr/>
          </p:nvCxnSpPr>
          <p:spPr>
            <a:xfrm rot="10800000" flipV="1">
              <a:off x="3481749" y="867508"/>
              <a:ext cx="1" cy="2423748"/>
            </a:xfrm>
            <a:prstGeom prst="bentConnector3">
              <a:avLst>
                <a:gd name="adj1" fmla="val 22860100000"/>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B0A5E719-4BD5-5E4B-F9D3-D524F66DD49A}"/>
                </a:ext>
              </a:extLst>
            </p:cNvPr>
            <p:cNvCxnSpPr>
              <a:stCxn id="5" idx="2"/>
              <a:endCxn id="6" idx="0"/>
            </p:cNvCxnSpPr>
            <p:nvPr/>
          </p:nvCxnSpPr>
          <p:spPr>
            <a:xfrm>
              <a:off x="4683365" y="1090246"/>
              <a:ext cx="0" cy="24032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873B241F-46D3-B162-B9DC-E72C90E41C82}"/>
                </a:ext>
              </a:extLst>
            </p:cNvPr>
            <p:cNvCxnSpPr>
              <a:stCxn id="6" idx="2"/>
              <a:endCxn id="9" idx="0"/>
            </p:cNvCxnSpPr>
            <p:nvPr/>
          </p:nvCxnSpPr>
          <p:spPr>
            <a:xfrm>
              <a:off x="4683365" y="1922585"/>
              <a:ext cx="0" cy="24032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776F9E3D-E3BF-8298-B456-905C4E0D5225}"/>
                </a:ext>
              </a:extLst>
            </p:cNvPr>
            <p:cNvCxnSpPr>
              <a:stCxn id="9" idx="2"/>
              <a:endCxn id="10" idx="0"/>
            </p:cNvCxnSpPr>
            <p:nvPr/>
          </p:nvCxnSpPr>
          <p:spPr>
            <a:xfrm flipH="1">
              <a:off x="4683364" y="2754924"/>
              <a:ext cx="1" cy="2403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Connector: Elbow 29">
              <a:extLst>
                <a:ext uri="{FF2B5EF4-FFF2-40B4-BE49-F238E27FC236}">
                  <a16:creationId xmlns:a16="http://schemas.microsoft.com/office/drawing/2014/main" id="{5A138982-3442-862B-7429-5F9E460776DA}"/>
                </a:ext>
              </a:extLst>
            </p:cNvPr>
            <p:cNvCxnSpPr>
              <a:cxnSpLocks/>
              <a:stCxn id="10" idx="3"/>
            </p:cNvCxnSpPr>
            <p:nvPr/>
          </p:nvCxnSpPr>
          <p:spPr>
            <a:xfrm>
              <a:off x="5884979" y="3291256"/>
              <a:ext cx="2983348" cy="536331"/>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
          <p:nvSpPr>
            <p:cNvPr id="32" name="Rectangle 31">
              <a:extLst>
                <a:ext uri="{FF2B5EF4-FFF2-40B4-BE49-F238E27FC236}">
                  <a16:creationId xmlns:a16="http://schemas.microsoft.com/office/drawing/2014/main" id="{058768E0-35E5-AB69-7191-EEEC9AC8DD0A}"/>
                </a:ext>
              </a:extLst>
            </p:cNvPr>
            <p:cNvSpPr/>
            <p:nvPr/>
          </p:nvSpPr>
          <p:spPr>
            <a:xfrm>
              <a:off x="3481748" y="4440116"/>
              <a:ext cx="2403231" cy="44547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External</a:t>
              </a:r>
            </a:p>
          </p:txBody>
        </p:sp>
        <p:sp>
          <p:nvSpPr>
            <p:cNvPr id="33" name="Rectangle 32">
              <a:extLst>
                <a:ext uri="{FF2B5EF4-FFF2-40B4-BE49-F238E27FC236}">
                  <a16:creationId xmlns:a16="http://schemas.microsoft.com/office/drawing/2014/main" id="{87A3ACCD-00CE-03F0-07E7-18D7246B659E}"/>
                </a:ext>
              </a:extLst>
            </p:cNvPr>
            <p:cNvSpPr/>
            <p:nvPr/>
          </p:nvSpPr>
          <p:spPr>
            <a:xfrm>
              <a:off x="3481748" y="4885593"/>
              <a:ext cx="2403231" cy="44547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Internal</a:t>
              </a:r>
            </a:p>
          </p:txBody>
        </p:sp>
        <p:sp>
          <p:nvSpPr>
            <p:cNvPr id="34" name="TextBox 33">
              <a:extLst>
                <a:ext uri="{FF2B5EF4-FFF2-40B4-BE49-F238E27FC236}">
                  <a16:creationId xmlns:a16="http://schemas.microsoft.com/office/drawing/2014/main" id="{64772837-34AF-102D-27C7-E7B94C1F0824}"/>
                </a:ext>
              </a:extLst>
            </p:cNvPr>
            <p:cNvSpPr txBox="1"/>
            <p:nvPr/>
          </p:nvSpPr>
          <p:spPr>
            <a:xfrm>
              <a:off x="3669323" y="4026877"/>
              <a:ext cx="1957754" cy="369332"/>
            </a:xfrm>
            <a:prstGeom prst="rect">
              <a:avLst/>
            </a:prstGeom>
            <a:noFill/>
          </p:spPr>
          <p:txBody>
            <a:bodyPr wrap="square" rtlCol="0">
              <a:spAutoFit/>
            </a:bodyPr>
            <a:lstStyle/>
            <a:p>
              <a:pPr algn="ctr"/>
              <a:r>
                <a:rPr lang="en-GB" b="1" dirty="0"/>
                <a:t>Databases</a:t>
              </a:r>
            </a:p>
          </p:txBody>
        </p:sp>
        <p:sp>
          <p:nvSpPr>
            <p:cNvPr id="35" name="TextBox 34">
              <a:extLst>
                <a:ext uri="{FF2B5EF4-FFF2-40B4-BE49-F238E27FC236}">
                  <a16:creationId xmlns:a16="http://schemas.microsoft.com/office/drawing/2014/main" id="{F3970455-500D-C0C0-72F3-B6F01E606041}"/>
                </a:ext>
              </a:extLst>
            </p:cNvPr>
            <p:cNvSpPr txBox="1"/>
            <p:nvPr/>
          </p:nvSpPr>
          <p:spPr>
            <a:xfrm rot="5400000">
              <a:off x="1948924" y="2004618"/>
              <a:ext cx="1957754" cy="369332"/>
            </a:xfrm>
            <a:prstGeom prst="rect">
              <a:avLst/>
            </a:prstGeom>
            <a:noFill/>
          </p:spPr>
          <p:txBody>
            <a:bodyPr wrap="square" rtlCol="0">
              <a:spAutoFit/>
            </a:bodyPr>
            <a:lstStyle/>
            <a:p>
              <a:pPr algn="ctr"/>
              <a:r>
                <a:rPr lang="en-GB" b="1" dirty="0"/>
                <a:t>Feedback</a:t>
              </a:r>
            </a:p>
          </p:txBody>
        </p:sp>
        <p:cxnSp>
          <p:nvCxnSpPr>
            <p:cNvPr id="37" name="Straight Arrow Connector 36">
              <a:extLst>
                <a:ext uri="{FF2B5EF4-FFF2-40B4-BE49-F238E27FC236}">
                  <a16:creationId xmlns:a16="http://schemas.microsoft.com/office/drawing/2014/main" id="{933EF63E-DA11-2D2D-2C0E-6071626266C9}"/>
                </a:ext>
              </a:extLst>
            </p:cNvPr>
            <p:cNvCxnSpPr>
              <a:stCxn id="32" idx="3"/>
            </p:cNvCxnSpPr>
            <p:nvPr/>
          </p:nvCxnSpPr>
          <p:spPr>
            <a:xfrm flipV="1">
              <a:off x="5884979" y="4659927"/>
              <a:ext cx="2983348" cy="2928"/>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79F065A0-40AC-D0A4-F71E-3D3115D3B50A}"/>
                </a:ext>
              </a:extLst>
            </p:cNvPr>
            <p:cNvCxnSpPr>
              <a:stCxn id="33" idx="3"/>
            </p:cNvCxnSpPr>
            <p:nvPr/>
          </p:nvCxnSpPr>
          <p:spPr>
            <a:xfrm flipV="1">
              <a:off x="5884979" y="5106867"/>
              <a:ext cx="2983348" cy="1465"/>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grpSp>
      <p:sp>
        <p:nvSpPr>
          <p:cNvPr id="41" name="TextBox 40">
            <a:extLst>
              <a:ext uri="{FF2B5EF4-FFF2-40B4-BE49-F238E27FC236}">
                <a16:creationId xmlns:a16="http://schemas.microsoft.com/office/drawing/2014/main" id="{A0B5A49C-06CC-E30B-ACAE-0E1517338E11}"/>
              </a:ext>
            </a:extLst>
          </p:cNvPr>
          <p:cNvSpPr txBox="1"/>
          <p:nvPr/>
        </p:nvSpPr>
        <p:spPr>
          <a:xfrm>
            <a:off x="2349145" y="5804225"/>
            <a:ext cx="7493710" cy="461665"/>
          </a:xfrm>
          <a:prstGeom prst="rect">
            <a:avLst/>
          </a:prstGeom>
          <a:noFill/>
        </p:spPr>
        <p:txBody>
          <a:bodyPr wrap="square">
            <a:spAutoFit/>
          </a:bodyPr>
          <a:lstStyle/>
          <a:p>
            <a:pPr algn="ctr"/>
            <a:r>
              <a:rPr lang="en-US" sz="2400" b="1" dirty="0">
                <a:effectLst/>
                <a:latin typeface="Segoe UI" panose="020B0502040204020203" pitchFamily="34" charset="0"/>
                <a:ea typeface="Calibri" panose="020F0502020204030204" pitchFamily="34" charset="0"/>
              </a:rPr>
              <a:t>Figure 6.16: Human Resource Information System</a:t>
            </a:r>
            <a:endParaRPr lang="en-US" sz="2400" b="1" dirty="0"/>
          </a:p>
        </p:txBody>
      </p:sp>
    </p:spTree>
    <p:extLst>
      <p:ext uri="{BB962C8B-B14F-4D97-AF65-F5344CB8AC3E}">
        <p14:creationId xmlns:p14="http://schemas.microsoft.com/office/powerpoint/2010/main" val="24196815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C2545D-7E55-FC69-99B7-2087BA081417}"/>
              </a:ext>
            </a:extLst>
          </p:cNvPr>
          <p:cNvSpPr>
            <a:spLocks noGrp="1"/>
          </p:cNvSpPr>
          <p:nvPr>
            <p:ph idx="1"/>
          </p:nvPr>
        </p:nvSpPr>
        <p:spPr>
          <a:xfrm>
            <a:off x="838200" y="715108"/>
            <a:ext cx="10515600" cy="5662246"/>
          </a:xfrm>
        </p:spPr>
        <p:txBody>
          <a:bodyPr>
            <a:normAutofit/>
          </a:bodyPr>
          <a:lstStyle/>
          <a:p>
            <a:r>
              <a:rPr lang="en-US" sz="2400" dirty="0">
                <a:solidFill>
                  <a:srgbClr val="000000"/>
                </a:solidFill>
                <a:effectLst/>
                <a:latin typeface="Segoe UI" panose="020B0502040204020203" pitchFamily="34" charset="0"/>
                <a:ea typeface="Calibri" panose="020F0502020204030204" pitchFamily="34" charset="0"/>
              </a:rPr>
              <a:t>As in other types of information systems, an </a:t>
            </a:r>
            <a:r>
              <a:rPr lang="en-US" sz="2400" b="1" dirty="0">
                <a:solidFill>
                  <a:srgbClr val="000000"/>
                </a:solidFill>
                <a:effectLst/>
                <a:latin typeface="Segoe UI" panose="020B0502040204020203" pitchFamily="34" charset="0"/>
                <a:ea typeface="Calibri" panose="020F0502020204030204" pitchFamily="34" charset="0"/>
              </a:rPr>
              <a:t>HRIS</a:t>
            </a:r>
            <a:r>
              <a:rPr lang="en-US" sz="2400" dirty="0">
                <a:solidFill>
                  <a:srgbClr val="000000"/>
                </a:solidFill>
                <a:effectLst/>
                <a:latin typeface="Segoe UI" panose="020B0502040204020203" pitchFamily="34" charset="0"/>
                <a:ea typeface="Calibri" panose="020F0502020204030204" pitchFamily="34" charset="0"/>
              </a:rPr>
              <a:t> consists of a database, which contains one or more files in which the data relevant to the system are maintained, and a database management system, which provides how users of the system access and utilize these data.</a:t>
            </a:r>
          </a:p>
          <a:p>
            <a:r>
              <a:rPr lang="en-US" sz="2400" dirty="0">
                <a:solidFill>
                  <a:srgbClr val="000000"/>
                </a:solidFill>
                <a:effectLst/>
                <a:latin typeface="Segoe UI" panose="020B0502040204020203" pitchFamily="34" charset="0"/>
                <a:ea typeface="Calibri" panose="020F0502020204030204" pitchFamily="34" charset="0"/>
              </a:rPr>
              <a:t>The </a:t>
            </a:r>
            <a:r>
              <a:rPr lang="en-US" sz="2400" b="1" dirty="0">
                <a:solidFill>
                  <a:srgbClr val="000000"/>
                </a:solidFill>
                <a:effectLst/>
                <a:latin typeface="Segoe UI" panose="020B0502040204020203" pitchFamily="34" charset="0"/>
                <a:ea typeface="Calibri" panose="020F0502020204030204" pitchFamily="34" charset="0"/>
              </a:rPr>
              <a:t>HRIS</a:t>
            </a:r>
            <a:r>
              <a:rPr lang="en-US" sz="2400" dirty="0">
                <a:solidFill>
                  <a:srgbClr val="000000"/>
                </a:solidFill>
                <a:effectLst/>
                <a:latin typeface="Segoe UI" panose="020B0502040204020203" pitchFamily="34" charset="0"/>
                <a:ea typeface="Calibri" panose="020F0502020204030204" pitchFamily="34" charset="0"/>
              </a:rPr>
              <a:t> thus contains tools that allow users to input new data and edit existing data. </a:t>
            </a:r>
          </a:p>
          <a:p>
            <a:r>
              <a:rPr lang="en-US" sz="2400" dirty="0">
                <a:solidFill>
                  <a:srgbClr val="000000"/>
                </a:solidFill>
                <a:effectLst/>
                <a:latin typeface="Segoe UI" panose="020B0502040204020203" pitchFamily="34" charset="0"/>
                <a:ea typeface="Calibri" panose="020F0502020204030204" pitchFamily="34" charset="0"/>
              </a:rPr>
              <a:t>In addition, such programs provide users with the opportunity to select from an array of predefined reports that may either be printed or displayed on a monitor. </a:t>
            </a:r>
          </a:p>
          <a:p>
            <a:r>
              <a:rPr lang="en-US" sz="2400" dirty="0">
                <a:solidFill>
                  <a:srgbClr val="000000"/>
                </a:solidFill>
                <a:effectLst/>
                <a:latin typeface="Segoe UI" panose="020B0502040204020203" pitchFamily="34" charset="0"/>
                <a:ea typeface="Calibri" panose="020F0502020204030204" pitchFamily="34" charset="0"/>
              </a:rPr>
              <a:t>Reports may address any of several different </a:t>
            </a:r>
            <a:r>
              <a:rPr lang="en-US" sz="2400" b="1" dirty="0">
                <a:solidFill>
                  <a:srgbClr val="000000"/>
                </a:solidFill>
                <a:effectLst/>
                <a:latin typeface="Segoe UI" panose="020B0502040204020203" pitchFamily="34" charset="0"/>
                <a:ea typeface="Calibri" panose="020F0502020204030204" pitchFamily="34" charset="0"/>
              </a:rPr>
              <a:t>HRM</a:t>
            </a:r>
            <a:r>
              <a:rPr lang="en-US" sz="2400" dirty="0">
                <a:solidFill>
                  <a:srgbClr val="000000"/>
                </a:solidFill>
                <a:effectLst/>
                <a:latin typeface="Segoe UI" panose="020B0502040204020203" pitchFamily="34" charset="0"/>
                <a:ea typeface="Calibri" panose="020F0502020204030204" pitchFamily="34" charset="0"/>
              </a:rPr>
              <a:t> issues (e.g., succession plans, compensation plans, equal employment opportunity monitoring). </a:t>
            </a:r>
          </a:p>
          <a:p>
            <a:r>
              <a:rPr lang="en-US" sz="2400" b="1" dirty="0">
                <a:solidFill>
                  <a:srgbClr val="000000"/>
                </a:solidFill>
                <a:effectLst/>
                <a:latin typeface="Segoe UI" panose="020B0502040204020203" pitchFamily="34" charset="0"/>
                <a:ea typeface="Calibri" panose="020F0502020204030204" pitchFamily="34" charset="0"/>
              </a:rPr>
              <a:t>HRIS</a:t>
            </a:r>
            <a:r>
              <a:rPr lang="en-US" sz="2400" dirty="0">
                <a:solidFill>
                  <a:srgbClr val="000000"/>
                </a:solidFill>
                <a:effectLst/>
                <a:latin typeface="Segoe UI" panose="020B0502040204020203" pitchFamily="34" charset="0"/>
                <a:ea typeface="Calibri" panose="020F0502020204030204" pitchFamily="34" charset="0"/>
              </a:rPr>
              <a:t>s also generally include tools by which users or system administrators may generate ad hoc reports and select specific cases or subsets of cases for display.</a:t>
            </a:r>
            <a:endParaRPr lang="en-GB" sz="3600" dirty="0"/>
          </a:p>
        </p:txBody>
      </p:sp>
    </p:spTree>
    <p:extLst>
      <p:ext uri="{BB962C8B-B14F-4D97-AF65-F5344CB8AC3E}">
        <p14:creationId xmlns:p14="http://schemas.microsoft.com/office/powerpoint/2010/main" val="20361741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1C5AFF-E522-772D-B611-7A79A1409E66}"/>
              </a:ext>
            </a:extLst>
          </p:cNvPr>
          <p:cNvSpPr>
            <a:spLocks noGrp="1"/>
          </p:cNvSpPr>
          <p:nvPr>
            <p:ph idx="1"/>
          </p:nvPr>
        </p:nvSpPr>
        <p:spPr>
          <a:xfrm>
            <a:off x="838200" y="738554"/>
            <a:ext cx="10515600" cy="5438409"/>
          </a:xfrm>
        </p:spPr>
        <p:txBody>
          <a:bodyPr>
            <a:normAutofit/>
          </a:bodyPr>
          <a:lstStyle/>
          <a:p>
            <a:r>
              <a:rPr lang="en-US" dirty="0">
                <a:solidFill>
                  <a:srgbClr val="000000"/>
                </a:solidFill>
                <a:effectLst/>
                <a:latin typeface="Segoe UI" panose="020B0502040204020203" pitchFamily="34" charset="0"/>
                <a:ea typeface="Calibri" panose="020F0502020204030204" pitchFamily="34" charset="0"/>
              </a:rPr>
              <a:t>Some subsystems within the </a:t>
            </a:r>
            <a:r>
              <a:rPr lang="en-US" b="1" dirty="0">
                <a:solidFill>
                  <a:srgbClr val="000000"/>
                </a:solidFill>
                <a:effectLst/>
                <a:latin typeface="Segoe UI" panose="020B0502040204020203" pitchFamily="34" charset="0"/>
                <a:ea typeface="Calibri" panose="020F0502020204030204" pitchFamily="34" charset="0"/>
              </a:rPr>
              <a:t>HRIS</a:t>
            </a:r>
            <a:r>
              <a:rPr lang="en-US" dirty="0">
                <a:solidFill>
                  <a:srgbClr val="000000"/>
                </a:solidFill>
                <a:effectLst/>
                <a:latin typeface="Segoe UI" panose="020B0502040204020203" pitchFamily="34" charset="0"/>
                <a:ea typeface="Calibri" panose="020F0502020204030204" pitchFamily="34" charset="0"/>
              </a:rPr>
              <a:t> are personal data, payroll benefits, administration and equity monitoring, processing job applications, monitoring positions, training and development, safety, workers’ compensation, union negotiations and collective bargaining.</a:t>
            </a:r>
          </a:p>
          <a:p>
            <a:r>
              <a:rPr lang="en-US" dirty="0">
                <a:solidFill>
                  <a:srgbClr val="000000"/>
                </a:solidFill>
                <a:effectLst/>
                <a:latin typeface="Segoe UI" panose="020B0502040204020203" pitchFamily="34" charset="0"/>
                <a:ea typeface="Calibri" panose="020F0502020204030204" pitchFamily="34" charset="0"/>
              </a:rPr>
              <a:t>Another important subsystem of </a:t>
            </a:r>
            <a:r>
              <a:rPr lang="en-US" b="1" dirty="0">
                <a:solidFill>
                  <a:srgbClr val="000000"/>
                </a:solidFill>
                <a:effectLst/>
                <a:latin typeface="Segoe UI" panose="020B0502040204020203" pitchFamily="34" charset="0"/>
                <a:ea typeface="Calibri" panose="020F0502020204030204" pitchFamily="34" charset="0"/>
              </a:rPr>
              <a:t>HRIS</a:t>
            </a:r>
            <a:r>
              <a:rPr lang="en-US" dirty="0">
                <a:solidFill>
                  <a:srgbClr val="000000"/>
                </a:solidFill>
                <a:effectLst/>
                <a:latin typeface="Segoe UI" panose="020B0502040204020203" pitchFamily="34" charset="0"/>
                <a:ea typeface="Calibri" panose="020F0502020204030204" pitchFamily="34" charset="0"/>
              </a:rPr>
              <a:t> is the compliance system, which closely tracks and monitors the organization’s record of compliance with government laws and regulations such as affirmative action, equal employment opportunities and others. </a:t>
            </a:r>
          </a:p>
          <a:p>
            <a:r>
              <a:rPr lang="en-US" dirty="0">
                <a:solidFill>
                  <a:srgbClr val="000000"/>
                </a:solidFill>
                <a:effectLst/>
                <a:latin typeface="Segoe UI" panose="020B0502040204020203" pitchFamily="34" charset="0"/>
                <a:ea typeface="Calibri" panose="020F0502020204030204" pitchFamily="34" charset="0"/>
              </a:rPr>
              <a:t>Likewise, some of the subsystems of </a:t>
            </a:r>
            <a:r>
              <a:rPr lang="en-US" b="1" dirty="0">
                <a:solidFill>
                  <a:srgbClr val="000000"/>
                </a:solidFill>
                <a:effectLst/>
                <a:latin typeface="Segoe UI" panose="020B0502040204020203" pitchFamily="34" charset="0"/>
                <a:ea typeface="Calibri" panose="020F0502020204030204" pitchFamily="34" charset="0"/>
              </a:rPr>
              <a:t>HRIS</a:t>
            </a:r>
            <a:r>
              <a:rPr lang="en-US" dirty="0">
                <a:solidFill>
                  <a:srgbClr val="000000"/>
                </a:solidFill>
                <a:effectLst/>
                <a:latin typeface="Segoe UI" panose="020B0502040204020203" pitchFamily="34" charset="0"/>
                <a:ea typeface="Calibri" panose="020F0502020204030204" pitchFamily="34" charset="0"/>
              </a:rPr>
              <a:t> are used to manage records and generate information regarding recruitment, transfer, promotion, layoff, and termination of employees. </a:t>
            </a:r>
            <a:endParaRPr lang="en-GB" sz="4000" dirty="0"/>
          </a:p>
        </p:txBody>
      </p:sp>
    </p:spTree>
    <p:extLst>
      <p:ext uri="{BB962C8B-B14F-4D97-AF65-F5344CB8AC3E}">
        <p14:creationId xmlns:p14="http://schemas.microsoft.com/office/powerpoint/2010/main" val="31192414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18DA65-307E-34F6-4EDA-BB0EC5004CE1}"/>
              </a:ext>
            </a:extLst>
          </p:cNvPr>
          <p:cNvSpPr>
            <a:spLocks noGrp="1"/>
          </p:cNvSpPr>
          <p:nvPr>
            <p:ph idx="1"/>
          </p:nvPr>
        </p:nvSpPr>
        <p:spPr>
          <a:xfrm>
            <a:off x="838200" y="820615"/>
            <a:ext cx="10515600" cy="5356348"/>
          </a:xfrm>
        </p:spPr>
        <p:txBody>
          <a:bodyPr>
            <a:normAutofit/>
          </a:bodyPr>
          <a:lstStyle/>
          <a:p>
            <a:r>
              <a:rPr lang="en-US" dirty="0">
                <a:solidFill>
                  <a:srgbClr val="000000"/>
                </a:solidFill>
                <a:effectLst/>
                <a:latin typeface="Segoe UI" panose="020B0502040204020203" pitchFamily="34" charset="0"/>
                <a:ea typeface="Calibri" panose="020F0502020204030204" pitchFamily="34" charset="0"/>
              </a:rPr>
              <a:t>Other subsystems of the HRIS include systems that develop and maintain job titles and job descriptions for all jobs in the firm, compensation and benefits information systems, and manpower planning systems. </a:t>
            </a:r>
          </a:p>
          <a:p>
            <a:r>
              <a:rPr lang="en-US" dirty="0">
                <a:solidFill>
                  <a:srgbClr val="000000"/>
                </a:solidFill>
                <a:effectLst/>
                <a:latin typeface="Segoe UI" panose="020B0502040204020203" pitchFamily="34" charset="0"/>
                <a:ea typeface="Calibri" panose="020F0502020204030204" pitchFamily="34" charset="0"/>
              </a:rPr>
              <a:t>A </a:t>
            </a:r>
            <a:r>
              <a:rPr lang="en-US" b="1" dirty="0">
                <a:solidFill>
                  <a:srgbClr val="000000"/>
                </a:solidFill>
                <a:effectLst/>
                <a:latin typeface="Segoe UI" panose="020B0502040204020203" pitchFamily="34" charset="0"/>
                <a:ea typeface="Calibri" panose="020F0502020204030204" pitchFamily="34" charset="0"/>
              </a:rPr>
              <a:t>HRIS</a:t>
            </a:r>
            <a:r>
              <a:rPr lang="en-US" dirty="0">
                <a:solidFill>
                  <a:srgbClr val="000000"/>
                </a:solidFill>
                <a:effectLst/>
                <a:latin typeface="Segoe UI" panose="020B0502040204020203" pitchFamily="34" charset="0"/>
                <a:ea typeface="Calibri" panose="020F0502020204030204" pitchFamily="34" charset="0"/>
              </a:rPr>
              <a:t> also facilitates communication processes and saves paper by providing an easily accessible, centralized location for company policies, announcements, and links to external URLs.</a:t>
            </a:r>
          </a:p>
          <a:p>
            <a:r>
              <a:rPr lang="en-US" dirty="0">
                <a:solidFill>
                  <a:srgbClr val="000000"/>
                </a:solidFill>
                <a:effectLst/>
                <a:latin typeface="Segoe UI" panose="020B0502040204020203" pitchFamily="34" charset="0"/>
                <a:ea typeface="Calibri" panose="020F0502020204030204" pitchFamily="34" charset="0"/>
              </a:rPr>
              <a:t> Employee activities such as time-off requests and changes can be automated, resulting in faster approvals and less paperwork.</a:t>
            </a:r>
            <a:br>
              <a:rPr lang="en-US" dirty="0">
                <a:effectLst/>
                <a:latin typeface="Segoe UI" panose="020B0502040204020203" pitchFamily="34" charset="0"/>
                <a:ea typeface="Calibri" panose="020F0502020204030204" pitchFamily="34" charset="0"/>
              </a:rPr>
            </a:br>
            <a:endParaRPr lang="en-GB" sz="4000" dirty="0"/>
          </a:p>
        </p:txBody>
      </p:sp>
    </p:spTree>
    <p:extLst>
      <p:ext uri="{BB962C8B-B14F-4D97-AF65-F5344CB8AC3E}">
        <p14:creationId xmlns:p14="http://schemas.microsoft.com/office/powerpoint/2010/main" val="8320748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2D46A-79F4-1B1E-4791-DE341B9C689A}"/>
              </a:ext>
            </a:extLst>
          </p:cNvPr>
          <p:cNvSpPr>
            <a:spLocks noGrp="1"/>
          </p:cNvSpPr>
          <p:nvPr>
            <p:ph type="title"/>
          </p:nvPr>
        </p:nvSpPr>
        <p:spPr>
          <a:xfrm>
            <a:off x="838200" y="130665"/>
            <a:ext cx="10515600" cy="936137"/>
          </a:xfrm>
        </p:spPr>
        <p:txBody>
          <a:bodyPr>
            <a:normAutofit/>
          </a:bodyPr>
          <a:lstStyle/>
          <a:p>
            <a:r>
              <a:rPr lang="en-US" sz="3600" b="1" dirty="0">
                <a:solidFill>
                  <a:srgbClr val="000000"/>
                </a:solidFill>
                <a:effectLst/>
                <a:latin typeface="Segoe UI" panose="020B0502040204020203" pitchFamily="34" charset="0"/>
                <a:ea typeface="Calibri" panose="020F0502020204030204" pitchFamily="34" charset="0"/>
              </a:rPr>
              <a:t>Quality Information System</a:t>
            </a:r>
            <a:endParaRPr lang="en-GB" sz="7200" dirty="0"/>
          </a:p>
        </p:txBody>
      </p:sp>
      <p:sp>
        <p:nvSpPr>
          <p:cNvPr id="3" name="Content Placeholder 2">
            <a:extLst>
              <a:ext uri="{FF2B5EF4-FFF2-40B4-BE49-F238E27FC236}">
                <a16:creationId xmlns:a16="http://schemas.microsoft.com/office/drawing/2014/main" id="{A4A6A2D5-1447-92EE-8EC5-FD109BC40389}"/>
              </a:ext>
            </a:extLst>
          </p:cNvPr>
          <p:cNvSpPr>
            <a:spLocks noGrp="1"/>
          </p:cNvSpPr>
          <p:nvPr>
            <p:ph idx="1"/>
          </p:nvPr>
        </p:nvSpPr>
        <p:spPr>
          <a:xfrm>
            <a:off x="838200" y="1160585"/>
            <a:ext cx="10515600" cy="5016378"/>
          </a:xfrm>
        </p:spPr>
        <p:txBody>
          <a:bodyPr>
            <a:normAutofit fontScale="92500"/>
          </a:bodyPr>
          <a:lstStyle/>
          <a:p>
            <a:r>
              <a:rPr lang="en-US" dirty="0">
                <a:solidFill>
                  <a:srgbClr val="000000"/>
                </a:solidFill>
                <a:effectLst/>
                <a:latin typeface="Segoe UI" panose="020B0502040204020203" pitchFamily="34" charset="0"/>
                <a:ea typeface="Calibri" panose="020F0502020204030204" pitchFamily="34" charset="0"/>
              </a:rPr>
              <a:t>Quality information systems are standalone systems or embedded systems that help an organization to achieve its quality goals. </a:t>
            </a:r>
          </a:p>
          <a:p>
            <a:r>
              <a:rPr lang="en-US" dirty="0">
                <a:solidFill>
                  <a:srgbClr val="000000"/>
                </a:solidFill>
                <a:effectLst/>
                <a:latin typeface="Segoe UI" panose="020B0502040204020203" pitchFamily="34" charset="0"/>
                <a:ea typeface="Calibri" panose="020F0502020204030204" pitchFamily="34" charset="0"/>
              </a:rPr>
              <a:t>A quality information system is the implementation of dedicated activities in the firm to obtain continuous improvement and enhance the organization efficiency. </a:t>
            </a:r>
          </a:p>
          <a:p>
            <a:r>
              <a:rPr lang="en-US" dirty="0">
                <a:solidFill>
                  <a:srgbClr val="000000"/>
                </a:solidFill>
                <a:effectLst/>
                <a:latin typeface="Segoe UI" panose="020B0502040204020203" pitchFamily="34" charset="0"/>
                <a:ea typeface="Calibri" panose="020F0502020204030204" pitchFamily="34" charset="0"/>
              </a:rPr>
              <a:t>The foremost effort of this system is to correctly and precisely define the procedure that will cause the creation of quality products and quality services. </a:t>
            </a:r>
          </a:p>
          <a:p>
            <a:r>
              <a:rPr lang="en-US" dirty="0">
                <a:solidFill>
                  <a:srgbClr val="000000"/>
                </a:solidFill>
                <a:effectLst/>
                <a:latin typeface="Segoe UI" panose="020B0502040204020203" pitchFamily="34" charset="0"/>
                <a:ea typeface="Calibri" panose="020F0502020204030204" pitchFamily="34" charset="0"/>
              </a:rPr>
              <a:t>There are many benefits to a quality information system, due to which the organizations are devoting more efforts to improve quality management. </a:t>
            </a:r>
          </a:p>
          <a:p>
            <a:r>
              <a:rPr lang="en-US" dirty="0">
                <a:solidFill>
                  <a:srgbClr val="000000"/>
                </a:solidFill>
                <a:effectLst/>
                <a:latin typeface="Segoe UI" panose="020B0502040204020203" pitchFamily="34" charset="0"/>
                <a:ea typeface="Calibri" panose="020F0502020204030204" pitchFamily="34" charset="0"/>
              </a:rPr>
              <a:t>Such benefits are described as follows.</a:t>
            </a:r>
            <a:endParaRPr lang="en-GB" sz="4000" dirty="0"/>
          </a:p>
        </p:txBody>
      </p:sp>
    </p:spTree>
    <p:extLst>
      <p:ext uri="{BB962C8B-B14F-4D97-AF65-F5344CB8AC3E}">
        <p14:creationId xmlns:p14="http://schemas.microsoft.com/office/powerpoint/2010/main" val="30922867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934FE2-98DC-ECE1-080B-6D3B6F11E03C}"/>
              </a:ext>
            </a:extLst>
          </p:cNvPr>
          <p:cNvSpPr>
            <a:spLocks noGrp="1"/>
          </p:cNvSpPr>
          <p:nvPr>
            <p:ph idx="1"/>
          </p:nvPr>
        </p:nvSpPr>
        <p:spPr>
          <a:xfrm>
            <a:off x="838200" y="621323"/>
            <a:ext cx="10515600" cy="5555640"/>
          </a:xfrm>
        </p:spPr>
        <p:txBody>
          <a:bodyPr>
            <a:normAutofit/>
          </a:bodyPr>
          <a:lstStyle/>
          <a:p>
            <a:r>
              <a:rPr lang="en-US" b="1" dirty="0">
                <a:solidFill>
                  <a:srgbClr val="000000"/>
                </a:solidFill>
                <a:effectLst/>
                <a:latin typeface="Segoe UI" panose="020B0502040204020203" pitchFamily="34" charset="0"/>
                <a:ea typeface="Calibri" panose="020F0502020204030204" pitchFamily="34" charset="0"/>
              </a:rPr>
              <a:t>Achievement of project scope</a:t>
            </a:r>
          </a:p>
          <a:p>
            <a:pPr lvl="1"/>
            <a:r>
              <a:rPr lang="en-US" dirty="0">
                <a:solidFill>
                  <a:srgbClr val="000000"/>
                </a:solidFill>
                <a:effectLst/>
                <a:latin typeface="Segoe UI" panose="020B0502040204020203" pitchFamily="34" charset="0"/>
                <a:ea typeface="Calibri" panose="020F0502020204030204" pitchFamily="34" charset="0"/>
              </a:rPr>
              <a:t>This system facilitates a business to attain the objectives that have been defined in the organization strategy. </a:t>
            </a:r>
          </a:p>
          <a:p>
            <a:pPr lvl="1"/>
            <a:r>
              <a:rPr lang="en-US" dirty="0">
                <a:solidFill>
                  <a:srgbClr val="000000"/>
                </a:solidFill>
                <a:effectLst/>
                <a:latin typeface="Segoe UI" panose="020B0502040204020203" pitchFamily="34" charset="0"/>
                <a:ea typeface="Calibri" panose="020F0502020204030204" pitchFamily="34" charset="0"/>
              </a:rPr>
              <a:t>It ensures the achievement of stability and reliability regarding the techniques, equipment, and resources being used in a project. </a:t>
            </a:r>
          </a:p>
          <a:p>
            <a:pPr lvl="1"/>
            <a:r>
              <a:rPr lang="en-US" dirty="0">
                <a:solidFill>
                  <a:srgbClr val="000000"/>
                </a:solidFill>
                <a:effectLst/>
                <a:latin typeface="Segoe UI" panose="020B0502040204020203" pitchFamily="34" charset="0"/>
                <a:ea typeface="Calibri" panose="020F0502020204030204" pitchFamily="34" charset="0"/>
              </a:rPr>
              <a:t>All project activities are integrated and aligned towards the achievement of quality products. </a:t>
            </a:r>
          </a:p>
          <a:p>
            <a:pPr lvl="1"/>
            <a:r>
              <a:rPr lang="en-US" dirty="0">
                <a:solidFill>
                  <a:srgbClr val="000000"/>
                </a:solidFill>
                <a:effectLst/>
                <a:latin typeface="Segoe UI" panose="020B0502040204020203" pitchFamily="34" charset="0"/>
                <a:ea typeface="Calibri" panose="020F0502020204030204" pitchFamily="34" charset="0"/>
              </a:rPr>
              <a:t>These efforts commence by identifying the customer's needs and expectations.</a:t>
            </a:r>
            <a:endParaRPr lang="en-GB" sz="3600" dirty="0"/>
          </a:p>
        </p:txBody>
      </p:sp>
    </p:spTree>
    <p:extLst>
      <p:ext uri="{BB962C8B-B14F-4D97-AF65-F5344CB8AC3E}">
        <p14:creationId xmlns:p14="http://schemas.microsoft.com/office/powerpoint/2010/main" val="33294478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18071E-702C-F877-16EB-FC5FD607DCC0}"/>
              </a:ext>
            </a:extLst>
          </p:cNvPr>
          <p:cNvSpPr>
            <a:spLocks noGrp="1"/>
          </p:cNvSpPr>
          <p:nvPr>
            <p:ph idx="1"/>
          </p:nvPr>
        </p:nvSpPr>
        <p:spPr>
          <a:xfrm>
            <a:off x="838200" y="691662"/>
            <a:ext cx="10515600" cy="5485301"/>
          </a:xfrm>
        </p:spPr>
        <p:txBody>
          <a:bodyPr>
            <a:normAutofit/>
          </a:bodyPr>
          <a:lstStyle/>
          <a:p>
            <a:r>
              <a:rPr lang="en-US" b="1" dirty="0">
                <a:solidFill>
                  <a:srgbClr val="000000"/>
                </a:solidFill>
                <a:effectLst/>
                <a:latin typeface="Segoe UI" panose="020B0502040204020203" pitchFamily="34" charset="0"/>
                <a:ea typeface="Calibri" panose="020F0502020204030204" pitchFamily="34" charset="0"/>
              </a:rPr>
              <a:t>Customer Satisfaction</a:t>
            </a:r>
          </a:p>
          <a:p>
            <a:pPr lvl="1"/>
            <a:r>
              <a:rPr lang="en-US" dirty="0">
                <a:solidFill>
                  <a:srgbClr val="000000"/>
                </a:solidFill>
                <a:effectLst/>
                <a:latin typeface="Segoe UI" panose="020B0502040204020203" pitchFamily="34" charset="0"/>
                <a:ea typeface="Calibri" panose="020F0502020204030204" pitchFamily="34" charset="0"/>
              </a:rPr>
              <a:t>A fully recognized and implemented quality information system will ensure that the customer is satisfied by meeting their requirements and will thus enhance the confidence of the customer. </a:t>
            </a:r>
          </a:p>
          <a:p>
            <a:pPr lvl="1"/>
            <a:r>
              <a:rPr lang="en-US" dirty="0">
                <a:solidFill>
                  <a:srgbClr val="000000"/>
                </a:solidFill>
                <a:effectLst/>
                <a:latin typeface="Segoe UI" panose="020B0502040204020203" pitchFamily="34" charset="0"/>
                <a:ea typeface="Calibri" panose="020F0502020204030204" pitchFamily="34" charset="0"/>
              </a:rPr>
              <a:t>Attaining customer satisfaction is a great achievement for the organization that will assist in capturing the market or increasing the market share.</a:t>
            </a:r>
          </a:p>
          <a:p>
            <a:pPr lvl="1"/>
            <a:endParaRPr lang="en-US" dirty="0">
              <a:solidFill>
                <a:srgbClr val="000000"/>
              </a:solidFill>
              <a:effectLst/>
              <a:latin typeface="Segoe UI" panose="020B0502040204020203" pitchFamily="34" charset="0"/>
              <a:ea typeface="Calibri" panose="020F0502020204030204" pitchFamily="34" charset="0"/>
            </a:endParaRPr>
          </a:p>
          <a:p>
            <a:r>
              <a:rPr lang="en-US" b="1" dirty="0">
                <a:solidFill>
                  <a:srgbClr val="000000"/>
                </a:solidFill>
                <a:effectLst/>
                <a:latin typeface="Segoe UI" panose="020B0502040204020203" pitchFamily="34" charset="0"/>
                <a:ea typeface="Calibri" panose="020F0502020204030204" pitchFamily="34" charset="0"/>
              </a:rPr>
              <a:t>Consistent Products</a:t>
            </a:r>
          </a:p>
          <a:p>
            <a:pPr lvl="1"/>
            <a:r>
              <a:rPr lang="en-US" dirty="0">
                <a:solidFill>
                  <a:srgbClr val="000000"/>
                </a:solidFill>
                <a:effectLst/>
                <a:latin typeface="Segoe UI" panose="020B0502040204020203" pitchFamily="34" charset="0"/>
                <a:ea typeface="Calibri" panose="020F0502020204030204" pitchFamily="34" charset="0"/>
              </a:rPr>
              <a:t>Implementing a quality information system can assist attaining more consistency in the project activities and enhance the effectiveness by improvement in the resources and time usage.</a:t>
            </a:r>
            <a:endParaRPr lang="en-GB" sz="3600" dirty="0"/>
          </a:p>
        </p:txBody>
      </p:sp>
    </p:spTree>
    <p:extLst>
      <p:ext uri="{BB962C8B-B14F-4D97-AF65-F5344CB8AC3E}">
        <p14:creationId xmlns:p14="http://schemas.microsoft.com/office/powerpoint/2010/main" val="41793161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3211F-5CC5-962C-F62B-6FE0B265E046}"/>
              </a:ext>
            </a:extLst>
          </p:cNvPr>
          <p:cNvSpPr>
            <a:spLocks noGrp="1"/>
          </p:cNvSpPr>
          <p:nvPr>
            <p:ph type="title"/>
          </p:nvPr>
        </p:nvSpPr>
        <p:spPr/>
        <p:txBody>
          <a:bodyPr>
            <a:normAutofit/>
          </a:bodyPr>
          <a:lstStyle/>
          <a:p>
            <a:r>
              <a:rPr lang="en-US" sz="2800" b="1" dirty="0">
                <a:solidFill>
                  <a:srgbClr val="000000"/>
                </a:solidFill>
                <a:effectLst/>
                <a:latin typeface="Segoe UI" panose="020B0502040204020203" pitchFamily="34" charset="0"/>
                <a:ea typeface="Calibri" panose="020F0502020204030204" pitchFamily="34" charset="0"/>
              </a:rPr>
              <a:t>Implementation of best Practices &amp; Process </a:t>
            </a:r>
            <a:r>
              <a:rPr lang="en-US" sz="2800" b="1" dirty="0">
                <a:solidFill>
                  <a:srgbClr val="000000"/>
                </a:solidFill>
                <a:latin typeface="Segoe UI" panose="020B0502040204020203" pitchFamily="34" charset="0"/>
                <a:ea typeface="Calibri" panose="020F0502020204030204" pitchFamily="34" charset="0"/>
              </a:rPr>
              <a:t>I</a:t>
            </a:r>
            <a:r>
              <a:rPr lang="en-US" sz="2800" b="1" dirty="0">
                <a:solidFill>
                  <a:srgbClr val="000000"/>
                </a:solidFill>
                <a:effectLst/>
                <a:latin typeface="Segoe UI" panose="020B0502040204020203" pitchFamily="34" charset="0"/>
                <a:ea typeface="Calibri" panose="020F0502020204030204" pitchFamily="34" charset="0"/>
              </a:rPr>
              <a:t>mprovement</a:t>
            </a:r>
            <a:endParaRPr lang="en-GB" sz="6000" dirty="0"/>
          </a:p>
        </p:txBody>
      </p:sp>
      <p:sp>
        <p:nvSpPr>
          <p:cNvPr id="3" name="Content Placeholder 2">
            <a:extLst>
              <a:ext uri="{FF2B5EF4-FFF2-40B4-BE49-F238E27FC236}">
                <a16:creationId xmlns:a16="http://schemas.microsoft.com/office/drawing/2014/main" id="{9D9D6C5F-E173-1CBF-B8A3-1370064C7360}"/>
              </a:ext>
            </a:extLst>
          </p:cNvPr>
          <p:cNvSpPr>
            <a:spLocks noGrp="1"/>
          </p:cNvSpPr>
          <p:nvPr>
            <p:ph idx="1"/>
          </p:nvPr>
        </p:nvSpPr>
        <p:spPr/>
        <p:txBody>
          <a:bodyPr>
            <a:normAutofit/>
          </a:bodyPr>
          <a:lstStyle/>
          <a:p>
            <a:r>
              <a:rPr lang="en-US" dirty="0">
                <a:solidFill>
                  <a:srgbClr val="000000"/>
                </a:solidFill>
                <a:effectLst/>
                <a:latin typeface="Segoe UI" panose="020B0502040204020203" pitchFamily="34" charset="0"/>
                <a:ea typeface="Calibri" panose="020F0502020204030204" pitchFamily="34" charset="0"/>
              </a:rPr>
              <a:t>The discipline of quality includes the efforts directed towards the improvement of processes, being used to maintain consistency, reduce expenditures, and ensure production</a:t>
            </a:r>
            <a:br>
              <a:rPr lang="en-US" dirty="0">
                <a:effectLst/>
                <a:latin typeface="Segoe UI" panose="020B0502040204020203" pitchFamily="34" charset="0"/>
                <a:ea typeface="Calibri" panose="020F0502020204030204" pitchFamily="34" charset="0"/>
              </a:rPr>
            </a:br>
            <a:r>
              <a:rPr lang="en-US" dirty="0">
                <a:solidFill>
                  <a:srgbClr val="000000"/>
                </a:solidFill>
                <a:effectLst/>
                <a:latin typeface="Segoe UI" panose="020B0502040204020203" pitchFamily="34" charset="0"/>
                <a:ea typeface="Calibri" panose="020F0502020204030204" pitchFamily="34" charset="0"/>
              </a:rPr>
              <a:t>within the schedule baseline. </a:t>
            </a:r>
          </a:p>
          <a:p>
            <a:r>
              <a:rPr lang="en-US" dirty="0">
                <a:solidFill>
                  <a:srgbClr val="000000"/>
                </a:solidFill>
                <a:effectLst/>
                <a:latin typeface="Segoe UI" panose="020B0502040204020203" pitchFamily="34" charset="0"/>
                <a:ea typeface="Calibri" panose="020F0502020204030204" pitchFamily="34" charset="0"/>
              </a:rPr>
              <a:t>The systems, products, and processes are continually improved by the implementation of best practices and the use of proper quality control techniques.</a:t>
            </a:r>
            <a:endParaRPr lang="en-GB" sz="4000" dirty="0"/>
          </a:p>
        </p:txBody>
      </p:sp>
    </p:spTree>
    <p:extLst>
      <p:ext uri="{BB962C8B-B14F-4D97-AF65-F5344CB8AC3E}">
        <p14:creationId xmlns:p14="http://schemas.microsoft.com/office/powerpoint/2010/main" val="129356996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89E0EA-3057-FDB8-0C0E-358519DDE057}"/>
              </a:ext>
            </a:extLst>
          </p:cNvPr>
          <p:cNvSpPr>
            <a:spLocks noGrp="1"/>
          </p:cNvSpPr>
          <p:nvPr>
            <p:ph idx="1"/>
          </p:nvPr>
        </p:nvSpPr>
        <p:spPr>
          <a:xfrm>
            <a:off x="838200" y="785446"/>
            <a:ext cx="10515600" cy="5391517"/>
          </a:xfrm>
        </p:spPr>
        <p:txBody>
          <a:bodyPr>
            <a:normAutofit/>
          </a:bodyPr>
          <a:lstStyle/>
          <a:p>
            <a:r>
              <a:rPr lang="en-US" b="1" dirty="0">
                <a:solidFill>
                  <a:srgbClr val="000000"/>
                </a:solidFill>
                <a:effectLst/>
                <a:latin typeface="Segoe UI" panose="020B0502040204020203" pitchFamily="34" charset="0"/>
                <a:ea typeface="Calibri" panose="020F0502020204030204" pitchFamily="34" charset="0"/>
              </a:rPr>
              <a:t>Increase in Production</a:t>
            </a:r>
          </a:p>
          <a:p>
            <a:pPr lvl="1"/>
            <a:r>
              <a:rPr lang="en-US" dirty="0">
                <a:solidFill>
                  <a:srgbClr val="000000"/>
                </a:solidFill>
                <a:effectLst/>
                <a:latin typeface="Segoe UI" panose="020B0502040204020203" pitchFamily="34" charset="0"/>
                <a:ea typeface="Calibri" panose="020F0502020204030204" pitchFamily="34" charset="0"/>
              </a:rPr>
              <a:t>Improved production is achieved due to proper evaluation techniques being applied, and better training of the employees. </a:t>
            </a:r>
          </a:p>
          <a:p>
            <a:pPr lvl="1"/>
            <a:r>
              <a:rPr lang="en-US" dirty="0">
                <a:solidFill>
                  <a:srgbClr val="000000"/>
                </a:solidFill>
                <a:effectLst/>
                <a:latin typeface="Segoe UI" panose="020B0502040204020203" pitchFamily="34" charset="0"/>
                <a:ea typeface="Calibri" panose="020F0502020204030204" pitchFamily="34" charset="0"/>
              </a:rPr>
              <a:t>A strict process control is directed towards performance</a:t>
            </a:r>
            <a:br>
              <a:rPr lang="en-US" dirty="0">
                <a:effectLst/>
                <a:latin typeface="Segoe UI" panose="020B0502040204020203" pitchFamily="34" charset="0"/>
                <a:ea typeface="Calibri" panose="020F0502020204030204" pitchFamily="34" charset="0"/>
              </a:rPr>
            </a:br>
            <a:r>
              <a:rPr lang="en-US" dirty="0">
                <a:solidFill>
                  <a:srgbClr val="000000"/>
                </a:solidFill>
                <a:effectLst/>
                <a:latin typeface="Segoe UI" panose="020B0502040204020203" pitchFamily="34" charset="0"/>
                <a:ea typeface="Calibri" panose="020F0502020204030204" pitchFamily="34" charset="0"/>
              </a:rPr>
              <a:t>consistency, and less scrap. </a:t>
            </a:r>
          </a:p>
          <a:p>
            <a:pPr lvl="1"/>
            <a:r>
              <a:rPr lang="en-US" dirty="0">
                <a:solidFill>
                  <a:srgbClr val="000000"/>
                </a:solidFill>
                <a:effectLst/>
                <a:latin typeface="Segoe UI" panose="020B0502040204020203" pitchFamily="34" charset="0"/>
                <a:ea typeface="Calibri" panose="020F0502020204030204" pitchFamily="34" charset="0"/>
              </a:rPr>
              <a:t>Supervisors experience fewer late-night problematic phone calls</a:t>
            </a:r>
            <a:br>
              <a:rPr lang="en-US" dirty="0">
                <a:effectLst/>
                <a:latin typeface="Segoe UI" panose="020B0502040204020203" pitchFamily="34" charset="0"/>
                <a:ea typeface="Calibri" panose="020F0502020204030204" pitchFamily="34" charset="0"/>
              </a:rPr>
            </a:br>
            <a:r>
              <a:rPr lang="en-US" dirty="0">
                <a:solidFill>
                  <a:srgbClr val="000000"/>
                </a:solidFill>
                <a:effectLst/>
                <a:latin typeface="Segoe UI" panose="020B0502040204020203" pitchFamily="34" charset="0"/>
                <a:ea typeface="Calibri" panose="020F0502020204030204" pitchFamily="34" charset="0"/>
              </a:rPr>
              <a:t>since the employees are trained in troubleshooting.</a:t>
            </a:r>
            <a:endParaRPr lang="en-GB" sz="3600" dirty="0"/>
          </a:p>
        </p:txBody>
      </p:sp>
    </p:spTree>
    <p:extLst>
      <p:ext uri="{BB962C8B-B14F-4D97-AF65-F5344CB8AC3E}">
        <p14:creationId xmlns:p14="http://schemas.microsoft.com/office/powerpoint/2010/main" val="271197107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C775B-448F-E9EA-2471-3CC69D7052D2}"/>
            </a:ext>
          </a:extLst>
        </p:cNvPr>
        <p:cNvGrpSpPr/>
        <p:nvPr/>
      </p:nvGrpSpPr>
      <p:grpSpPr>
        <a:xfrm>
          <a:off x="0" y="0"/>
          <a:ext cx="0" cy="0"/>
          <a:chOff x="0" y="0"/>
          <a:chExt cx="0" cy="0"/>
        </a:xfrm>
      </p:grpSpPr>
      <p:grpSp>
        <p:nvGrpSpPr>
          <p:cNvPr id="40" name="Group 39">
            <a:extLst>
              <a:ext uri="{FF2B5EF4-FFF2-40B4-BE49-F238E27FC236}">
                <a16:creationId xmlns:a16="http://schemas.microsoft.com/office/drawing/2014/main" id="{2435DB60-D7E7-0E63-3DF1-1EAD823AE34F}"/>
              </a:ext>
            </a:extLst>
          </p:cNvPr>
          <p:cNvGrpSpPr/>
          <p:nvPr/>
        </p:nvGrpSpPr>
        <p:grpSpPr>
          <a:xfrm>
            <a:off x="1958011" y="644769"/>
            <a:ext cx="8528419" cy="4866143"/>
            <a:chOff x="2743135" y="644769"/>
            <a:chExt cx="8528419" cy="4866143"/>
          </a:xfrm>
        </p:grpSpPr>
        <p:sp>
          <p:nvSpPr>
            <p:cNvPr id="4" name="Rectangle 3">
              <a:extLst>
                <a:ext uri="{FF2B5EF4-FFF2-40B4-BE49-F238E27FC236}">
                  <a16:creationId xmlns:a16="http://schemas.microsoft.com/office/drawing/2014/main" id="{152E911E-86EC-D93F-7E0E-D554C4AEB481}"/>
                </a:ext>
              </a:extLst>
            </p:cNvPr>
            <p:cNvSpPr/>
            <p:nvPr/>
          </p:nvSpPr>
          <p:spPr>
            <a:xfrm>
              <a:off x="8868328" y="2753857"/>
              <a:ext cx="2403226" cy="275705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285750" indent="-285750">
                <a:buFont typeface="Wingdings" panose="05000000000000000000" pitchFamily="2" charset="2"/>
                <a:buChar char="§"/>
              </a:pPr>
              <a:r>
                <a:rPr lang="en-US" dirty="0"/>
                <a:t>Responsiveness</a:t>
              </a:r>
            </a:p>
            <a:p>
              <a:pPr marL="285750" indent="-285750">
                <a:buFont typeface="Wingdings" panose="05000000000000000000" pitchFamily="2" charset="2"/>
                <a:buChar char="§"/>
              </a:pPr>
              <a:r>
                <a:rPr lang="en-US" dirty="0"/>
                <a:t>Flexibility</a:t>
              </a:r>
            </a:p>
            <a:p>
              <a:pPr marL="285750" indent="-285750">
                <a:buFont typeface="Wingdings" panose="05000000000000000000" pitchFamily="2" charset="2"/>
                <a:buChar char="§"/>
              </a:pPr>
              <a:r>
                <a:rPr lang="en-US" dirty="0"/>
                <a:t>Improved Customer Service</a:t>
              </a:r>
            </a:p>
            <a:p>
              <a:pPr marL="285750" indent="-285750">
                <a:buFont typeface="Wingdings" panose="05000000000000000000" pitchFamily="2" charset="2"/>
                <a:buChar char="§"/>
              </a:pPr>
              <a:r>
                <a:rPr lang="en-US" dirty="0"/>
                <a:t>Quality Products</a:t>
              </a:r>
            </a:p>
            <a:p>
              <a:pPr marL="285750" indent="-285750">
                <a:buFont typeface="Wingdings" panose="05000000000000000000" pitchFamily="2" charset="2"/>
                <a:buChar char="§"/>
              </a:pPr>
              <a:r>
                <a:rPr lang="en-US" dirty="0"/>
                <a:t>Global Competitiveness </a:t>
              </a:r>
            </a:p>
            <a:p>
              <a:pPr marL="285750" indent="-285750">
                <a:buFont typeface="Wingdings" panose="05000000000000000000" pitchFamily="2" charset="2"/>
                <a:buChar char="§"/>
              </a:pPr>
              <a:r>
                <a:rPr lang="en-US" dirty="0"/>
                <a:t>Compliance System</a:t>
              </a:r>
            </a:p>
            <a:p>
              <a:pPr marL="285750" indent="-285750">
                <a:buFont typeface="Wingdings" panose="05000000000000000000" pitchFamily="2" charset="2"/>
                <a:buChar char="§"/>
              </a:pPr>
              <a:r>
                <a:rPr lang="en-US" dirty="0"/>
                <a:t>Manpower Planning</a:t>
              </a:r>
            </a:p>
          </p:txBody>
        </p:sp>
        <p:sp>
          <p:nvSpPr>
            <p:cNvPr id="5" name="Rectangle 4">
              <a:extLst>
                <a:ext uri="{FF2B5EF4-FFF2-40B4-BE49-F238E27FC236}">
                  <a16:creationId xmlns:a16="http://schemas.microsoft.com/office/drawing/2014/main" id="{FEB39EB8-7A03-D640-9FF6-FBC9A6B7308B}"/>
                </a:ext>
              </a:extLst>
            </p:cNvPr>
            <p:cNvSpPr/>
            <p:nvPr/>
          </p:nvSpPr>
          <p:spPr>
            <a:xfrm>
              <a:off x="3481749" y="644769"/>
              <a:ext cx="2403231" cy="44547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Strategic Business Plan</a:t>
              </a:r>
            </a:p>
          </p:txBody>
        </p:sp>
        <p:sp>
          <p:nvSpPr>
            <p:cNvPr id="6" name="Rectangle 5">
              <a:extLst>
                <a:ext uri="{FF2B5EF4-FFF2-40B4-BE49-F238E27FC236}">
                  <a16:creationId xmlns:a16="http://schemas.microsoft.com/office/drawing/2014/main" id="{CEE1451C-B66D-8BA7-A2EC-BA371E5044AB}"/>
                </a:ext>
              </a:extLst>
            </p:cNvPr>
            <p:cNvSpPr/>
            <p:nvPr/>
          </p:nvSpPr>
          <p:spPr>
            <a:xfrm>
              <a:off x="3481749" y="1330569"/>
              <a:ext cx="2403231" cy="5920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Strategic Quality Plan</a:t>
              </a:r>
            </a:p>
          </p:txBody>
        </p:sp>
        <p:sp>
          <p:nvSpPr>
            <p:cNvPr id="9" name="Rectangle 8">
              <a:extLst>
                <a:ext uri="{FF2B5EF4-FFF2-40B4-BE49-F238E27FC236}">
                  <a16:creationId xmlns:a16="http://schemas.microsoft.com/office/drawing/2014/main" id="{388F919A-F1AD-A86E-A9B0-F6318788855A}"/>
                </a:ext>
              </a:extLst>
            </p:cNvPr>
            <p:cNvSpPr/>
            <p:nvPr/>
          </p:nvSpPr>
          <p:spPr>
            <a:xfrm>
              <a:off x="3481749" y="2162908"/>
              <a:ext cx="2403231" cy="5920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Strategic Information Plan</a:t>
              </a:r>
            </a:p>
          </p:txBody>
        </p:sp>
        <p:sp>
          <p:nvSpPr>
            <p:cNvPr id="10" name="Rectangle 9">
              <a:extLst>
                <a:ext uri="{FF2B5EF4-FFF2-40B4-BE49-F238E27FC236}">
                  <a16:creationId xmlns:a16="http://schemas.microsoft.com/office/drawing/2014/main" id="{29BD00DC-583F-2356-8DBD-BF4D09AA857A}"/>
                </a:ext>
              </a:extLst>
            </p:cNvPr>
            <p:cNvSpPr/>
            <p:nvPr/>
          </p:nvSpPr>
          <p:spPr>
            <a:xfrm>
              <a:off x="3481748" y="2995248"/>
              <a:ext cx="2403231" cy="5920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Quality Information System</a:t>
              </a:r>
            </a:p>
          </p:txBody>
        </p:sp>
        <p:cxnSp>
          <p:nvCxnSpPr>
            <p:cNvPr id="14" name="Connector: Elbow 13">
              <a:extLst>
                <a:ext uri="{FF2B5EF4-FFF2-40B4-BE49-F238E27FC236}">
                  <a16:creationId xmlns:a16="http://schemas.microsoft.com/office/drawing/2014/main" id="{1A953BA8-7DE6-4FFA-03DD-BA130CC49E3C}"/>
                </a:ext>
              </a:extLst>
            </p:cNvPr>
            <p:cNvCxnSpPr>
              <a:cxnSpLocks/>
              <a:stCxn id="5" idx="1"/>
              <a:endCxn id="10" idx="1"/>
            </p:cNvCxnSpPr>
            <p:nvPr/>
          </p:nvCxnSpPr>
          <p:spPr>
            <a:xfrm rot="10800000" flipV="1">
              <a:off x="3481749" y="867508"/>
              <a:ext cx="1" cy="2423748"/>
            </a:xfrm>
            <a:prstGeom prst="bentConnector3">
              <a:avLst>
                <a:gd name="adj1" fmla="val 22860100000"/>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AD7AF87E-30E1-AC02-1B67-C6B284C7AD4F}"/>
                </a:ext>
              </a:extLst>
            </p:cNvPr>
            <p:cNvCxnSpPr>
              <a:stCxn id="5" idx="2"/>
              <a:endCxn id="6" idx="0"/>
            </p:cNvCxnSpPr>
            <p:nvPr/>
          </p:nvCxnSpPr>
          <p:spPr>
            <a:xfrm>
              <a:off x="4683365" y="1090246"/>
              <a:ext cx="0" cy="24032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09CE3F3F-F052-98C8-B442-26B36745E47D}"/>
                </a:ext>
              </a:extLst>
            </p:cNvPr>
            <p:cNvCxnSpPr>
              <a:stCxn id="6" idx="2"/>
              <a:endCxn id="9" idx="0"/>
            </p:cNvCxnSpPr>
            <p:nvPr/>
          </p:nvCxnSpPr>
          <p:spPr>
            <a:xfrm>
              <a:off x="4683365" y="1922585"/>
              <a:ext cx="0" cy="24032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8EB522F1-434F-B160-2A40-E418D87CAEE3}"/>
                </a:ext>
              </a:extLst>
            </p:cNvPr>
            <p:cNvCxnSpPr>
              <a:stCxn id="9" idx="2"/>
              <a:endCxn id="10" idx="0"/>
            </p:cNvCxnSpPr>
            <p:nvPr/>
          </p:nvCxnSpPr>
          <p:spPr>
            <a:xfrm flipH="1">
              <a:off x="4683364" y="2754924"/>
              <a:ext cx="1" cy="2403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Connector: Elbow 29">
              <a:extLst>
                <a:ext uri="{FF2B5EF4-FFF2-40B4-BE49-F238E27FC236}">
                  <a16:creationId xmlns:a16="http://schemas.microsoft.com/office/drawing/2014/main" id="{E0C9DB34-D2C8-CB30-8F91-F2B89129E359}"/>
                </a:ext>
              </a:extLst>
            </p:cNvPr>
            <p:cNvCxnSpPr>
              <a:cxnSpLocks/>
              <a:stCxn id="10" idx="3"/>
            </p:cNvCxnSpPr>
            <p:nvPr/>
          </p:nvCxnSpPr>
          <p:spPr>
            <a:xfrm>
              <a:off x="5884979" y="3291256"/>
              <a:ext cx="2983348" cy="536331"/>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
          <p:nvSpPr>
            <p:cNvPr id="32" name="Rectangle 31">
              <a:extLst>
                <a:ext uri="{FF2B5EF4-FFF2-40B4-BE49-F238E27FC236}">
                  <a16:creationId xmlns:a16="http://schemas.microsoft.com/office/drawing/2014/main" id="{9BCD2320-4CB8-D479-3B02-6AF52BDB14E0}"/>
                </a:ext>
              </a:extLst>
            </p:cNvPr>
            <p:cNvSpPr/>
            <p:nvPr/>
          </p:nvSpPr>
          <p:spPr>
            <a:xfrm>
              <a:off x="3481748" y="4440116"/>
              <a:ext cx="2403231" cy="44547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External</a:t>
              </a:r>
            </a:p>
          </p:txBody>
        </p:sp>
        <p:sp>
          <p:nvSpPr>
            <p:cNvPr id="33" name="Rectangle 32">
              <a:extLst>
                <a:ext uri="{FF2B5EF4-FFF2-40B4-BE49-F238E27FC236}">
                  <a16:creationId xmlns:a16="http://schemas.microsoft.com/office/drawing/2014/main" id="{422EF889-342F-5750-DE99-20B0ED1C9D7A}"/>
                </a:ext>
              </a:extLst>
            </p:cNvPr>
            <p:cNvSpPr/>
            <p:nvPr/>
          </p:nvSpPr>
          <p:spPr>
            <a:xfrm>
              <a:off x="3481748" y="4885593"/>
              <a:ext cx="2403231" cy="44547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Internal</a:t>
              </a:r>
            </a:p>
          </p:txBody>
        </p:sp>
        <p:sp>
          <p:nvSpPr>
            <p:cNvPr id="34" name="TextBox 33">
              <a:extLst>
                <a:ext uri="{FF2B5EF4-FFF2-40B4-BE49-F238E27FC236}">
                  <a16:creationId xmlns:a16="http://schemas.microsoft.com/office/drawing/2014/main" id="{AB270E6F-8DB2-B6C9-5EB1-F7D0389EE881}"/>
                </a:ext>
              </a:extLst>
            </p:cNvPr>
            <p:cNvSpPr txBox="1"/>
            <p:nvPr/>
          </p:nvSpPr>
          <p:spPr>
            <a:xfrm>
              <a:off x="3669323" y="4026877"/>
              <a:ext cx="1957754" cy="369332"/>
            </a:xfrm>
            <a:prstGeom prst="rect">
              <a:avLst/>
            </a:prstGeom>
            <a:noFill/>
          </p:spPr>
          <p:txBody>
            <a:bodyPr wrap="square" rtlCol="0">
              <a:spAutoFit/>
            </a:bodyPr>
            <a:lstStyle/>
            <a:p>
              <a:pPr algn="ctr"/>
              <a:r>
                <a:rPr lang="en-GB" b="1" dirty="0"/>
                <a:t>Databases</a:t>
              </a:r>
            </a:p>
          </p:txBody>
        </p:sp>
        <p:sp>
          <p:nvSpPr>
            <p:cNvPr id="35" name="TextBox 34">
              <a:extLst>
                <a:ext uri="{FF2B5EF4-FFF2-40B4-BE49-F238E27FC236}">
                  <a16:creationId xmlns:a16="http://schemas.microsoft.com/office/drawing/2014/main" id="{238F6C0D-94EE-78E8-C5E4-BCB9A2E108D5}"/>
                </a:ext>
              </a:extLst>
            </p:cNvPr>
            <p:cNvSpPr txBox="1"/>
            <p:nvPr/>
          </p:nvSpPr>
          <p:spPr>
            <a:xfrm rot="5400000">
              <a:off x="1948924" y="2004618"/>
              <a:ext cx="1957754" cy="369332"/>
            </a:xfrm>
            <a:prstGeom prst="rect">
              <a:avLst/>
            </a:prstGeom>
            <a:noFill/>
          </p:spPr>
          <p:txBody>
            <a:bodyPr wrap="square" rtlCol="0">
              <a:spAutoFit/>
            </a:bodyPr>
            <a:lstStyle/>
            <a:p>
              <a:pPr algn="ctr"/>
              <a:r>
                <a:rPr lang="en-GB" b="1" dirty="0"/>
                <a:t>Feedback</a:t>
              </a:r>
            </a:p>
          </p:txBody>
        </p:sp>
        <p:cxnSp>
          <p:nvCxnSpPr>
            <p:cNvPr id="37" name="Straight Arrow Connector 36">
              <a:extLst>
                <a:ext uri="{FF2B5EF4-FFF2-40B4-BE49-F238E27FC236}">
                  <a16:creationId xmlns:a16="http://schemas.microsoft.com/office/drawing/2014/main" id="{84BC479A-7095-A61F-6994-14B18FF30506}"/>
                </a:ext>
              </a:extLst>
            </p:cNvPr>
            <p:cNvCxnSpPr>
              <a:stCxn id="32" idx="3"/>
            </p:cNvCxnSpPr>
            <p:nvPr/>
          </p:nvCxnSpPr>
          <p:spPr>
            <a:xfrm flipV="1">
              <a:off x="5884979" y="4659927"/>
              <a:ext cx="2983348" cy="2928"/>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91D0D310-9690-5442-8F70-93AB5A8D96E0}"/>
                </a:ext>
              </a:extLst>
            </p:cNvPr>
            <p:cNvCxnSpPr>
              <a:stCxn id="33" idx="3"/>
            </p:cNvCxnSpPr>
            <p:nvPr/>
          </p:nvCxnSpPr>
          <p:spPr>
            <a:xfrm flipV="1">
              <a:off x="5884979" y="5106867"/>
              <a:ext cx="2983348" cy="1465"/>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grpSp>
      <p:sp>
        <p:nvSpPr>
          <p:cNvPr id="41" name="TextBox 40">
            <a:extLst>
              <a:ext uri="{FF2B5EF4-FFF2-40B4-BE49-F238E27FC236}">
                <a16:creationId xmlns:a16="http://schemas.microsoft.com/office/drawing/2014/main" id="{D6F25939-FB32-4269-2823-09BCFDAC4F86}"/>
              </a:ext>
            </a:extLst>
          </p:cNvPr>
          <p:cNvSpPr txBox="1"/>
          <p:nvPr/>
        </p:nvSpPr>
        <p:spPr>
          <a:xfrm>
            <a:off x="2349145" y="5804225"/>
            <a:ext cx="7493710" cy="461665"/>
          </a:xfrm>
          <a:prstGeom prst="rect">
            <a:avLst/>
          </a:prstGeom>
          <a:noFill/>
        </p:spPr>
        <p:txBody>
          <a:bodyPr wrap="square">
            <a:spAutoFit/>
          </a:bodyPr>
          <a:lstStyle/>
          <a:p>
            <a:pPr algn="ctr"/>
            <a:r>
              <a:rPr lang="en-US" sz="2400" b="1" dirty="0">
                <a:effectLst/>
                <a:latin typeface="Segoe UI" panose="020B0502040204020203" pitchFamily="34" charset="0"/>
                <a:ea typeface="Calibri" panose="020F0502020204030204" pitchFamily="34" charset="0"/>
              </a:rPr>
              <a:t>Figure 6.17: Quality Control Information System</a:t>
            </a:r>
            <a:endParaRPr lang="en-US" sz="2400" b="1" dirty="0"/>
          </a:p>
        </p:txBody>
      </p:sp>
    </p:spTree>
    <p:extLst>
      <p:ext uri="{BB962C8B-B14F-4D97-AF65-F5344CB8AC3E}">
        <p14:creationId xmlns:p14="http://schemas.microsoft.com/office/powerpoint/2010/main" val="361199183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10363"/>
            <a:ext cx="10515600" cy="5666600"/>
          </a:xfrm>
        </p:spPr>
        <p:txBody>
          <a:bodyPr>
            <a:normAutofit/>
          </a:bodyPr>
          <a:lstStyle/>
          <a:p>
            <a:r>
              <a:rPr lang="en-US" b="1" dirty="0"/>
              <a:t>Less Rework</a:t>
            </a:r>
          </a:p>
          <a:p>
            <a:pPr lvl="1"/>
            <a:r>
              <a:rPr lang="en-US" dirty="0"/>
              <a:t>Quality is measured continuously due to the appropriate procedures that ensure immediate corrective actions on occurrence of defects. </a:t>
            </a:r>
          </a:p>
          <a:p>
            <a:pPr lvl="1"/>
            <a:r>
              <a:rPr lang="en-US" dirty="0"/>
              <a:t>Since efforts are directed towards quality products, rework due to warranty claims is minimized. </a:t>
            </a:r>
          </a:p>
          <a:p>
            <a:pPr lvl="1"/>
            <a:r>
              <a:rPr lang="en-US" dirty="0"/>
              <a:t>This reduction increases customer confidence and increases business.</a:t>
            </a:r>
          </a:p>
          <a:p>
            <a:pPr lvl="1"/>
            <a:endParaRPr lang="en-US" dirty="0"/>
          </a:p>
          <a:p>
            <a:r>
              <a:rPr lang="en-US" b="1" dirty="0"/>
              <a:t>Increase in market share</a:t>
            </a:r>
          </a:p>
          <a:p>
            <a:pPr lvl="1"/>
            <a:r>
              <a:rPr lang="en-US" dirty="0"/>
              <a:t>Quality information system benefits include proper management of project risks and costs, and identification of development prospects. </a:t>
            </a:r>
          </a:p>
          <a:p>
            <a:pPr lvl="1"/>
            <a:r>
              <a:rPr lang="en-US" dirty="0"/>
              <a:t>This results in an increase in market share and reputation, and capability to react to industry opportunities.</a:t>
            </a:r>
            <a:br>
              <a:rPr lang="en-US" dirty="0"/>
            </a:br>
            <a:endParaRPr lang="en-US" dirty="0"/>
          </a:p>
        </p:txBody>
      </p:sp>
    </p:spTree>
    <p:extLst>
      <p:ext uri="{BB962C8B-B14F-4D97-AF65-F5344CB8AC3E}">
        <p14:creationId xmlns:p14="http://schemas.microsoft.com/office/powerpoint/2010/main" val="19607234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Improvement in Internal Communications</a:t>
            </a:r>
            <a:endParaRPr lang="en-US" dirty="0"/>
          </a:p>
        </p:txBody>
      </p:sp>
      <p:sp>
        <p:nvSpPr>
          <p:cNvPr id="3" name="Content Placeholder 2"/>
          <p:cNvSpPr>
            <a:spLocks noGrp="1"/>
          </p:cNvSpPr>
          <p:nvPr>
            <p:ph idx="1"/>
          </p:nvPr>
        </p:nvSpPr>
        <p:spPr/>
        <p:txBody>
          <a:bodyPr/>
          <a:lstStyle/>
          <a:p>
            <a:r>
              <a:rPr lang="en-US" dirty="0"/>
              <a:t>The quality management system emphasizes the issues related to operations management. </a:t>
            </a:r>
          </a:p>
          <a:p>
            <a:r>
              <a:rPr lang="en-US" dirty="0"/>
              <a:t>This encourages frequent interaction between project departments or groups and promotes agreement. </a:t>
            </a:r>
          </a:p>
          <a:p>
            <a:r>
              <a:rPr lang="en-US" dirty="0"/>
              <a:t>All these factors contribute to improved quality, and customer satisfaction. </a:t>
            </a:r>
          </a:p>
          <a:p>
            <a:r>
              <a:rPr lang="en-US" dirty="0"/>
              <a:t>The quality plan is derived from the strategic information plan.</a:t>
            </a:r>
          </a:p>
        </p:txBody>
      </p:sp>
    </p:spTree>
    <p:extLst>
      <p:ext uri="{BB962C8B-B14F-4D97-AF65-F5344CB8AC3E}">
        <p14:creationId xmlns:p14="http://schemas.microsoft.com/office/powerpoint/2010/main" val="78161389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6447" y="287079"/>
            <a:ext cx="11451265" cy="6241312"/>
          </a:xfrm>
        </p:spPr>
        <p:txBody>
          <a:bodyPr>
            <a:normAutofit fontScale="92500" lnSpcReduction="10000"/>
          </a:bodyPr>
          <a:lstStyle/>
          <a:p>
            <a:r>
              <a:rPr lang="en-US" dirty="0"/>
              <a:t>In some cases, such as marketing, manufacturing and so on. </a:t>
            </a:r>
          </a:p>
          <a:p>
            <a:r>
              <a:rPr lang="en-US" dirty="0"/>
              <a:t>The </a:t>
            </a:r>
            <a:r>
              <a:rPr lang="en-US" b="1" dirty="0"/>
              <a:t>Information System (IS) </a:t>
            </a:r>
            <a:r>
              <a:rPr lang="en-US" dirty="0"/>
              <a:t>department plays a vital role in ensuring the success of </a:t>
            </a:r>
            <a:r>
              <a:rPr lang="en-US" b="1" dirty="0"/>
              <a:t>Total Quality Management (TQM) </a:t>
            </a:r>
            <a:r>
              <a:rPr lang="en-US" dirty="0"/>
              <a:t>efforts in an organization. </a:t>
            </a:r>
          </a:p>
          <a:p>
            <a:r>
              <a:rPr lang="en-US" b="1" dirty="0"/>
              <a:t>TQM</a:t>
            </a:r>
            <a:r>
              <a:rPr lang="en-US" dirty="0"/>
              <a:t> is a management approach to long-term success through customer satisfaction. </a:t>
            </a:r>
          </a:p>
          <a:p>
            <a:r>
              <a:rPr lang="en-US" dirty="0"/>
              <a:t>In a </a:t>
            </a:r>
            <a:r>
              <a:rPr lang="en-US" b="1" dirty="0"/>
              <a:t>TQM</a:t>
            </a:r>
            <a:r>
              <a:rPr lang="en-US" dirty="0"/>
              <a:t> effort, all members of an organization participate in improving processes, products, services, and the culture in which they work. </a:t>
            </a:r>
          </a:p>
          <a:p>
            <a:r>
              <a:rPr lang="en-US" dirty="0"/>
              <a:t>An information system can promote quality and provide tools and techniques to help the firm achieve its quality goals. </a:t>
            </a:r>
          </a:p>
          <a:p>
            <a:r>
              <a:rPr lang="en-US" dirty="0"/>
              <a:t>Information systems also help firms achieve quality certification, but the information system should oversee the entire quality certification process, which is often a time-consuming task. </a:t>
            </a:r>
          </a:p>
          <a:p>
            <a:r>
              <a:rPr lang="en-US" dirty="0"/>
              <a:t>It requires proper coordination and cooperation among departments; IS can play a facilitating role by ensuring the free flow of information between decision makers.</a:t>
            </a:r>
          </a:p>
          <a:p>
            <a:r>
              <a:rPr lang="en-US" dirty="0"/>
              <a:t>Often, organizational data and information is sent to external agencies and IS plays a critical role in getting the right data to the right people at the right time.</a:t>
            </a:r>
          </a:p>
        </p:txBody>
      </p:sp>
    </p:spTree>
    <p:extLst>
      <p:ext uri="{BB962C8B-B14F-4D97-AF65-F5344CB8AC3E}">
        <p14:creationId xmlns:p14="http://schemas.microsoft.com/office/powerpoint/2010/main" val="283607109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3284" y="131204"/>
            <a:ext cx="11130516" cy="815089"/>
          </a:xfrm>
        </p:spPr>
        <p:txBody>
          <a:bodyPr/>
          <a:lstStyle/>
          <a:p>
            <a:r>
              <a:rPr lang="en-US" b="1" dirty="0"/>
              <a:t>Enterprise Resource Planning Systems</a:t>
            </a:r>
          </a:p>
        </p:txBody>
      </p:sp>
      <p:sp>
        <p:nvSpPr>
          <p:cNvPr id="3" name="Content Placeholder 2"/>
          <p:cNvSpPr>
            <a:spLocks noGrp="1"/>
          </p:cNvSpPr>
          <p:nvPr>
            <p:ph idx="1"/>
          </p:nvPr>
        </p:nvSpPr>
        <p:spPr>
          <a:xfrm>
            <a:off x="223284" y="1020726"/>
            <a:ext cx="11632018" cy="5624623"/>
          </a:xfrm>
        </p:spPr>
        <p:txBody>
          <a:bodyPr>
            <a:normAutofit fontScale="92500" lnSpcReduction="20000"/>
          </a:bodyPr>
          <a:lstStyle/>
          <a:p>
            <a:r>
              <a:rPr lang="en-US" dirty="0"/>
              <a:t>The seamless coordination and data flow necessary for a harmonious performance are critical in the complicated world of modern business, where departments function like instruments in a group. </a:t>
            </a:r>
          </a:p>
          <a:p>
            <a:r>
              <a:rPr lang="en-US" dirty="0"/>
              <a:t>This is where </a:t>
            </a:r>
            <a:r>
              <a:rPr lang="en-US" b="1" dirty="0"/>
              <a:t>Enterprise Resource Planning (ERP) </a:t>
            </a:r>
            <a:r>
              <a:rPr lang="en-US" dirty="0"/>
              <a:t>systems come into play. </a:t>
            </a:r>
          </a:p>
          <a:p>
            <a:r>
              <a:rPr lang="en-US" dirty="0"/>
              <a:t>These comprehensive software suites act as the performers, integrating various business functions - finance, accounting, human resources, inventory management, supply chain management, manufacturing, and customer relationship management (CRM) and more into a single platform. </a:t>
            </a:r>
          </a:p>
          <a:p>
            <a:r>
              <a:rPr lang="en-US" dirty="0"/>
              <a:t>These systems provide a centralized platform for data collection, storage, analysis, and reporting, facilitating seamless communication and collaboration across departments and functions within an organization. </a:t>
            </a:r>
          </a:p>
          <a:p>
            <a:r>
              <a:rPr lang="en-US" b="1" dirty="0"/>
              <a:t>Enterprise Resource Planning (ERP) </a:t>
            </a:r>
            <a:r>
              <a:rPr lang="en-US" dirty="0"/>
              <a:t>systems have emerged as indispensable tools for organizations seeking to integrate and streamline their business processes. </a:t>
            </a:r>
          </a:p>
          <a:p>
            <a:r>
              <a:rPr lang="en-US" dirty="0"/>
              <a:t>By centralizing data and automating core functions, ERP systems enable businesses to enhance efficiency, improve decision making, and gain a competitive edge in dynamic markets.</a:t>
            </a:r>
          </a:p>
        </p:txBody>
      </p:sp>
    </p:spTree>
    <p:extLst>
      <p:ext uri="{BB962C8B-B14F-4D97-AF65-F5344CB8AC3E}">
        <p14:creationId xmlns:p14="http://schemas.microsoft.com/office/powerpoint/2010/main" val="31596145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89098"/>
            <a:ext cx="10515600" cy="6145618"/>
          </a:xfrm>
        </p:spPr>
        <p:txBody>
          <a:bodyPr>
            <a:normAutofit/>
          </a:bodyPr>
          <a:lstStyle/>
          <a:p>
            <a:r>
              <a:rPr lang="en-US" dirty="0"/>
              <a:t>ERP systems comprise a collection of interconnected modules, each addressing a specific business function:</a:t>
            </a:r>
          </a:p>
          <a:p>
            <a:pPr lvl="1"/>
            <a:r>
              <a:rPr lang="en-US" b="1" dirty="0"/>
              <a:t>Financial Management: </a:t>
            </a:r>
            <a:r>
              <a:rPr lang="en-US" dirty="0"/>
              <a:t>ERP systems automate accounting tasks like</a:t>
            </a:r>
            <a:br>
              <a:rPr lang="en-US" dirty="0"/>
            </a:br>
            <a:r>
              <a:rPr lang="en-US" dirty="0"/>
              <a:t>accounts payable/receivable, general ledger, and financial reporting, providing real-time financial insights.</a:t>
            </a:r>
          </a:p>
          <a:p>
            <a:pPr lvl="1"/>
            <a:r>
              <a:rPr lang="en-US" b="1" dirty="0"/>
              <a:t>Inventory Management: </a:t>
            </a:r>
            <a:r>
              <a:rPr lang="en-US" dirty="0"/>
              <a:t>These modules track inventory levels, manage</a:t>
            </a:r>
            <a:br>
              <a:rPr lang="en-US" dirty="0"/>
            </a:br>
            <a:r>
              <a:rPr lang="en-US" dirty="0"/>
              <a:t>purchase orders, and optimize stock replenishment, minimizing stock outs and overstocking.</a:t>
            </a:r>
          </a:p>
          <a:p>
            <a:pPr lvl="1"/>
            <a:r>
              <a:rPr lang="en-US" b="1" dirty="0"/>
              <a:t>Supply Chain Management: </a:t>
            </a:r>
            <a:r>
              <a:rPr lang="en-US" dirty="0"/>
              <a:t>ERP facilitates coordination with suppliers and</a:t>
            </a:r>
            <a:br>
              <a:rPr lang="en-US" dirty="0"/>
            </a:br>
            <a:r>
              <a:rPr lang="en-US" dirty="0"/>
              <a:t>vendors, streamlines logistics, and tracks product movement throughout the</a:t>
            </a:r>
            <a:br>
              <a:rPr lang="en-US" dirty="0"/>
            </a:br>
            <a:r>
              <a:rPr lang="en-US" dirty="0"/>
              <a:t>supply chain.</a:t>
            </a:r>
          </a:p>
          <a:p>
            <a:pPr lvl="1"/>
            <a:r>
              <a:rPr lang="en-US" b="1" dirty="0"/>
              <a:t>Customer Relationship Management (CRM): </a:t>
            </a:r>
            <a:r>
              <a:rPr lang="en-US" dirty="0"/>
              <a:t>This module helps manage</a:t>
            </a:r>
            <a:br>
              <a:rPr lang="en-US" dirty="0"/>
            </a:br>
            <a:r>
              <a:rPr lang="en-US" dirty="0"/>
              <a:t>customer interactions, track sales opportunities, and provide better customer</a:t>
            </a:r>
            <a:br>
              <a:rPr lang="en-US" dirty="0"/>
            </a:br>
            <a:r>
              <a:rPr lang="en-US" dirty="0"/>
              <a:t>service.</a:t>
            </a:r>
          </a:p>
          <a:p>
            <a:pPr lvl="1"/>
            <a:r>
              <a:rPr lang="en-US" b="1" dirty="0"/>
              <a:t>Human Resources Management (HRM): </a:t>
            </a:r>
            <a:r>
              <a:rPr lang="en-US" dirty="0"/>
              <a:t>ERP systems automate HR</a:t>
            </a:r>
            <a:br>
              <a:rPr lang="en-US" dirty="0"/>
            </a:br>
            <a:r>
              <a:rPr lang="en-US" dirty="0"/>
              <a:t>processes like payroll, benefits administration, and employee onboarding.</a:t>
            </a:r>
          </a:p>
        </p:txBody>
      </p:sp>
    </p:spTree>
    <p:extLst>
      <p:ext uri="{BB962C8B-B14F-4D97-AF65-F5344CB8AC3E}">
        <p14:creationId xmlns:p14="http://schemas.microsoft.com/office/powerpoint/2010/main" val="166940166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11959"/>
            <a:ext cx="10515600" cy="740661"/>
          </a:xfrm>
        </p:spPr>
        <p:txBody>
          <a:bodyPr/>
          <a:lstStyle/>
          <a:p>
            <a:r>
              <a:rPr lang="en-US" b="1" dirty="0"/>
              <a:t>Key Features of ERP</a:t>
            </a:r>
            <a:endParaRPr lang="en-US" dirty="0"/>
          </a:p>
        </p:txBody>
      </p:sp>
      <p:sp>
        <p:nvSpPr>
          <p:cNvPr id="3" name="Content Placeholder 2"/>
          <p:cNvSpPr>
            <a:spLocks noGrp="1"/>
          </p:cNvSpPr>
          <p:nvPr>
            <p:ph idx="1"/>
          </p:nvPr>
        </p:nvSpPr>
        <p:spPr>
          <a:xfrm>
            <a:off x="838200" y="1233374"/>
            <a:ext cx="10515600" cy="5312667"/>
          </a:xfrm>
        </p:spPr>
        <p:txBody>
          <a:bodyPr>
            <a:normAutofit fontScale="92500" lnSpcReduction="10000"/>
          </a:bodyPr>
          <a:lstStyle/>
          <a:p>
            <a:r>
              <a:rPr lang="en-US" b="1" dirty="0"/>
              <a:t>Integration: </a:t>
            </a:r>
            <a:r>
              <a:rPr lang="en-US" dirty="0"/>
              <a:t>ERP systems integrate data and processes across different</a:t>
            </a:r>
            <a:br>
              <a:rPr lang="en-US" dirty="0"/>
            </a:br>
            <a:r>
              <a:rPr lang="en-US" dirty="0"/>
              <a:t>functional areas, ensuring consistency and accuracy in information flow and eliminating data silos.</a:t>
            </a:r>
          </a:p>
          <a:p>
            <a:r>
              <a:rPr lang="en-US" b="1" dirty="0"/>
              <a:t>Automation: </a:t>
            </a:r>
            <a:r>
              <a:rPr lang="en-US" dirty="0"/>
              <a:t>ERP systems automate routine tasks and workflows, reducing</a:t>
            </a:r>
            <a:br>
              <a:rPr lang="en-US" dirty="0"/>
            </a:br>
            <a:r>
              <a:rPr lang="en-US" dirty="0"/>
              <a:t>manual effort and minimizing errors in data entry and processing.</a:t>
            </a:r>
          </a:p>
          <a:p>
            <a:r>
              <a:rPr lang="en-US" b="1" dirty="0"/>
              <a:t>Scalability: </a:t>
            </a:r>
            <a:r>
              <a:rPr lang="en-US" dirty="0"/>
              <a:t>ERP systems are scalable to accommodate the growth and</a:t>
            </a:r>
            <a:br>
              <a:rPr lang="en-US" dirty="0"/>
            </a:br>
            <a:r>
              <a:rPr lang="en-US" dirty="0"/>
              <a:t>evolving needs of organizations, allowing for seamless expansion and</a:t>
            </a:r>
            <a:br>
              <a:rPr lang="en-US" dirty="0"/>
            </a:br>
            <a:r>
              <a:rPr lang="en-US" dirty="0"/>
              <a:t>customization.</a:t>
            </a:r>
          </a:p>
          <a:p>
            <a:r>
              <a:rPr lang="en-US" b="1" dirty="0"/>
              <a:t>Customization: </a:t>
            </a:r>
            <a:r>
              <a:rPr lang="en-US" dirty="0"/>
              <a:t>ERP systems can be tailored to the specific requirements of</a:t>
            </a:r>
            <a:br>
              <a:rPr lang="en-US" dirty="0"/>
            </a:br>
            <a:r>
              <a:rPr lang="en-US" dirty="0"/>
              <a:t>individual organizations, with configurable modules and features to support unique business processes.</a:t>
            </a:r>
          </a:p>
          <a:p>
            <a:r>
              <a:rPr lang="en-US" b="1" dirty="0"/>
              <a:t>Reporting and Analytics: </a:t>
            </a:r>
            <a:r>
              <a:rPr lang="en-US" dirty="0"/>
              <a:t>ERP systems provide robust reporting and</a:t>
            </a:r>
            <a:br>
              <a:rPr lang="en-US" dirty="0"/>
            </a:br>
            <a:r>
              <a:rPr lang="en-US" dirty="0"/>
              <a:t>analytics capabilities, enabling users to generate actionable insights from</a:t>
            </a:r>
            <a:br>
              <a:rPr lang="en-US" dirty="0"/>
            </a:br>
            <a:r>
              <a:rPr lang="en-US" dirty="0"/>
              <a:t>real-time data and make informed decisions.</a:t>
            </a:r>
          </a:p>
        </p:txBody>
      </p:sp>
    </p:spTree>
    <p:extLst>
      <p:ext uri="{BB962C8B-B14F-4D97-AF65-F5344CB8AC3E}">
        <p14:creationId xmlns:p14="http://schemas.microsoft.com/office/powerpoint/2010/main" val="94722811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25033"/>
            <a:ext cx="10515600" cy="5251930"/>
          </a:xfrm>
        </p:spPr>
        <p:txBody>
          <a:bodyPr>
            <a:normAutofit fontScale="92500" lnSpcReduction="20000"/>
          </a:bodyPr>
          <a:lstStyle/>
          <a:p>
            <a:r>
              <a:rPr lang="en-US" dirty="0"/>
              <a:t>The true power of an ERP system lies in its integration. </a:t>
            </a:r>
          </a:p>
          <a:p>
            <a:r>
              <a:rPr lang="en-US" dirty="0"/>
              <a:t>Data flows seamlessly between modules, providing a holistic view of business operations. </a:t>
            </a:r>
          </a:p>
          <a:p>
            <a:r>
              <a:rPr lang="en-US" dirty="0"/>
              <a:t>Imagine a sales order triggering an automatic update in the inventory and production modules, ensuring efficient order fulfillment. </a:t>
            </a:r>
          </a:p>
          <a:p>
            <a:r>
              <a:rPr lang="en-US" dirty="0"/>
              <a:t>An automotive manufacturer uses an ERP system to track raw material</a:t>
            </a:r>
            <a:br>
              <a:rPr lang="en-US" dirty="0"/>
            </a:br>
            <a:r>
              <a:rPr lang="en-US" dirty="0"/>
              <a:t>inventory, manage production schedules, and optimize supply chain logistics. </a:t>
            </a:r>
          </a:p>
          <a:p>
            <a:r>
              <a:rPr lang="en-US" dirty="0"/>
              <a:t>This ensures on-time delivery of parts and reduces production delays. </a:t>
            </a:r>
          </a:p>
          <a:p>
            <a:r>
              <a:rPr lang="en-US" dirty="0"/>
              <a:t>A retail chain leverages its ERP system to track sales data, analyze customer buying patterns, and optimize product assortment across different stores. </a:t>
            </a:r>
          </a:p>
          <a:p>
            <a:r>
              <a:rPr lang="en-US" dirty="0"/>
              <a:t>This allows them to tailor product offerings to local preferences and maximize sales.</a:t>
            </a:r>
            <a:br>
              <a:rPr lang="en-US" dirty="0"/>
            </a:br>
            <a:endParaRPr lang="en-US" dirty="0"/>
          </a:p>
        </p:txBody>
      </p:sp>
    </p:spTree>
    <p:extLst>
      <p:ext uri="{BB962C8B-B14F-4D97-AF65-F5344CB8AC3E}">
        <p14:creationId xmlns:p14="http://schemas.microsoft.com/office/powerpoint/2010/main" val="215115789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63526"/>
            <a:ext cx="10515600" cy="6018027"/>
          </a:xfrm>
        </p:spPr>
        <p:txBody>
          <a:bodyPr>
            <a:normAutofit fontScale="92500"/>
          </a:bodyPr>
          <a:lstStyle/>
          <a:p>
            <a:r>
              <a:rPr lang="en-US" dirty="0"/>
              <a:t>Implementing an ERP system can provide numerous benefits for businesses of all sizes:</a:t>
            </a:r>
          </a:p>
          <a:p>
            <a:pPr lvl="1"/>
            <a:r>
              <a:rPr lang="en-US" b="1" dirty="0"/>
              <a:t>Enhanced Efficiency: </a:t>
            </a:r>
            <a:r>
              <a:rPr lang="en-US" dirty="0"/>
              <a:t>Automating repetitive tasks frees up employees to</a:t>
            </a:r>
            <a:br>
              <a:rPr lang="en-US" dirty="0"/>
            </a:br>
            <a:r>
              <a:rPr lang="en-US" dirty="0"/>
              <a:t>focus on more strategic initiatives. ERP systems streamline business processes,</a:t>
            </a:r>
            <a:br>
              <a:rPr lang="en-US" dirty="0"/>
            </a:br>
            <a:r>
              <a:rPr lang="en-US" dirty="0"/>
              <a:t>reduce redundancy, eliminate inefficiencies, and improve data visibility leading</a:t>
            </a:r>
            <a:br>
              <a:rPr lang="en-US" dirty="0"/>
            </a:br>
            <a:r>
              <a:rPr lang="en-US" dirty="0"/>
              <a:t>to improved overall productivity and resource utilization.</a:t>
            </a:r>
          </a:p>
          <a:p>
            <a:pPr lvl="1"/>
            <a:endParaRPr lang="en-US" dirty="0"/>
          </a:p>
          <a:p>
            <a:pPr lvl="1"/>
            <a:r>
              <a:rPr lang="en-US" b="1" dirty="0"/>
              <a:t>Enhanced Visibility: </a:t>
            </a:r>
            <a:r>
              <a:rPr lang="en-US" dirty="0"/>
              <a:t>ERP systems provide real-time visibility into</a:t>
            </a:r>
            <a:br>
              <a:rPr lang="en-US" dirty="0"/>
            </a:br>
            <a:r>
              <a:rPr lang="en-US" dirty="0"/>
              <a:t>organizational operations, enabling stakeholders to track performance metrics,</a:t>
            </a:r>
            <a:br>
              <a:rPr lang="en-US" dirty="0"/>
            </a:br>
            <a:r>
              <a:rPr lang="en-US" dirty="0"/>
              <a:t>monitor key indicators, and make data-driven decisions.</a:t>
            </a:r>
          </a:p>
          <a:p>
            <a:pPr lvl="1"/>
            <a:endParaRPr lang="en-US" dirty="0"/>
          </a:p>
          <a:p>
            <a:pPr lvl="1"/>
            <a:r>
              <a:rPr lang="en-US" b="1" dirty="0"/>
              <a:t>Improved Decision-Making: </a:t>
            </a:r>
            <a:r>
              <a:rPr lang="en-US" dirty="0"/>
              <a:t>Real-time data from across all departments</a:t>
            </a:r>
            <a:br>
              <a:rPr lang="en-US" dirty="0"/>
            </a:br>
            <a:r>
              <a:rPr lang="en-US" dirty="0"/>
              <a:t>allows for data-driven decision-making. ERP systems equip decision-makers</a:t>
            </a:r>
            <a:br>
              <a:rPr lang="en-US" dirty="0"/>
            </a:br>
            <a:r>
              <a:rPr lang="en-US" dirty="0"/>
              <a:t>with timely, accurate, and relevant information, enabling them to make</a:t>
            </a:r>
            <a:br>
              <a:rPr lang="en-US" dirty="0"/>
            </a:br>
            <a:r>
              <a:rPr lang="en-US" dirty="0"/>
              <a:t>informed decisions that drive business growth and profitability. Managers can</a:t>
            </a:r>
            <a:br>
              <a:rPr lang="en-US" dirty="0"/>
            </a:br>
            <a:r>
              <a:rPr lang="en-US" dirty="0"/>
              <a:t>gain insights into sales trends, inventory levels, and resource allocation,</a:t>
            </a:r>
            <a:br>
              <a:rPr lang="en-US" dirty="0"/>
            </a:br>
            <a:r>
              <a:rPr lang="en-US" dirty="0"/>
              <a:t>enabling them to make informed choices.</a:t>
            </a:r>
            <a:br>
              <a:rPr lang="en-US" dirty="0"/>
            </a:br>
            <a:endParaRPr lang="en-US" dirty="0"/>
          </a:p>
        </p:txBody>
      </p:sp>
    </p:spTree>
    <p:extLst>
      <p:ext uri="{BB962C8B-B14F-4D97-AF65-F5344CB8AC3E}">
        <p14:creationId xmlns:p14="http://schemas.microsoft.com/office/powerpoint/2010/main" val="41339584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78465"/>
            <a:ext cx="10515600" cy="5975498"/>
          </a:xfrm>
        </p:spPr>
        <p:txBody>
          <a:bodyPr>
            <a:normAutofit fontScale="85000" lnSpcReduction="20000"/>
          </a:bodyPr>
          <a:lstStyle/>
          <a:p>
            <a:r>
              <a:rPr lang="en-US" b="1" dirty="0"/>
              <a:t>Reduced Costs: </a:t>
            </a:r>
            <a:r>
              <a:rPr lang="en-US" dirty="0"/>
              <a:t>ERP systems can reduce operational costs on various aspects of business operations by optimizing resource allocation, reducing manual labor, minimizing errors, optimizing inventory management, and streamlining supply chains.</a:t>
            </a:r>
          </a:p>
          <a:p>
            <a:endParaRPr lang="en-US" dirty="0"/>
          </a:p>
          <a:p>
            <a:r>
              <a:rPr lang="en-US" b="1" dirty="0"/>
              <a:t>Improved Customer Service: </a:t>
            </a:r>
            <a:r>
              <a:rPr lang="en-US" dirty="0"/>
              <a:t>Integrated data allows for a more complete view of customer interactions. Businesses can respond to customer inquiries faster and offer more personalized service.</a:t>
            </a:r>
          </a:p>
          <a:p>
            <a:endParaRPr lang="en-US" dirty="0"/>
          </a:p>
          <a:p>
            <a:r>
              <a:rPr lang="en-US" b="1" dirty="0"/>
              <a:t>Enhanced Collaboration: </a:t>
            </a:r>
            <a:r>
              <a:rPr lang="en-US" dirty="0"/>
              <a:t>ERP fosters collaboration between departments by providing a central platform for communication and data sharing.</a:t>
            </a:r>
          </a:p>
          <a:p>
            <a:endParaRPr lang="en-US" dirty="0"/>
          </a:p>
          <a:p>
            <a:r>
              <a:rPr lang="en-US" b="1" dirty="0"/>
              <a:t>Scalability and Growth: </a:t>
            </a:r>
            <a:r>
              <a:rPr lang="en-US" dirty="0"/>
              <a:t>ERP systems are designed to scale a growing business. They can accommodate increasing data volumes and user needs, laying the foundation for future growth.</a:t>
            </a:r>
          </a:p>
          <a:p>
            <a:endParaRPr lang="en-US" dirty="0"/>
          </a:p>
          <a:p>
            <a:r>
              <a:rPr lang="en-US" b="1" dirty="0"/>
              <a:t>Competitive Advantage: </a:t>
            </a:r>
            <a:r>
              <a:rPr lang="en-US" dirty="0"/>
              <a:t>ERP systems enable organizations to respond quickly to market changes, adapt to customer demands, and outperform competitors by leveraging streamlined processes and efficient resource management.</a:t>
            </a:r>
          </a:p>
        </p:txBody>
      </p:sp>
    </p:spTree>
    <p:extLst>
      <p:ext uri="{BB962C8B-B14F-4D97-AF65-F5344CB8AC3E}">
        <p14:creationId xmlns:p14="http://schemas.microsoft.com/office/powerpoint/2010/main" val="19652769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6567" y="616688"/>
            <a:ext cx="11355573" cy="5560275"/>
          </a:xfrm>
        </p:spPr>
        <p:txBody>
          <a:bodyPr>
            <a:normAutofit fontScale="92500"/>
          </a:bodyPr>
          <a:lstStyle/>
          <a:p>
            <a:r>
              <a:rPr lang="en-US" dirty="0"/>
              <a:t>Examples</a:t>
            </a:r>
          </a:p>
          <a:p>
            <a:pPr lvl="1"/>
            <a:r>
              <a:rPr lang="en-US" b="1" dirty="0"/>
              <a:t>SAP ERP: </a:t>
            </a:r>
            <a:r>
              <a:rPr lang="en-US" dirty="0"/>
              <a:t>SAP ERP is a widely used ERP solution that integrates business processes such as finance, human resources, supply chain management, and manufacturing. Companies like Nestle, Coca-Cola, and Unilever leverage SAP ERP to streamline operations, improve efficiency, and drive innovation.</a:t>
            </a:r>
          </a:p>
          <a:p>
            <a:pPr lvl="1"/>
            <a:endParaRPr lang="en-US" dirty="0"/>
          </a:p>
          <a:p>
            <a:pPr lvl="1"/>
            <a:r>
              <a:rPr lang="en-US" b="1" dirty="0"/>
              <a:t>Oracle ERP Cloud: </a:t>
            </a:r>
            <a:r>
              <a:rPr lang="en-US" dirty="0"/>
              <a:t>Oracle ERP Cloud offers a suite of cloud-based ERP applications that encompass finance, procurement, project management, and more. Organizations like Lufthansa, Verizon, and Panasonic rely on Oracle ERP Cloud to optimize business processes, enhance collaboration, and accelerate digital transformation.</a:t>
            </a:r>
          </a:p>
          <a:p>
            <a:pPr lvl="1"/>
            <a:endParaRPr lang="en-US" dirty="0"/>
          </a:p>
          <a:p>
            <a:pPr lvl="1"/>
            <a:r>
              <a:rPr lang="en-US" b="1" dirty="0"/>
              <a:t>Microsoft Dynamics 365: </a:t>
            </a:r>
            <a:r>
              <a:rPr lang="en-US" dirty="0"/>
              <a:t>Microsoft Dynamics 365 is an integrated suite of ERP and CRM applications that empower organizations to unify data, streamline operations, and deliver personalized customer experiences. Companies like Aston Martin, Maersk, and HP use Microsoft Dynamics 365 to drive agility, innovation, and growth across their business units.</a:t>
            </a:r>
            <a:br>
              <a:rPr lang="en-US" dirty="0"/>
            </a:br>
            <a:endParaRPr lang="en-US" dirty="0"/>
          </a:p>
        </p:txBody>
      </p:sp>
    </p:spTree>
    <p:extLst>
      <p:ext uri="{BB962C8B-B14F-4D97-AF65-F5344CB8AC3E}">
        <p14:creationId xmlns:p14="http://schemas.microsoft.com/office/powerpoint/2010/main" val="270266018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8344" y="616688"/>
            <a:ext cx="11419368" cy="5922335"/>
          </a:xfrm>
        </p:spPr>
        <p:txBody>
          <a:bodyPr>
            <a:normAutofit lnSpcReduction="10000"/>
          </a:bodyPr>
          <a:lstStyle/>
          <a:p>
            <a:r>
              <a:rPr lang="en-US" dirty="0"/>
              <a:t>ERP systems come in various shapes and sizes, catering to different industry needs and business scales. Here are some key factors to consider when choosing an ERP system:</a:t>
            </a:r>
          </a:p>
          <a:p>
            <a:pPr lvl="1"/>
            <a:r>
              <a:rPr lang="en-US" b="1" dirty="0"/>
              <a:t>Company Size and Needs: </a:t>
            </a:r>
            <a:r>
              <a:rPr lang="en-US" dirty="0"/>
              <a:t>Smaller businesses need different functionalities compared to large corporations. Choose an ERP that scales with your growth and addresses your specific industry requirements.</a:t>
            </a:r>
          </a:p>
          <a:p>
            <a:pPr lvl="1"/>
            <a:endParaRPr lang="en-US" dirty="0"/>
          </a:p>
          <a:p>
            <a:pPr lvl="1"/>
            <a:r>
              <a:rPr lang="en-US" b="1" dirty="0"/>
              <a:t>Budget: </a:t>
            </a:r>
            <a:r>
              <a:rPr lang="en-US" dirty="0"/>
              <a:t>ERP systems can involve significant upfront costs. Consider licensing fees, implementation costs, and ongoing maintenance expenses.</a:t>
            </a:r>
          </a:p>
          <a:p>
            <a:pPr lvl="1"/>
            <a:endParaRPr lang="en-US" dirty="0"/>
          </a:p>
          <a:p>
            <a:pPr lvl="1"/>
            <a:r>
              <a:rPr lang="en-US" b="1" dirty="0"/>
              <a:t>Customization: </a:t>
            </a:r>
            <a:r>
              <a:rPr lang="en-US" dirty="0"/>
              <a:t>Some ERP systems offer greater customization options. Evaluate the level of customization needed to fit your unique business processes.</a:t>
            </a:r>
          </a:p>
          <a:p>
            <a:pPr lvl="1"/>
            <a:endParaRPr lang="en-US" dirty="0"/>
          </a:p>
          <a:p>
            <a:pPr lvl="1"/>
            <a:r>
              <a:rPr lang="en-US" b="1" dirty="0"/>
              <a:t>Scalability: </a:t>
            </a:r>
            <a:r>
              <a:rPr lang="en-US" dirty="0"/>
              <a:t>Choose a system that can grow with your business. Consider cloud-based options that offer flexible scalability.</a:t>
            </a:r>
            <a:br>
              <a:rPr lang="en-US" dirty="0"/>
            </a:br>
            <a:endParaRPr lang="en-US" dirty="0"/>
          </a:p>
        </p:txBody>
      </p:sp>
    </p:spTree>
    <p:extLst>
      <p:ext uri="{BB962C8B-B14F-4D97-AF65-F5344CB8AC3E}">
        <p14:creationId xmlns:p14="http://schemas.microsoft.com/office/powerpoint/2010/main" val="214748780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3142" y="627321"/>
            <a:ext cx="10825716" cy="5549642"/>
          </a:xfrm>
        </p:spPr>
        <p:txBody>
          <a:bodyPr/>
          <a:lstStyle/>
          <a:p>
            <a:r>
              <a:rPr lang="en-US" dirty="0"/>
              <a:t>The future of ERP systems is one of continuous innovation and adaptation. </a:t>
            </a:r>
          </a:p>
          <a:p>
            <a:r>
              <a:rPr lang="en-US" dirty="0"/>
              <a:t>Cloud-based ERP systems offer increased flexibility, scalability, and lower upfront costs. </a:t>
            </a:r>
          </a:p>
          <a:p>
            <a:r>
              <a:rPr lang="en-US" dirty="0"/>
              <a:t>This makes them a compelling option for businesses of all sizes. Likewise, AI can be integrated with ERP systems to automate tasks further, improve data analysis, and provide predictive insights to support strategic decision-making. </a:t>
            </a:r>
          </a:p>
          <a:p>
            <a:r>
              <a:rPr lang="en-US" dirty="0"/>
              <a:t>Similarly, ERP systems will integrate with the Internet of Things, enabling real-time data collection from connected devices and sensors. </a:t>
            </a:r>
          </a:p>
          <a:p>
            <a:r>
              <a:rPr lang="en-US" dirty="0"/>
              <a:t>This can further optimize production processes and supply chain management.</a:t>
            </a:r>
          </a:p>
        </p:txBody>
      </p:sp>
    </p:spTree>
    <p:extLst>
      <p:ext uri="{BB962C8B-B14F-4D97-AF65-F5344CB8AC3E}">
        <p14:creationId xmlns:p14="http://schemas.microsoft.com/office/powerpoint/2010/main" val="257557124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7530"/>
            <a:ext cx="10515600" cy="804456"/>
          </a:xfrm>
        </p:spPr>
        <p:txBody>
          <a:bodyPr/>
          <a:lstStyle/>
          <a:p>
            <a:r>
              <a:rPr lang="en-US" b="1" dirty="0"/>
              <a:t>ERP Support for Business Process</a:t>
            </a:r>
            <a:endParaRPr lang="en-US" dirty="0"/>
          </a:p>
        </p:txBody>
      </p:sp>
      <p:sp>
        <p:nvSpPr>
          <p:cNvPr id="3" name="Content Placeholder 2"/>
          <p:cNvSpPr>
            <a:spLocks noGrp="1"/>
          </p:cNvSpPr>
          <p:nvPr>
            <p:ph idx="1"/>
          </p:nvPr>
        </p:nvSpPr>
        <p:spPr>
          <a:xfrm>
            <a:off x="838200" y="1329070"/>
            <a:ext cx="10515600" cy="4847893"/>
          </a:xfrm>
        </p:spPr>
        <p:txBody>
          <a:bodyPr>
            <a:normAutofit/>
          </a:bodyPr>
          <a:lstStyle/>
          <a:p>
            <a:r>
              <a:rPr lang="en-US" dirty="0"/>
              <a:t>In the rapidly evolving landscape of modern business, the integration of technology into core business practices has become not just beneficial but essential for growth and competitiveness. </a:t>
            </a:r>
          </a:p>
          <a:p>
            <a:r>
              <a:rPr lang="en-US" dirty="0"/>
              <a:t>At the heart of this technological integration lies the concept of Enterprise Resource Planning (ERP) systems. </a:t>
            </a:r>
          </a:p>
          <a:p>
            <a:r>
              <a:rPr lang="en-US" dirty="0"/>
              <a:t>ERP systems are software platforms that combine a plethora of business processes and functions into a single, unified system. </a:t>
            </a:r>
          </a:p>
          <a:p>
            <a:r>
              <a:rPr lang="en-US" dirty="0"/>
              <a:t>These systems streamline various operations, from Accounting and Human Resources to Supply Chain Management and Customer Relationship Management, thereby creating a harmonized ecosystem for business data and processes. </a:t>
            </a:r>
          </a:p>
        </p:txBody>
      </p:sp>
    </p:spTree>
    <p:extLst>
      <p:ext uri="{BB962C8B-B14F-4D97-AF65-F5344CB8AC3E}">
        <p14:creationId xmlns:p14="http://schemas.microsoft.com/office/powerpoint/2010/main" val="247408908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9221" y="467833"/>
            <a:ext cx="11013558" cy="6071190"/>
          </a:xfrm>
        </p:spPr>
        <p:txBody>
          <a:bodyPr>
            <a:normAutofit fontScale="92500" lnSpcReduction="20000"/>
          </a:bodyPr>
          <a:lstStyle/>
          <a:p>
            <a:r>
              <a:rPr lang="en-US" dirty="0"/>
              <a:t>The importance of ERP systems in modern business environments cannot be overstated. In an era where data-driven decision-making is paramount, ERP systems provide the critical infrastructure needed to collect, analyze, and act on business information in real-time. </a:t>
            </a:r>
          </a:p>
          <a:p>
            <a:r>
              <a:rPr lang="en-US" dirty="0"/>
              <a:t>By centralizing data, these systems break down the silos that often exist within organizations, enabling a more cohesive and integrated approach to business management. </a:t>
            </a:r>
          </a:p>
          <a:p>
            <a:r>
              <a:rPr lang="en-US" dirty="0"/>
              <a:t>This centralized approach not only enhances operational efficiency but also offers strategic insights that drive informed decision-making and business agility. </a:t>
            </a:r>
          </a:p>
          <a:p>
            <a:r>
              <a:rPr lang="en-US" dirty="0"/>
              <a:t>Moreover, as businesses grow and scale, the complexity of managing various operations increases exponentially. </a:t>
            </a:r>
          </a:p>
          <a:p>
            <a:r>
              <a:rPr lang="en-US" dirty="0"/>
              <a:t>ERP systems address this challenge by offering scalable solutions that grow with the business. </a:t>
            </a:r>
          </a:p>
          <a:p>
            <a:r>
              <a:rPr lang="en-US" dirty="0"/>
              <a:t>They adapt to new business models, expand in functionality, and ensure that enterprises can manage their increasing complexity without compromising on efficiency or strategic focus. </a:t>
            </a:r>
          </a:p>
        </p:txBody>
      </p:sp>
    </p:spTree>
    <p:extLst>
      <p:ext uri="{BB962C8B-B14F-4D97-AF65-F5344CB8AC3E}">
        <p14:creationId xmlns:p14="http://schemas.microsoft.com/office/powerpoint/2010/main" val="13288400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31628"/>
            <a:ext cx="10515600" cy="5645335"/>
          </a:xfrm>
        </p:spPr>
        <p:txBody>
          <a:bodyPr>
            <a:normAutofit fontScale="92500" lnSpcReduction="10000"/>
          </a:bodyPr>
          <a:lstStyle/>
          <a:p>
            <a:r>
              <a:rPr lang="en-US" dirty="0"/>
              <a:t>In essence, ERP systems are not just tools for managing business processes; they are strategic assets that enable businesses to adapt, thrive, and grow in the dynamic global market. </a:t>
            </a:r>
          </a:p>
          <a:p>
            <a:r>
              <a:rPr lang="en-US" dirty="0"/>
              <a:t>The core strength of Enterprise Resource Planning (ERP) systems lies in their ability to centralize various business processes, creating a seamless and integrated operational framework. </a:t>
            </a:r>
          </a:p>
          <a:p>
            <a:r>
              <a:rPr lang="en-US" dirty="0"/>
              <a:t>This centralization is a transformative feature, as it brings together disparate processes and functions under one umbrella, enabling a more synchronized and efficient workflow. </a:t>
            </a:r>
          </a:p>
          <a:p>
            <a:r>
              <a:rPr lang="en-US" dirty="0"/>
              <a:t>For instance, processes such as accounting, procurement, human resources, inventory management, and customer relationship management, which traditionally operate in isolation, are unified within an ERP system. </a:t>
            </a:r>
          </a:p>
          <a:p>
            <a:r>
              <a:rPr lang="en-US" dirty="0"/>
              <a:t>This unification allows for a more holistic view of the organization's operations. </a:t>
            </a:r>
          </a:p>
          <a:p>
            <a:endParaRPr lang="en-US" dirty="0"/>
          </a:p>
        </p:txBody>
      </p:sp>
    </p:spTree>
    <p:extLst>
      <p:ext uri="{BB962C8B-B14F-4D97-AF65-F5344CB8AC3E}">
        <p14:creationId xmlns:p14="http://schemas.microsoft.com/office/powerpoint/2010/main" val="291561395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52893"/>
            <a:ext cx="10515600" cy="5624070"/>
          </a:xfrm>
        </p:spPr>
        <p:txBody>
          <a:bodyPr>
            <a:normAutofit fontScale="92500" lnSpcReduction="10000"/>
          </a:bodyPr>
          <a:lstStyle/>
          <a:p>
            <a:r>
              <a:rPr lang="en-US" dirty="0"/>
              <a:t>In the realm of accounting, an ERP system can automate and streamline financial transactions, budgeting, and reporting, ensuring accuracy and real-time visibility into financial health. </a:t>
            </a:r>
          </a:p>
          <a:p>
            <a:r>
              <a:rPr lang="en-US" dirty="0"/>
              <a:t>In procurement, ERP systems facilitate the entire procurement cycle from purchase order creation to supplier management, enhancing the efficiency of supply chain operations. </a:t>
            </a:r>
          </a:p>
          <a:p>
            <a:r>
              <a:rPr lang="en-US" dirty="0"/>
              <a:t>Similarly, the human resources module within an ERP system can manage</a:t>
            </a:r>
            <a:br>
              <a:rPr lang="en-US" dirty="0"/>
            </a:br>
            <a:r>
              <a:rPr lang="en-US" dirty="0"/>
              <a:t>employee records, payroll, recruitment, and performance evaluations, all from a central location. </a:t>
            </a:r>
          </a:p>
          <a:p>
            <a:r>
              <a:rPr lang="en-US" dirty="0"/>
              <a:t>Centralization like this has a lot of advantages. </a:t>
            </a:r>
          </a:p>
          <a:p>
            <a:r>
              <a:rPr lang="en-US" dirty="0"/>
              <a:t>To begin with, it greatly reduces the redundancy and inefficiency that affect companies with fragmented systems. </a:t>
            </a:r>
          </a:p>
          <a:p>
            <a:r>
              <a:rPr lang="en-US" dirty="0"/>
              <a:t>An integrated approach reduces the chance of errors and eliminates the need for repetitive data input since data is entered only once and is instantly accessible throughout the company. </a:t>
            </a:r>
          </a:p>
        </p:txBody>
      </p:sp>
    </p:spTree>
    <p:extLst>
      <p:ext uri="{BB962C8B-B14F-4D97-AF65-F5344CB8AC3E}">
        <p14:creationId xmlns:p14="http://schemas.microsoft.com/office/powerpoint/2010/main" val="127860574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89098"/>
            <a:ext cx="10515600" cy="5687865"/>
          </a:xfrm>
        </p:spPr>
        <p:txBody>
          <a:bodyPr>
            <a:normAutofit fontScale="92500" lnSpcReduction="10000"/>
          </a:bodyPr>
          <a:lstStyle/>
          <a:p>
            <a:r>
              <a:rPr lang="en-US" dirty="0"/>
              <a:t>This increase in productivity lowers costs while also saving time. Second,</a:t>
            </a:r>
            <a:br>
              <a:rPr lang="en-US" dirty="0"/>
            </a:br>
            <a:r>
              <a:rPr lang="en-US" dirty="0"/>
              <a:t>centralization encourages better cooperation and communication inside the company. </a:t>
            </a:r>
          </a:p>
          <a:p>
            <a:r>
              <a:rPr lang="en-US" dirty="0"/>
              <a:t>Now that information is easily shared, departments that once functioned in silos may collaborate more successfully. </a:t>
            </a:r>
          </a:p>
          <a:p>
            <a:r>
              <a:rPr lang="en-US" dirty="0"/>
              <a:t>To make strategic decisions and react quickly to changes in the market,</a:t>
            </a:r>
            <a:br>
              <a:rPr lang="en-US" dirty="0"/>
            </a:br>
            <a:r>
              <a:rPr lang="en-US" dirty="0"/>
              <a:t>a collaborative environment is essential. </a:t>
            </a:r>
          </a:p>
          <a:p>
            <a:r>
              <a:rPr lang="en-US" dirty="0"/>
              <a:t>Furthermore, centralization via an ERP system offers up-to-date information on a range of business-related topics. </a:t>
            </a:r>
          </a:p>
          <a:p>
            <a:r>
              <a:rPr lang="en-US" dirty="0"/>
              <a:t>Executives and managers have quick access to current information, allowing them to make well-informed decisions. </a:t>
            </a:r>
          </a:p>
          <a:p>
            <a:r>
              <a:rPr lang="en-US" dirty="0"/>
              <a:t>This adaptability enables businesses to swiftly adjust to new possibilities and challenges, which is a crucial factor in driving towards corporate success.</a:t>
            </a:r>
            <a:br>
              <a:rPr lang="en-US" dirty="0"/>
            </a:br>
            <a:endParaRPr lang="en-US" dirty="0"/>
          </a:p>
        </p:txBody>
      </p:sp>
    </p:spTree>
    <p:extLst>
      <p:ext uri="{BB962C8B-B14F-4D97-AF65-F5344CB8AC3E}">
        <p14:creationId xmlns:p14="http://schemas.microsoft.com/office/powerpoint/2010/main" val="23151522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648</TotalTime>
  <Words>7355</Words>
  <Application>Microsoft Office PowerPoint</Application>
  <PresentationFormat>Widescreen</PresentationFormat>
  <Paragraphs>465</Paragraphs>
  <Slides>73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73</vt:i4>
      </vt:variant>
    </vt:vector>
  </HeadingPairs>
  <TitlesOfParts>
    <vt:vector size="79" baseType="lpstr">
      <vt:lpstr>Arial</vt:lpstr>
      <vt:lpstr>Calibri</vt:lpstr>
      <vt:lpstr>Calibri Light</vt:lpstr>
      <vt:lpstr>Segoe UI</vt:lpstr>
      <vt:lpstr>Wingdings</vt:lpstr>
      <vt:lpstr>Office Theme</vt:lpstr>
      <vt:lpstr>Information System within Organizations</vt:lpstr>
      <vt:lpstr>Introduction</vt:lpstr>
      <vt:lpstr>PowerPoint Presentation</vt:lpstr>
      <vt:lpstr>PowerPoint Presentation</vt:lpstr>
      <vt:lpstr>Types of Information System</vt:lpstr>
      <vt:lpstr>PowerPoint Presentation</vt:lpstr>
      <vt:lpstr>System based on different Management Groups</vt:lpstr>
      <vt:lpstr>Transaction Processing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Systems based on major business functions (Functional Area Information Systems)</vt:lpstr>
      <vt:lpstr>PowerPoint Presentation</vt:lpstr>
      <vt:lpstr>PowerPoint Presentation</vt:lpstr>
      <vt:lpstr>Marketing Information Systems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Manufacturing and production information systems</vt:lpstr>
      <vt:lpstr>PowerPoint Presentation</vt:lpstr>
      <vt:lpstr>PowerPoint Presentation</vt:lpstr>
      <vt:lpstr>PowerPoint Presentation</vt:lpstr>
      <vt:lpstr>PowerPoint Presentation</vt:lpstr>
      <vt:lpstr>PowerPoint Presentation</vt:lpstr>
      <vt:lpstr>PowerPoint Presentation</vt:lpstr>
      <vt:lpstr>Financial and Accounting Information Systems</vt:lpstr>
      <vt:lpstr>PowerPoint Presentation</vt:lpstr>
      <vt:lpstr>PowerPoint Presentation</vt:lpstr>
      <vt:lpstr>PowerPoint Presentation</vt:lpstr>
      <vt:lpstr>PowerPoint Presentation</vt:lpstr>
      <vt:lpstr>Human resources information systems</vt:lpstr>
      <vt:lpstr>PowerPoint Presentation</vt:lpstr>
      <vt:lpstr>PowerPoint Presentation</vt:lpstr>
      <vt:lpstr>PowerPoint Presentation</vt:lpstr>
      <vt:lpstr>PowerPoint Presentation</vt:lpstr>
      <vt:lpstr>PowerPoint Presentation</vt:lpstr>
      <vt:lpstr>Quality Information System</vt:lpstr>
      <vt:lpstr>PowerPoint Presentation</vt:lpstr>
      <vt:lpstr>PowerPoint Presentation</vt:lpstr>
      <vt:lpstr>Implementation of best Practices &amp; Process Improvement</vt:lpstr>
      <vt:lpstr>PowerPoint Presentation</vt:lpstr>
      <vt:lpstr>PowerPoint Presentation</vt:lpstr>
      <vt:lpstr>PowerPoint Presentation</vt:lpstr>
      <vt:lpstr>Improvement in Internal Communications</vt:lpstr>
      <vt:lpstr>PowerPoint Presentation</vt:lpstr>
      <vt:lpstr>Enterprise Resource Planning Systems</vt:lpstr>
      <vt:lpstr>PowerPoint Presentation</vt:lpstr>
      <vt:lpstr>Key Features of ERP</vt:lpstr>
      <vt:lpstr>PowerPoint Presentation</vt:lpstr>
      <vt:lpstr>PowerPoint Presentation</vt:lpstr>
      <vt:lpstr>PowerPoint Presentation</vt:lpstr>
      <vt:lpstr>PowerPoint Presentation</vt:lpstr>
      <vt:lpstr>PowerPoint Presentation</vt:lpstr>
      <vt:lpstr>PowerPoint Presentation</vt:lpstr>
      <vt:lpstr>ERP Support for Business Process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System within Organizations</dc:title>
  <dc:creator>SUDIL</dc:creator>
  <cp:lastModifiedBy>Sudil</cp:lastModifiedBy>
  <cp:revision>127</cp:revision>
  <dcterms:created xsi:type="dcterms:W3CDTF">2025-01-03T15:30:18Z</dcterms:created>
  <dcterms:modified xsi:type="dcterms:W3CDTF">2025-07-28T04:11:17Z</dcterms:modified>
</cp:coreProperties>
</file>
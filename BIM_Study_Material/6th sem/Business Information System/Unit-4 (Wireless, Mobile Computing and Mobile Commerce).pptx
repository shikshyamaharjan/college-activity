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3E5F84-D5D1-4F0C-B12F-87974F1F5B13}"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2651178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3E5F84-D5D1-4F0C-B12F-87974F1F5B13}"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1083807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3E5F84-D5D1-4F0C-B12F-87974F1F5B13}"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3774368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3E5F84-D5D1-4F0C-B12F-87974F1F5B13}" type="datetimeFigureOut">
              <a:rPr lang="en-US" smtClean="0"/>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3444190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3E5F84-D5D1-4F0C-B12F-87974F1F5B13}" type="datetimeFigureOut">
              <a:rPr lang="en-US" smtClean="0"/>
              <a:t>12/21/2024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2873469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3E5F84-D5D1-4F0C-B12F-87974F1F5B13}" type="datetimeFigureOut">
              <a:rPr lang="en-US" smtClean="0"/>
              <a:t>12/21/2024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402365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3E5F84-D5D1-4F0C-B12F-87974F1F5B13}" type="datetimeFigureOut">
              <a:rPr lang="en-US" smtClean="0"/>
              <a:t>12/21/2024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3439100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3E5F84-D5D1-4F0C-B12F-87974F1F5B13}" type="datetimeFigureOut">
              <a:rPr lang="en-US" smtClean="0"/>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3203294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3E5F84-D5D1-4F0C-B12F-87974F1F5B13}" type="datetimeFigureOut">
              <a:rPr lang="en-US" smtClean="0"/>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3677764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3E5F84-D5D1-4F0C-B12F-87974F1F5B13}"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1629556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3E5F84-D5D1-4F0C-B12F-87974F1F5B13}" type="datetimeFigureOut">
              <a:rPr lang="en-US" smtClean="0"/>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94B2F-62C8-4463-999A-5827F778F1DF}" type="slidenum">
              <a:rPr lang="en-US" smtClean="0"/>
              <a:t>‹#›</a:t>
            </a:fld>
            <a:endParaRPr lang="en-US"/>
          </a:p>
        </p:txBody>
      </p:sp>
    </p:spTree>
    <p:extLst>
      <p:ext uri="{BB962C8B-B14F-4D97-AF65-F5344CB8AC3E}">
        <p14:creationId xmlns:p14="http://schemas.microsoft.com/office/powerpoint/2010/main" val="2345123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3E5F84-D5D1-4F0C-B12F-87974F1F5B13}" type="datetimeFigureOut">
              <a:rPr lang="en-US" smtClean="0"/>
              <a:t>12/21/2024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394B2F-62C8-4463-999A-5827F778F1DF}" type="slidenum">
              <a:rPr lang="en-US" smtClean="0"/>
              <a:t>‹#›</a:t>
            </a:fld>
            <a:endParaRPr lang="en-US"/>
          </a:p>
        </p:txBody>
      </p:sp>
    </p:spTree>
    <p:extLst>
      <p:ext uri="{BB962C8B-B14F-4D97-AF65-F5344CB8AC3E}">
        <p14:creationId xmlns:p14="http://schemas.microsoft.com/office/powerpoint/2010/main" val="311432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Wireless, Mobile Computing and Mobile Commerce</a:t>
            </a:r>
          </a:p>
        </p:txBody>
      </p:sp>
      <p:sp>
        <p:nvSpPr>
          <p:cNvPr id="3" name="Subtitle 2"/>
          <p:cNvSpPr>
            <a:spLocks noGrp="1"/>
          </p:cNvSpPr>
          <p:nvPr>
            <p:ph type="subTitle" idx="1"/>
          </p:nvPr>
        </p:nvSpPr>
        <p:spPr/>
        <p:txBody>
          <a:bodyPr/>
          <a:lstStyle/>
          <a:p>
            <a:r>
              <a:rPr lang="en-US" b="1" dirty="0"/>
              <a:t>Unit-4</a:t>
            </a:r>
          </a:p>
        </p:txBody>
      </p:sp>
    </p:spTree>
    <p:extLst>
      <p:ext uri="{BB962C8B-B14F-4D97-AF65-F5344CB8AC3E}">
        <p14:creationId xmlns:p14="http://schemas.microsoft.com/office/powerpoint/2010/main" val="781912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lstStyle/>
          <a:p>
            <a:r>
              <a:rPr lang="en-US" dirty="0"/>
              <a:t>In the fast-paced digital age, the integration of wireless technology, mobile computing, and mobile commerce has revolutionized the way we communicate, work, and conduct business. </a:t>
            </a:r>
          </a:p>
          <a:p>
            <a:r>
              <a:rPr lang="en-US" dirty="0"/>
              <a:t>Wireless communication traces its roots back to the late 19</a:t>
            </a:r>
            <a:r>
              <a:rPr lang="en-US" baseline="30000" dirty="0"/>
              <a:t>th</a:t>
            </a:r>
            <a:r>
              <a:rPr lang="en-US" dirty="0"/>
              <a:t> century with the invention of radio waves by Nikola Tesla and </a:t>
            </a:r>
            <a:r>
              <a:rPr lang="en-US" dirty="0" err="1"/>
              <a:t>Guglielmo</a:t>
            </a:r>
            <a:r>
              <a:rPr lang="en-US" dirty="0"/>
              <a:t> Marconi. </a:t>
            </a:r>
          </a:p>
          <a:p>
            <a:r>
              <a:rPr lang="en-US" dirty="0"/>
              <a:t>Since then, the field has seen exponential growth, with milestones including the development of cellular networks in the 1980s and the subsequent rise of technologies like Wi-Fi, Bluetooth, and </a:t>
            </a:r>
            <a:r>
              <a:rPr lang="en-US" b="1" dirty="0"/>
              <a:t>NFC (Near Field Communication)</a:t>
            </a:r>
            <a:r>
              <a:rPr lang="en-US" dirty="0"/>
              <a:t>.</a:t>
            </a:r>
          </a:p>
        </p:txBody>
      </p:sp>
    </p:spTree>
    <p:extLst>
      <p:ext uri="{BB962C8B-B14F-4D97-AF65-F5344CB8AC3E}">
        <p14:creationId xmlns:p14="http://schemas.microsoft.com/office/powerpoint/2010/main" val="3074114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05786"/>
            <a:ext cx="10515600" cy="5071177"/>
          </a:xfrm>
        </p:spPr>
        <p:txBody>
          <a:bodyPr/>
          <a:lstStyle/>
          <a:p>
            <a:r>
              <a:rPr lang="en-US" dirty="0"/>
              <a:t>Mobile computing refers to the use of portable computing devices, such as smartphones, tablets, and laptops, enabling users to access information and perform tasks on the go. </a:t>
            </a:r>
          </a:p>
          <a:p>
            <a:r>
              <a:rPr lang="en-US" dirty="0"/>
              <a:t>The beginning of smartphones, particularly with the introduction of the iPhone in 2007, marked a model shift in mobile computing, combining communication, computing, and entertainment into a single device. </a:t>
            </a:r>
          </a:p>
          <a:p>
            <a:r>
              <a:rPr lang="en-US" dirty="0"/>
              <a:t>Today, mobile computing has become universal, empowering users with anytime, anywhere access of applications and services.</a:t>
            </a:r>
          </a:p>
        </p:txBody>
      </p:sp>
    </p:spTree>
    <p:extLst>
      <p:ext uri="{BB962C8B-B14F-4D97-AF65-F5344CB8AC3E}">
        <p14:creationId xmlns:p14="http://schemas.microsoft.com/office/powerpoint/2010/main" val="1314945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8707"/>
            <a:ext cx="10515600" cy="5358256"/>
          </a:xfrm>
        </p:spPr>
        <p:txBody>
          <a:bodyPr/>
          <a:lstStyle/>
          <a:p>
            <a:r>
              <a:rPr lang="en-US" dirty="0"/>
              <a:t>Mobile commerce, or M-Commerce, includes the buying and selling of goods and services through mobile devices. </a:t>
            </a:r>
          </a:p>
          <a:p>
            <a:r>
              <a:rPr lang="en-US" dirty="0"/>
              <a:t>With the widespread adoption of smartphones and the internet, M-Commerce has witnessed exponential growth, transforming the way consumers shop and businesses operate. </a:t>
            </a:r>
          </a:p>
          <a:p>
            <a:r>
              <a:rPr lang="en-US" dirty="0"/>
              <a:t>From mobile banking and mobile payments to mobile ticketing and mobile shopping apps, M-Commerce has expanded the reach of E-Commerce, providing greater convenience and flexibility to consumers and merchants alike.</a:t>
            </a:r>
          </a:p>
        </p:txBody>
      </p:sp>
    </p:spTree>
    <p:extLst>
      <p:ext uri="{BB962C8B-B14F-4D97-AF65-F5344CB8AC3E}">
        <p14:creationId xmlns:p14="http://schemas.microsoft.com/office/powerpoint/2010/main" val="3744415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851"/>
            <a:ext cx="10515600" cy="5507112"/>
          </a:xfrm>
        </p:spPr>
        <p:txBody>
          <a:bodyPr>
            <a:normAutofit fontScale="92500"/>
          </a:bodyPr>
          <a:lstStyle/>
          <a:p>
            <a:r>
              <a:rPr lang="en-US" dirty="0"/>
              <a:t>The rollout of 5G networks promises faster speeds, lower latency, and greater bandwidth, paving the way for enhanced mobile experiences and enabling emerging technologies such as </a:t>
            </a:r>
            <a:r>
              <a:rPr lang="en-US" b="1" dirty="0"/>
              <a:t>Augmented Reality (AR)</a:t>
            </a:r>
            <a:r>
              <a:rPr lang="en-US" dirty="0"/>
              <a:t>, </a:t>
            </a:r>
            <a:r>
              <a:rPr lang="en-US" b="1" dirty="0"/>
              <a:t>Virtual Reality (VR)</a:t>
            </a:r>
            <a:r>
              <a:rPr lang="en-US" dirty="0"/>
              <a:t>, and the </a:t>
            </a:r>
            <a:r>
              <a:rPr lang="en-US" b="1" dirty="0"/>
              <a:t>Internet of Things (IoT)</a:t>
            </a:r>
            <a:r>
              <a:rPr lang="en-US" dirty="0"/>
              <a:t>. </a:t>
            </a:r>
          </a:p>
          <a:p>
            <a:r>
              <a:rPr lang="en-US" b="1" dirty="0"/>
              <a:t>IoT</a:t>
            </a:r>
            <a:r>
              <a:rPr lang="en-US" dirty="0"/>
              <a:t> devices, ranging from smart appliances to wearable gadgets, influence wireless connectivity to collect, exchange, and analyze data, revolutionizing industries such as healthcare, manufacturing, and transportation. </a:t>
            </a:r>
          </a:p>
          <a:p>
            <a:r>
              <a:rPr lang="en-US" dirty="0"/>
              <a:t>Likewise, the spread of mobile applications across various domains, including social media, gaming, productivity, and e-commerce, underscores the importance of mobile platforms in driving innovation and engagement. </a:t>
            </a:r>
          </a:p>
          <a:p>
            <a:r>
              <a:rPr lang="en-US" dirty="0"/>
              <a:t>From digital wallets and mobile banking apps to contactless payment solutions like Apple Pay and Google Pay, mobile payment technologies have simplified transactions and accelerated the transition towards a cashless society.</a:t>
            </a:r>
          </a:p>
        </p:txBody>
      </p:sp>
    </p:spTree>
    <p:extLst>
      <p:ext uri="{BB962C8B-B14F-4D97-AF65-F5344CB8AC3E}">
        <p14:creationId xmlns:p14="http://schemas.microsoft.com/office/powerpoint/2010/main" val="3279163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4158"/>
            <a:ext cx="10515600" cy="5602805"/>
          </a:xfrm>
        </p:spPr>
        <p:txBody>
          <a:bodyPr>
            <a:normAutofit fontScale="92500" lnSpcReduction="20000"/>
          </a:bodyPr>
          <a:lstStyle/>
          <a:p>
            <a:r>
              <a:rPr lang="en-US" dirty="0"/>
              <a:t>While wireless technology, mobile computing, and mobile commerce offer numerous benefits, they also present challenges related to security, privacy, inter operability, and digital divide. </a:t>
            </a:r>
          </a:p>
          <a:p>
            <a:r>
              <a:rPr lang="en-US" dirty="0"/>
              <a:t>Addressing these challenges requires concerted efforts from industry stakeholders, policymakers, and regulatory bodies. </a:t>
            </a:r>
          </a:p>
          <a:p>
            <a:r>
              <a:rPr lang="en-US" dirty="0"/>
              <a:t>Moreover, the ongoing advancements in Artificial Intelligence (AI), blockchain, and edge computing present opportunities for further innovation and disruption in these domains. </a:t>
            </a:r>
          </a:p>
          <a:p>
            <a:r>
              <a:rPr lang="en-US" dirty="0"/>
              <a:t>Looking ahead, the merging of wireless technology, mobile computing, and mobile commerce is composed to reshape industries, societies, and economies. </a:t>
            </a:r>
          </a:p>
          <a:p>
            <a:r>
              <a:rPr lang="en-US" dirty="0"/>
              <a:t>Emerging trends such as edge computing, 6G networks, and</a:t>
            </a:r>
            <a:r>
              <a:rPr lang="en-US" dirty="0">
                <a:effectLst/>
              </a:rPr>
              <a:t> immersive technologies hold the promise of even greater connectivity, efficiency, and</a:t>
            </a:r>
            <a:r>
              <a:rPr lang="en-US" dirty="0"/>
              <a:t/>
            </a:r>
            <a:br>
              <a:rPr lang="en-US" dirty="0"/>
            </a:br>
            <a:r>
              <a:rPr lang="en-US" dirty="0"/>
              <a:t>personalized experiences. </a:t>
            </a:r>
          </a:p>
          <a:p>
            <a:r>
              <a:rPr lang="en-US" dirty="0"/>
              <a:t>As these technologies continue to evolve, they will definitely shape the future of how we live, work, and interact in an increasingly interconnected world.</a:t>
            </a:r>
          </a:p>
        </p:txBody>
      </p:sp>
    </p:spTree>
    <p:extLst>
      <p:ext uri="{BB962C8B-B14F-4D97-AF65-F5344CB8AC3E}">
        <p14:creationId xmlns:p14="http://schemas.microsoft.com/office/powerpoint/2010/main" val="925831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Wireless Computer Networks and Internet Access</a:t>
            </a:r>
            <a:endParaRPr lang="en-US" sz="4000" dirty="0"/>
          </a:p>
        </p:txBody>
      </p:sp>
      <p:sp>
        <p:nvSpPr>
          <p:cNvPr id="3" name="Content Placeholder 2"/>
          <p:cNvSpPr>
            <a:spLocks noGrp="1"/>
          </p:cNvSpPr>
          <p:nvPr>
            <p:ph idx="1"/>
          </p:nvPr>
        </p:nvSpPr>
        <p:spPr/>
        <p:txBody>
          <a:bodyPr>
            <a:normAutofit fontScale="85000" lnSpcReduction="10000"/>
          </a:bodyPr>
          <a:lstStyle/>
          <a:p>
            <a:r>
              <a:rPr lang="en-US" dirty="0"/>
              <a:t>Wireless computer networks have become omnipresent in today’s digital age, enabling seamless connectivity and access to the vast resources of the internet. </a:t>
            </a:r>
          </a:p>
          <a:p>
            <a:r>
              <a:rPr lang="en-US" dirty="0"/>
              <a:t>Wireless computer networks and internet access have become essential utilities, as vital as electricity and running water. </a:t>
            </a:r>
          </a:p>
          <a:p>
            <a:r>
              <a:rPr lang="en-US" dirty="0"/>
              <a:t>From homes to businesses, educational institutions to public spaces, wireless networks have revolutionized the way we communicate, collaborate, and access</a:t>
            </a:r>
            <a:br>
              <a:rPr lang="en-US" dirty="0"/>
            </a:br>
            <a:r>
              <a:rPr lang="en-US" dirty="0"/>
              <a:t>information. </a:t>
            </a:r>
          </a:p>
          <a:p>
            <a:r>
              <a:rPr lang="en-US" dirty="0"/>
              <a:t>Wireless computer networks and internet access have revolutionized the way</a:t>
            </a:r>
            <a:br>
              <a:rPr lang="en-US" dirty="0"/>
            </a:br>
            <a:r>
              <a:rPr lang="en-US" dirty="0"/>
              <a:t>we connect, communicate, and access information. </a:t>
            </a:r>
          </a:p>
          <a:p>
            <a:r>
              <a:rPr lang="en-US" dirty="0"/>
              <a:t>From staying in touch with loved ones to conducting business and pursuing entertainment, these technologies have woven themselves into the fabric of our daily lives.</a:t>
            </a:r>
          </a:p>
        </p:txBody>
      </p:sp>
    </p:spTree>
    <p:extLst>
      <p:ext uri="{BB962C8B-B14F-4D97-AF65-F5344CB8AC3E}">
        <p14:creationId xmlns:p14="http://schemas.microsoft.com/office/powerpoint/2010/main" val="2516787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338"/>
            <a:ext cx="10515600" cy="6400800"/>
          </a:xfrm>
        </p:spPr>
        <p:txBody>
          <a:bodyPr>
            <a:normAutofit fontScale="92500"/>
          </a:bodyPr>
          <a:lstStyle/>
          <a:p>
            <a:r>
              <a:rPr lang="en-US" dirty="0"/>
              <a:t>Wireless networking traces its roots back to the late 20th century when the IEEE 802.11 standard, commonly known as Wi-Fi, emerged as the cornerstone of wireless communication. </a:t>
            </a:r>
          </a:p>
          <a:p>
            <a:r>
              <a:rPr lang="en-US" dirty="0"/>
              <a:t>Since then, wireless networks have evolved through multiple generations,</a:t>
            </a:r>
            <a:br>
              <a:rPr lang="en-US" dirty="0"/>
            </a:br>
            <a:r>
              <a:rPr lang="en-US" dirty="0"/>
              <a:t>each offering improved speed, coverage, and reliability. </a:t>
            </a:r>
          </a:p>
          <a:p>
            <a:r>
              <a:rPr lang="en-US" dirty="0"/>
              <a:t>The evolution includes:</a:t>
            </a:r>
          </a:p>
          <a:p>
            <a:pPr lvl="1"/>
            <a:r>
              <a:rPr lang="en-US" b="1" dirty="0"/>
              <a:t>1G, 2G, 3G, and 4G: </a:t>
            </a:r>
          </a:p>
          <a:p>
            <a:pPr lvl="2"/>
            <a:r>
              <a:rPr lang="en-US" dirty="0"/>
              <a:t>These cellular network technologies laid the foundation for wireless communication, primarily focused on voice calls and text messaging. </a:t>
            </a:r>
          </a:p>
          <a:p>
            <a:pPr lvl="2"/>
            <a:r>
              <a:rPr lang="en-US" dirty="0"/>
              <a:t>They provided basic internet access but with limited bandwidth and speed.</a:t>
            </a:r>
          </a:p>
          <a:p>
            <a:pPr lvl="1"/>
            <a:r>
              <a:rPr lang="en-US" b="1" dirty="0"/>
              <a:t>Wi-Fi Standards: </a:t>
            </a:r>
          </a:p>
          <a:p>
            <a:pPr lvl="2"/>
            <a:r>
              <a:rPr lang="en-US" dirty="0"/>
              <a:t>The IEEE 802.11 family of standards introduced various iterations like 802.11a, 802.11b, 802.11g, 802.11n, 802.11ac, and the latest 802.11ax (Wi-Fi 6). </a:t>
            </a:r>
          </a:p>
          <a:p>
            <a:pPr lvl="2"/>
            <a:r>
              <a:rPr lang="en-US" dirty="0"/>
              <a:t>Each iteration brought advancements in speed, range, and efficiency, catering to the increasing demand for wireless internet access.</a:t>
            </a:r>
          </a:p>
          <a:p>
            <a:pPr lvl="1"/>
            <a:r>
              <a:rPr lang="en-US" b="1" dirty="0"/>
              <a:t>Mobile Broadband: </a:t>
            </a:r>
          </a:p>
          <a:p>
            <a:pPr lvl="2"/>
            <a:r>
              <a:rPr lang="en-US" dirty="0"/>
              <a:t>Technologies like 3G, 4G LTE, and now 5G have revolutionized mobile internet access, offering high-speed data connectivity on smartphones, tablets, and other mobile devices.</a:t>
            </a:r>
          </a:p>
        </p:txBody>
      </p:sp>
    </p:spTree>
    <p:extLst>
      <p:ext uri="{BB962C8B-B14F-4D97-AF65-F5344CB8AC3E}">
        <p14:creationId xmlns:p14="http://schemas.microsoft.com/office/powerpoint/2010/main" val="2700042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0874"/>
            <a:ext cx="10515600" cy="6379535"/>
          </a:xfrm>
        </p:spPr>
        <p:txBody>
          <a:bodyPr>
            <a:normAutofit/>
          </a:bodyPr>
          <a:lstStyle/>
          <a:p>
            <a:r>
              <a:rPr lang="en-US" dirty="0"/>
              <a:t>Several key technologies enable wireless computer networks and internet access:</a:t>
            </a:r>
          </a:p>
          <a:p>
            <a:pPr lvl="1"/>
            <a:r>
              <a:rPr lang="en-US" b="1" dirty="0"/>
              <a:t>Radio Frequency (RF) Communication: </a:t>
            </a:r>
          </a:p>
          <a:p>
            <a:pPr lvl="2"/>
            <a:r>
              <a:rPr lang="en-US" dirty="0"/>
              <a:t>Wireless networks rely on RF signals to transmit data between devices and access points. </a:t>
            </a:r>
          </a:p>
          <a:p>
            <a:pPr lvl="2"/>
            <a:r>
              <a:rPr lang="en-US" dirty="0"/>
              <a:t>These signals operate within specific frequency bands allocated by regulatory authorities.</a:t>
            </a:r>
          </a:p>
          <a:p>
            <a:pPr lvl="1"/>
            <a:r>
              <a:rPr lang="en-US" b="1" dirty="0"/>
              <a:t>Modulation Techniques: </a:t>
            </a:r>
          </a:p>
          <a:p>
            <a:pPr lvl="2"/>
            <a:r>
              <a:rPr lang="en-US" dirty="0"/>
              <a:t>Techniques like Phase Shift Keying (PSK) and Quadrature Amplitude Modulation (QAM) modulate digital data onto analog RF signals, enabling efficient transmission and reception.</a:t>
            </a:r>
          </a:p>
          <a:p>
            <a:pPr lvl="1"/>
            <a:r>
              <a:rPr lang="en-US" b="1" dirty="0"/>
              <a:t>Multiple Access Schemes: </a:t>
            </a:r>
          </a:p>
          <a:p>
            <a:pPr lvl="2"/>
            <a:r>
              <a:rPr lang="en-US" dirty="0"/>
              <a:t>Technologies like Frequency Division Multiple Access (FDMA), Time Division Multiple Access (TDMA), Code Division Multiple Access (CDMA), and Orthogonal Frequency Division Multiple Access (OFDMA) enable multiple users to share the same wireless spectrum efficiently.</a:t>
            </a:r>
          </a:p>
          <a:p>
            <a:pPr lvl="1"/>
            <a:r>
              <a:rPr lang="en-US" b="1" dirty="0"/>
              <a:t>MIMO (Multiple Input Multiple Output): </a:t>
            </a:r>
          </a:p>
          <a:p>
            <a:pPr lvl="2"/>
            <a:r>
              <a:rPr lang="en-US" dirty="0"/>
              <a:t>MIMO technology utilizes multiple antennas for both transmission and reception, enhancing throughput, range, and reliability in wireless networks.</a:t>
            </a:r>
          </a:p>
        </p:txBody>
      </p:sp>
    </p:spTree>
    <p:extLst>
      <p:ext uri="{BB962C8B-B14F-4D97-AF65-F5344CB8AC3E}">
        <p14:creationId xmlns:p14="http://schemas.microsoft.com/office/powerpoint/2010/main" val="2376416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3404"/>
            <a:ext cx="10515600" cy="6347637"/>
          </a:xfrm>
        </p:spPr>
        <p:txBody>
          <a:bodyPr>
            <a:normAutofit fontScale="92500" lnSpcReduction="10000"/>
          </a:bodyPr>
          <a:lstStyle/>
          <a:p>
            <a:r>
              <a:rPr lang="en-US" dirty="0"/>
              <a:t>Wireless computer networks facilitate a wide range of applications across various sectors:</a:t>
            </a:r>
          </a:p>
          <a:p>
            <a:r>
              <a:rPr lang="en-US" dirty="0"/>
              <a:t> </a:t>
            </a:r>
            <a:r>
              <a:rPr lang="en-US" b="1" dirty="0"/>
              <a:t>Home Networking: </a:t>
            </a:r>
          </a:p>
          <a:p>
            <a:pPr lvl="1"/>
            <a:r>
              <a:rPr lang="en-US" dirty="0"/>
              <a:t>Wi-Fi enables households to connect multiple devices like smartphones, laptops, smart TVs, and </a:t>
            </a:r>
            <a:r>
              <a:rPr lang="en-US" dirty="0" err="1"/>
              <a:t>IoT</a:t>
            </a:r>
            <a:r>
              <a:rPr lang="en-US" dirty="0"/>
              <a:t> devices to a single internet connection, fostering digital entertainment, home automation, and communication.</a:t>
            </a:r>
          </a:p>
          <a:p>
            <a:r>
              <a:rPr lang="en-US" b="1" dirty="0"/>
              <a:t>Business Networks: </a:t>
            </a:r>
          </a:p>
          <a:p>
            <a:pPr lvl="1"/>
            <a:r>
              <a:rPr lang="en-US" dirty="0"/>
              <a:t>Wireless networks empower businesses with flexible connectivity, allowing employees to work from anywhere within the office premises. </a:t>
            </a:r>
          </a:p>
          <a:p>
            <a:pPr lvl="1"/>
            <a:r>
              <a:rPr lang="en-US" dirty="0"/>
              <a:t>They support applications like video conferencing, file sharing, and cloud-based services, enhancing productivity and collaboration.</a:t>
            </a:r>
          </a:p>
          <a:p>
            <a:r>
              <a:rPr lang="en-US" b="1" dirty="0"/>
              <a:t>Education: </a:t>
            </a:r>
          </a:p>
          <a:p>
            <a:pPr lvl="1"/>
            <a:r>
              <a:rPr lang="en-US" dirty="0"/>
              <a:t>Wireless networks in educational institutions facilitate e-learning initiatives, online research, and collaborative projects among students and faculty members.</a:t>
            </a:r>
          </a:p>
          <a:p>
            <a:r>
              <a:rPr lang="en-US" b="1" dirty="0"/>
              <a:t>Public Wi-Fi: </a:t>
            </a:r>
          </a:p>
          <a:p>
            <a:pPr lvl="1"/>
            <a:r>
              <a:rPr lang="en-US" dirty="0"/>
              <a:t>Public places like airports, cafes, parks, and libraries offer Wi-Fi hotspots for visitors to access the internet on their devices, enabling connectivity on the go.</a:t>
            </a:r>
          </a:p>
        </p:txBody>
      </p:sp>
    </p:spTree>
    <p:extLst>
      <p:ext uri="{BB962C8B-B14F-4D97-AF65-F5344CB8AC3E}">
        <p14:creationId xmlns:p14="http://schemas.microsoft.com/office/powerpoint/2010/main" val="3431478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4670"/>
            <a:ext cx="10515600" cy="6166883"/>
          </a:xfrm>
        </p:spPr>
        <p:txBody>
          <a:bodyPr>
            <a:normAutofit fontScale="92500" lnSpcReduction="10000"/>
          </a:bodyPr>
          <a:lstStyle/>
          <a:p>
            <a:r>
              <a:rPr lang="en-US" dirty="0"/>
              <a:t>Despite their numerous benefits, wireless networks pose certain challenges and security concerns:</a:t>
            </a:r>
          </a:p>
          <a:p>
            <a:r>
              <a:rPr lang="en-US" b="1" dirty="0"/>
              <a:t>Interference: </a:t>
            </a:r>
          </a:p>
          <a:p>
            <a:pPr lvl="1"/>
            <a:r>
              <a:rPr lang="en-US" dirty="0"/>
              <a:t>Wireless signals are susceptible to interference from other electronic devices, physical obstacles, and environmental factors, affecting signal quality and reliability.</a:t>
            </a:r>
          </a:p>
          <a:p>
            <a:r>
              <a:rPr lang="en-US" b="1" dirty="0"/>
              <a:t>Security Risks: </a:t>
            </a:r>
          </a:p>
          <a:p>
            <a:pPr lvl="1"/>
            <a:r>
              <a:rPr lang="en-US" dirty="0"/>
              <a:t>Wireless networks are vulnerable to security threats like unauthorized access, data interception, and malware attacks. </a:t>
            </a:r>
          </a:p>
          <a:p>
            <a:pPr lvl="1"/>
            <a:r>
              <a:rPr lang="en-US" dirty="0"/>
              <a:t>Encryption protocols like WPA2, WPA3, and VPNs are essential for securing wireless</a:t>
            </a:r>
            <a:br>
              <a:rPr lang="en-US" dirty="0"/>
            </a:br>
            <a:r>
              <a:rPr lang="en-US" dirty="0"/>
              <a:t>communications.</a:t>
            </a:r>
          </a:p>
          <a:p>
            <a:r>
              <a:rPr lang="en-US" b="1" dirty="0"/>
              <a:t>Bandwidth Limitations: </a:t>
            </a:r>
          </a:p>
          <a:p>
            <a:pPr lvl="1"/>
            <a:r>
              <a:rPr lang="en-US" dirty="0"/>
              <a:t>Wireless networks share limited bandwidth among multiple users, leading to congestion and reduced speeds, especially in densely populated areas.</a:t>
            </a:r>
          </a:p>
          <a:p>
            <a:r>
              <a:rPr lang="en-US" b="1" dirty="0"/>
              <a:t>Coverage and Range: </a:t>
            </a:r>
          </a:p>
          <a:p>
            <a:pPr lvl="1"/>
            <a:r>
              <a:rPr lang="en-US" dirty="0"/>
              <a:t>The coverage area and range of wireless networks depend on factors like antenna design, transmit power, and interference, requiring careful planning for optimal coverage.</a:t>
            </a:r>
          </a:p>
        </p:txBody>
      </p:sp>
    </p:spTree>
    <p:extLst>
      <p:ext uri="{BB962C8B-B14F-4D97-AF65-F5344CB8AC3E}">
        <p14:creationId xmlns:p14="http://schemas.microsoft.com/office/powerpoint/2010/main" val="1157490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7833"/>
            <a:ext cx="10515600" cy="5709130"/>
          </a:xfrm>
        </p:spPr>
        <p:txBody>
          <a:bodyPr>
            <a:normAutofit lnSpcReduction="10000"/>
          </a:bodyPr>
          <a:lstStyle/>
          <a:p>
            <a:r>
              <a:rPr lang="en-US" dirty="0"/>
              <a:t>The future of wireless networks and internet access is composed for further advancements:</a:t>
            </a:r>
          </a:p>
          <a:p>
            <a:r>
              <a:rPr lang="en-US" b="1" dirty="0"/>
              <a:t>5G and Beyond: </a:t>
            </a:r>
          </a:p>
          <a:p>
            <a:pPr lvl="1"/>
            <a:r>
              <a:rPr lang="en-US" dirty="0"/>
              <a:t>The rollout of 5G networks promises ultra-fast speeds, low latency, and massive connectivity, enabling futuristic applications like autonomous vehicles, augmented reality, and the Internet of Things (</a:t>
            </a:r>
            <a:r>
              <a:rPr lang="en-US" dirty="0" err="1"/>
              <a:t>IoT</a:t>
            </a:r>
            <a:r>
              <a:rPr lang="en-US" dirty="0"/>
              <a:t>).</a:t>
            </a:r>
          </a:p>
          <a:p>
            <a:r>
              <a:rPr lang="en-US" b="1" dirty="0"/>
              <a:t>Wi-Fi 6 and Beyond: </a:t>
            </a:r>
          </a:p>
          <a:p>
            <a:pPr lvl="1"/>
            <a:r>
              <a:rPr lang="en-US" dirty="0"/>
              <a:t>Wi-Fi 6 and its successors will continue to enhance wireless connectivity with features like higher throughput, improved spectrum utilization, and better support for dense deployments.</a:t>
            </a:r>
          </a:p>
          <a:p>
            <a:r>
              <a:rPr lang="en-US" b="1" dirty="0"/>
              <a:t>Edge Computing: </a:t>
            </a:r>
          </a:p>
          <a:p>
            <a:pPr lvl="1"/>
            <a:r>
              <a:rPr lang="en-US" dirty="0"/>
              <a:t>Edge computing combined with wireless networks will bring computing resources closer to end-users, enabling faster response times and supporting latency-sensitive applications.</a:t>
            </a:r>
            <a:br>
              <a:rPr lang="en-US" dirty="0"/>
            </a:br>
            <a:endParaRPr lang="en-US" dirty="0"/>
          </a:p>
        </p:txBody>
      </p:sp>
    </p:spTree>
    <p:extLst>
      <p:ext uri="{BB962C8B-B14F-4D97-AF65-F5344CB8AC3E}">
        <p14:creationId xmlns:p14="http://schemas.microsoft.com/office/powerpoint/2010/main" val="32899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3647"/>
            <a:ext cx="10515600" cy="5443316"/>
          </a:xfrm>
        </p:spPr>
        <p:txBody>
          <a:bodyPr/>
          <a:lstStyle/>
          <a:p>
            <a:r>
              <a:rPr lang="en-US" dirty="0"/>
              <a:t>Wireless computer networks and internet access have become indispensable in modern society, enabling connectivity, communication, and innovation across various domains. </a:t>
            </a:r>
          </a:p>
          <a:p>
            <a:r>
              <a:rPr lang="en-US" dirty="0"/>
              <a:t>As technology continues to evolve, wireless networks will play a crucial role in shaping the future of digital connectivity, driving economic growth, and transforming the way we live, work, and interact. </a:t>
            </a:r>
          </a:p>
          <a:p>
            <a:r>
              <a:rPr lang="en-US" dirty="0"/>
              <a:t>However, addressing challenges like security, scalability, and spectrum management will be paramount to realizing the full potential of wireless communication technologies.</a:t>
            </a:r>
            <a:br>
              <a:rPr lang="en-US" dirty="0"/>
            </a:br>
            <a:endParaRPr lang="en-US" dirty="0"/>
          </a:p>
        </p:txBody>
      </p:sp>
    </p:spTree>
    <p:extLst>
      <p:ext uri="{BB962C8B-B14F-4D97-AF65-F5344CB8AC3E}">
        <p14:creationId xmlns:p14="http://schemas.microsoft.com/office/powerpoint/2010/main" val="1621292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098"/>
            <a:ext cx="10515600" cy="900149"/>
          </a:xfrm>
        </p:spPr>
        <p:txBody>
          <a:bodyPr/>
          <a:lstStyle/>
          <a:p>
            <a:r>
              <a:rPr lang="en-US" b="1" dirty="0"/>
              <a:t>Wireless Technologies</a:t>
            </a:r>
          </a:p>
        </p:txBody>
      </p:sp>
      <p:sp>
        <p:nvSpPr>
          <p:cNvPr id="3" name="Content Placeholder 2"/>
          <p:cNvSpPr>
            <a:spLocks noGrp="1"/>
          </p:cNvSpPr>
          <p:nvPr>
            <p:ph idx="1"/>
          </p:nvPr>
        </p:nvSpPr>
        <p:spPr>
          <a:xfrm>
            <a:off x="838200" y="1041987"/>
            <a:ext cx="10515600" cy="5422604"/>
          </a:xfrm>
        </p:spPr>
        <p:txBody>
          <a:bodyPr>
            <a:normAutofit/>
          </a:bodyPr>
          <a:lstStyle/>
          <a:p>
            <a:r>
              <a:rPr lang="en-US" b="1" dirty="0"/>
              <a:t>ADSL</a:t>
            </a:r>
            <a:r>
              <a:rPr lang="en-US" dirty="0"/>
              <a:t/>
            </a:r>
            <a:br>
              <a:rPr lang="en-US" dirty="0"/>
            </a:br>
            <a:r>
              <a:rPr lang="en-US" b="1" dirty="0" err="1"/>
              <a:t>ADSL</a:t>
            </a:r>
            <a:r>
              <a:rPr lang="en-US" dirty="0"/>
              <a:t>, or </a:t>
            </a:r>
            <a:r>
              <a:rPr lang="en-US" b="1" dirty="0"/>
              <a:t>Asymmetric Digital Subscriber Line</a:t>
            </a:r>
            <a:r>
              <a:rPr lang="en-US" dirty="0"/>
              <a:t>, is a type of broadband internet connection technology that uses existing copper telephone lines to provide high-speed internet access to homes and businesses.</a:t>
            </a:r>
          </a:p>
          <a:p>
            <a:r>
              <a:rPr lang="en-US" dirty="0"/>
              <a:t>It is called "asymmetric" because it offers different upload and download speeds, with download speeds typically faster than upload speeds. </a:t>
            </a:r>
          </a:p>
          <a:p>
            <a:r>
              <a:rPr lang="en-US" dirty="0"/>
              <a:t>Key features and characteristics of ADSL are explained below:</a:t>
            </a:r>
          </a:p>
          <a:p>
            <a:r>
              <a:rPr lang="en-US" b="1" dirty="0"/>
              <a:t>Asymmetry: </a:t>
            </a:r>
          </a:p>
          <a:p>
            <a:pPr lvl="1"/>
            <a:r>
              <a:rPr lang="en-US" dirty="0"/>
              <a:t>ADSL provides faster download speeds compared to upload speeds. </a:t>
            </a:r>
          </a:p>
          <a:p>
            <a:pPr lvl="1"/>
            <a:r>
              <a:rPr lang="en-US" dirty="0"/>
              <a:t>This is suitable for most internet users since the typical internet usage involves more downloading (e.g., web browsing, streaming, downloading files) than uploading (e.g., sending emails, uploading files to the internet).</a:t>
            </a:r>
          </a:p>
        </p:txBody>
      </p:sp>
    </p:spTree>
    <p:extLst>
      <p:ext uri="{BB962C8B-B14F-4D97-AF65-F5344CB8AC3E}">
        <p14:creationId xmlns:p14="http://schemas.microsoft.com/office/powerpoint/2010/main" val="1349256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5302"/>
            <a:ext cx="10515600" cy="6188149"/>
          </a:xfrm>
        </p:spPr>
        <p:txBody>
          <a:bodyPr>
            <a:normAutofit fontScale="92500" lnSpcReduction="20000"/>
          </a:bodyPr>
          <a:lstStyle/>
          <a:p>
            <a:r>
              <a:rPr lang="en-US" b="1" dirty="0"/>
              <a:t>Existing Copper Lines: </a:t>
            </a:r>
          </a:p>
          <a:p>
            <a:pPr lvl="1"/>
            <a:r>
              <a:rPr lang="en-US" dirty="0"/>
              <a:t>ADSL utilizes the existing copper telephone lines that are already in place in many homes and businesses. </a:t>
            </a:r>
          </a:p>
          <a:p>
            <a:pPr lvl="1"/>
            <a:r>
              <a:rPr lang="en-US" dirty="0"/>
              <a:t>This means that no additional infrastructure is needed for most installations, which can make it a cost-effective choice.</a:t>
            </a:r>
          </a:p>
          <a:p>
            <a:r>
              <a:rPr lang="en-US" b="1" dirty="0"/>
              <a:t>Frequency Separation: </a:t>
            </a:r>
          </a:p>
          <a:p>
            <a:pPr lvl="1"/>
            <a:r>
              <a:rPr lang="en-US" dirty="0"/>
              <a:t>ADSL works by separating the voice and data signals over the same telephone line by using different frequency bands. </a:t>
            </a:r>
          </a:p>
          <a:p>
            <a:pPr lvl="1"/>
            <a:r>
              <a:rPr lang="en-US" dirty="0"/>
              <a:t>Voice signals use a lower frequency band, while data signals use a higher frequency band.</a:t>
            </a:r>
          </a:p>
          <a:p>
            <a:r>
              <a:rPr lang="en-US" b="1" dirty="0"/>
              <a:t>DSL Modem: </a:t>
            </a:r>
          </a:p>
          <a:p>
            <a:pPr lvl="1"/>
            <a:r>
              <a:rPr lang="en-US" dirty="0"/>
              <a:t>To use ADSL, customers need a DSL modem, also known as an ADSL modem or router. </a:t>
            </a:r>
          </a:p>
          <a:p>
            <a:pPr lvl="1"/>
            <a:r>
              <a:rPr lang="en-US" dirty="0"/>
              <a:t>This modem connects to the telephone line and converts the digital data from the internet into a format that can be used by devices in the home or office.</a:t>
            </a:r>
          </a:p>
          <a:p>
            <a:r>
              <a:rPr lang="en-US" b="1" dirty="0"/>
              <a:t>Download and Upload Speeds: </a:t>
            </a:r>
          </a:p>
          <a:p>
            <a:pPr lvl="1"/>
            <a:r>
              <a:rPr lang="en-US" dirty="0"/>
              <a:t>ADSL speeds can vary based on several factors, including the quality of the copper lines and the distance between the customer's location and the telephone exchange. </a:t>
            </a:r>
          </a:p>
          <a:p>
            <a:pPr lvl="1"/>
            <a:r>
              <a:rPr lang="en-US" dirty="0"/>
              <a:t>In general, download speeds can range from a few megabits per second (Mbps) to around 24 Mbps, while upload speeds are usually slower, ranging from several hundred kilobits per </a:t>
            </a:r>
            <a:r>
              <a:rPr lang="en-US" dirty="0">
                <a:effectLst/>
              </a:rPr>
              <a:t>second (Kbps) to a few Mbps.</a:t>
            </a:r>
            <a:endParaRPr lang="en-US" dirty="0"/>
          </a:p>
        </p:txBody>
      </p:sp>
    </p:spTree>
    <p:extLst>
      <p:ext uri="{BB962C8B-B14F-4D97-AF65-F5344CB8AC3E}">
        <p14:creationId xmlns:p14="http://schemas.microsoft.com/office/powerpoint/2010/main" val="810074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5302"/>
            <a:ext cx="10515600" cy="5751661"/>
          </a:xfrm>
        </p:spPr>
        <p:txBody>
          <a:bodyPr>
            <a:normAutofit fontScale="92500" lnSpcReduction="10000"/>
          </a:bodyPr>
          <a:lstStyle/>
          <a:p>
            <a:r>
              <a:rPr lang="en-US" b="1" dirty="0"/>
              <a:t>Availability: </a:t>
            </a:r>
          </a:p>
          <a:p>
            <a:pPr lvl="1"/>
            <a:r>
              <a:rPr lang="en-US" dirty="0"/>
              <a:t>ADSL is widely available in many regions, including urban, suburban, and rural areas. </a:t>
            </a:r>
          </a:p>
          <a:p>
            <a:pPr lvl="1"/>
            <a:r>
              <a:rPr lang="en-US" dirty="0"/>
              <a:t>It has been a popular choice for providing internet access in locations where other high-speed options like fiber-optic or cable internet are not available.</a:t>
            </a:r>
          </a:p>
          <a:p>
            <a:r>
              <a:rPr lang="en-US" b="1" dirty="0"/>
              <a:t>Limited by Distance: </a:t>
            </a:r>
          </a:p>
          <a:p>
            <a:pPr lvl="1"/>
            <a:r>
              <a:rPr lang="en-US" dirty="0"/>
              <a:t>One of the limitations of ADSL is that the speed and quality of the connection can degrade significantly with distance from the telephone exchange. </a:t>
            </a:r>
          </a:p>
          <a:p>
            <a:pPr lvl="1"/>
            <a:r>
              <a:rPr lang="en-US" dirty="0"/>
              <a:t>Customers located closer to the exchange generally experience faster and more stable connections.</a:t>
            </a:r>
          </a:p>
          <a:p>
            <a:r>
              <a:rPr lang="en-US" b="1" dirty="0"/>
              <a:t>ADSL Variants: </a:t>
            </a:r>
          </a:p>
          <a:p>
            <a:pPr lvl="1"/>
            <a:r>
              <a:rPr lang="en-US" dirty="0"/>
              <a:t>There are different variants of ADSL, including ADSL, ADSL2, and ADSL2+, each offering improvements in speed and performance.</a:t>
            </a:r>
          </a:p>
          <a:p>
            <a:pPr lvl="1"/>
            <a:r>
              <a:rPr lang="en-US" dirty="0"/>
              <a:t>ADSL2+ is one of the faster variants, providing higher download and upload</a:t>
            </a:r>
            <a:br>
              <a:rPr lang="en-US" dirty="0"/>
            </a:br>
            <a:r>
              <a:rPr lang="en-US" dirty="0"/>
              <a:t>speeds compared to basic ADSL.</a:t>
            </a:r>
          </a:p>
          <a:p>
            <a:r>
              <a:rPr lang="en-US" b="1" dirty="0"/>
              <a:t>Cost-Effective: </a:t>
            </a:r>
          </a:p>
          <a:p>
            <a:pPr lvl="1"/>
            <a:r>
              <a:rPr lang="en-US" dirty="0"/>
              <a:t>ADSL is often considered a cost-effective internet option, especially for users with moderate internet needs who do not require extremely high speeds.</a:t>
            </a:r>
          </a:p>
        </p:txBody>
      </p:sp>
    </p:spTree>
    <p:extLst>
      <p:ext uri="{BB962C8B-B14F-4D97-AF65-F5344CB8AC3E}">
        <p14:creationId xmlns:p14="http://schemas.microsoft.com/office/powerpoint/2010/main" val="358395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0F1A6B-8079-17B5-BA04-F568561D0DDA}"/>
              </a:ext>
            </a:extLst>
          </p:cNvPr>
          <p:cNvSpPr>
            <a:spLocks noGrp="1"/>
          </p:cNvSpPr>
          <p:nvPr>
            <p:ph idx="1"/>
          </p:nvPr>
        </p:nvSpPr>
        <p:spPr>
          <a:xfrm>
            <a:off x="838200" y="773723"/>
            <a:ext cx="10515600" cy="5403240"/>
          </a:xfrm>
        </p:spPr>
        <p:txBody>
          <a:bodyPr>
            <a:normAutofit/>
          </a:bodyPr>
          <a:lstStyle/>
          <a:p>
            <a:r>
              <a:rPr lang="en-US" dirty="0">
                <a:effectLst/>
                <a:latin typeface="Calibri" panose="020F0502020204030204" pitchFamily="34" charset="0"/>
                <a:ea typeface="Calibri" panose="020F0502020204030204" pitchFamily="34" charset="0"/>
              </a:rPr>
              <a:t>In Nepal, ADSL (Asymmetric Digital Subscriber Line) has been a widely used and popular broadband internet technology, especially in areas where fiber-optic or cable internet infrastructure is not readily available.</a:t>
            </a:r>
          </a:p>
          <a:p>
            <a:r>
              <a:rPr lang="en-US" dirty="0">
                <a:effectLst/>
                <a:latin typeface="Calibri" panose="020F0502020204030204" pitchFamily="34" charset="0"/>
                <a:ea typeface="Calibri" panose="020F0502020204030204" pitchFamily="34" charset="0"/>
              </a:rPr>
              <a:t>Nepal Telecom, the government-owned telecommunications company in Nepal, has been a prominent provider of ADSL services in the country. </a:t>
            </a:r>
          </a:p>
          <a:p>
            <a:r>
              <a:rPr lang="en-US" dirty="0">
                <a:effectLst/>
                <a:latin typeface="Calibri" panose="020F0502020204030204" pitchFamily="34" charset="0"/>
                <a:ea typeface="Calibri" panose="020F0502020204030204" pitchFamily="34" charset="0"/>
              </a:rPr>
              <a:t>NTC's ADSL service has been widely adopted, particularly in urban and suburban areas. </a:t>
            </a:r>
            <a:endParaRPr lang="en-US" sz="4000" dirty="0"/>
          </a:p>
        </p:txBody>
      </p:sp>
    </p:spTree>
    <p:extLst>
      <p:ext uri="{BB962C8B-B14F-4D97-AF65-F5344CB8AC3E}">
        <p14:creationId xmlns:p14="http://schemas.microsoft.com/office/powerpoint/2010/main" val="2581761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F4550-A865-5696-65BC-A18C864152EC}"/>
              </a:ext>
            </a:extLst>
          </p:cNvPr>
          <p:cNvSpPr>
            <a:spLocks noGrp="1"/>
          </p:cNvSpPr>
          <p:nvPr>
            <p:ph type="title"/>
          </p:nvPr>
        </p:nvSpPr>
        <p:spPr/>
        <p:txBody>
          <a:bodyPr>
            <a:normAutofit/>
          </a:bodyPr>
          <a:lstStyle/>
          <a:p>
            <a:r>
              <a:rPr lang="en-US" sz="3200" b="1" dirty="0">
                <a:solidFill>
                  <a:srgbClr val="000000"/>
                </a:solidFill>
                <a:effectLst/>
                <a:latin typeface="Calibri" panose="020F0502020204030204" pitchFamily="34" charset="0"/>
                <a:ea typeface="Calibri" panose="020F0502020204030204" pitchFamily="34" charset="0"/>
              </a:rPr>
              <a:t>NTC's ADSL service in Nepal has following key features:</a:t>
            </a:r>
            <a:endParaRPr lang="en-US" sz="6600" b="1" dirty="0"/>
          </a:p>
        </p:txBody>
      </p:sp>
      <p:sp>
        <p:nvSpPr>
          <p:cNvPr id="3" name="Content Placeholder 2">
            <a:extLst>
              <a:ext uri="{FF2B5EF4-FFF2-40B4-BE49-F238E27FC236}">
                <a16:creationId xmlns:a16="http://schemas.microsoft.com/office/drawing/2014/main" id="{0D0BD1A9-AD61-E32B-4BA4-9B01B06AF3E7}"/>
              </a:ext>
            </a:extLst>
          </p:cNvPr>
          <p:cNvSpPr>
            <a:spLocks noGrp="1"/>
          </p:cNvSpPr>
          <p:nvPr>
            <p:ph idx="1"/>
          </p:nvPr>
        </p:nvSpPr>
        <p:spPr>
          <a:xfrm>
            <a:off x="838200" y="1561514"/>
            <a:ext cx="10515600" cy="4895557"/>
          </a:xfrm>
        </p:spPr>
        <p:txBody>
          <a:bodyPr>
            <a:normAutofit/>
          </a:bodyPr>
          <a:lstStyle/>
          <a:p>
            <a:r>
              <a:rPr lang="en-US" b="1" dirty="0">
                <a:solidFill>
                  <a:srgbClr val="000000"/>
                </a:solidFill>
                <a:effectLst/>
                <a:latin typeface="Calibri" panose="020F0502020204030204" pitchFamily="34" charset="0"/>
                <a:ea typeface="Calibri" panose="020F0502020204030204" pitchFamily="34" charset="0"/>
              </a:rPr>
              <a:t>Availability: </a:t>
            </a:r>
          </a:p>
          <a:p>
            <a:pPr lvl="1"/>
            <a:r>
              <a:rPr lang="en-US" dirty="0">
                <a:solidFill>
                  <a:srgbClr val="000000"/>
                </a:solidFill>
                <a:effectLst/>
                <a:latin typeface="Calibri" panose="020F0502020204030204" pitchFamily="34" charset="0"/>
                <a:ea typeface="Calibri" panose="020F0502020204030204" pitchFamily="34" charset="0"/>
              </a:rPr>
              <a:t>NTC's ADSL service is available in various parts of Nepal, including major cities like Kathmandu, Pokhara, and Biratnagar. </a:t>
            </a:r>
          </a:p>
          <a:p>
            <a:pPr lvl="1"/>
            <a:r>
              <a:rPr lang="en-US" dirty="0">
                <a:solidFill>
                  <a:srgbClr val="000000"/>
                </a:solidFill>
                <a:effectLst/>
                <a:latin typeface="Calibri" panose="020F0502020204030204" pitchFamily="34" charset="0"/>
                <a:ea typeface="Calibri" panose="020F0502020204030204" pitchFamily="34" charset="0"/>
              </a:rPr>
              <a:t>It has played a crucial role in providing broadband internet access to both residential and business customers, including those in areas where other high-speed options are limited.</a:t>
            </a:r>
          </a:p>
          <a:p>
            <a:r>
              <a:rPr lang="en-US" b="1" dirty="0">
                <a:solidFill>
                  <a:srgbClr val="000000"/>
                </a:solidFill>
                <a:effectLst/>
                <a:latin typeface="Calibri" panose="020F0502020204030204" pitchFamily="34" charset="0"/>
                <a:ea typeface="Calibri" panose="020F0502020204030204" pitchFamily="34" charset="0"/>
              </a:rPr>
              <a:t>Packages: </a:t>
            </a:r>
          </a:p>
          <a:p>
            <a:pPr lvl="1"/>
            <a:r>
              <a:rPr lang="en-US" dirty="0">
                <a:solidFill>
                  <a:srgbClr val="000000"/>
                </a:solidFill>
                <a:effectLst/>
                <a:latin typeface="Calibri" panose="020F0502020204030204" pitchFamily="34" charset="0"/>
                <a:ea typeface="Calibri" panose="020F0502020204030204" pitchFamily="34" charset="0"/>
              </a:rPr>
              <a:t>NTC offers a range of ADSL packages with varying speeds and data caps to cater to different customer needs. </a:t>
            </a:r>
          </a:p>
          <a:p>
            <a:pPr lvl="1"/>
            <a:r>
              <a:rPr lang="en-US" dirty="0">
                <a:solidFill>
                  <a:srgbClr val="000000"/>
                </a:solidFill>
                <a:effectLst/>
                <a:latin typeface="Calibri" panose="020F0502020204030204" pitchFamily="34" charset="0"/>
                <a:ea typeface="Calibri" panose="020F0502020204030204" pitchFamily="34" charset="0"/>
              </a:rPr>
              <a:t>These packages are designed to accommodate different usage patterns, from basic web browsing to more data- intensive activities like streaming and online gaming.</a:t>
            </a:r>
            <a:endParaRPr lang="en-US" sz="3600" dirty="0"/>
          </a:p>
        </p:txBody>
      </p:sp>
    </p:spTree>
    <p:extLst>
      <p:ext uri="{BB962C8B-B14F-4D97-AF65-F5344CB8AC3E}">
        <p14:creationId xmlns:p14="http://schemas.microsoft.com/office/powerpoint/2010/main" val="3086275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009B8-AC73-709F-2D64-5C0372C9D2BB}"/>
              </a:ext>
            </a:extLst>
          </p:cNvPr>
          <p:cNvSpPr>
            <a:spLocks noGrp="1"/>
          </p:cNvSpPr>
          <p:nvPr>
            <p:ph idx="1"/>
          </p:nvPr>
        </p:nvSpPr>
        <p:spPr>
          <a:xfrm>
            <a:off x="838200" y="450166"/>
            <a:ext cx="10515600" cy="5726797"/>
          </a:xfrm>
        </p:spPr>
        <p:txBody>
          <a:bodyPr>
            <a:normAutofit lnSpcReduction="10000"/>
          </a:bodyPr>
          <a:lstStyle/>
          <a:p>
            <a:pPr marL="0" marR="0">
              <a:lnSpc>
                <a:spcPct val="107000"/>
              </a:lnSpc>
              <a:spcBef>
                <a:spcPts val="0"/>
              </a:spcBef>
              <a:spcAft>
                <a:spcPts val="800"/>
              </a:spcAft>
            </a:pPr>
            <a:r>
              <a:rPr lang="en-US"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Installation: </a:t>
            </a:r>
          </a:p>
          <a:p>
            <a:pPr marL="457200" lvl="1">
              <a:lnSpc>
                <a:spcPct val="107000"/>
              </a:lnSpc>
              <a:spcBef>
                <a:spcPts val="0"/>
              </a:spcBef>
              <a:spcAft>
                <a:spcPts val="800"/>
              </a:spcAft>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Customers interested in NTC's ADSL service need to have a landline telephone connection. The ADSL modem is typically provided by NTC and is installed by their technicians.</a:t>
            </a:r>
            <a:r>
              <a:rPr lang="en-US" dirty="0">
                <a:effectLst/>
                <a:latin typeface="Calibri" panose="020F0502020204030204" pitchFamily="34" charset="0"/>
                <a:ea typeface="Calibri" panose="020F0502020204030204" pitchFamily="34" charset="0"/>
                <a:cs typeface="Calibri" panose="020F0502020204030204" pitchFamily="34" charset="0"/>
              </a:rPr>
              <a:t> </a:t>
            </a:r>
          </a:p>
          <a:p>
            <a:r>
              <a:rPr lang="en-US" b="1" dirty="0">
                <a:solidFill>
                  <a:srgbClr val="000000"/>
                </a:solidFill>
                <a:effectLst/>
                <a:latin typeface="Calibri" panose="020F0502020204030204" pitchFamily="34" charset="0"/>
                <a:ea typeface="Calibri" panose="020F0502020204030204" pitchFamily="34" charset="0"/>
              </a:rPr>
              <a:t>Speeds: </a:t>
            </a:r>
          </a:p>
          <a:p>
            <a:pPr lvl="1"/>
            <a:r>
              <a:rPr lang="en-US" dirty="0">
                <a:solidFill>
                  <a:srgbClr val="000000"/>
                </a:solidFill>
                <a:effectLst/>
                <a:latin typeface="Calibri" panose="020F0502020204030204" pitchFamily="34" charset="0"/>
                <a:ea typeface="Calibri" panose="020F0502020204030204" pitchFamily="34" charset="0"/>
              </a:rPr>
              <a:t>ADSL speeds in Nepal can vary depending on factors such as the quality of the copper lines and the distance from the telephone exchange.</a:t>
            </a:r>
          </a:p>
          <a:p>
            <a:pPr lvl="1"/>
            <a:r>
              <a:rPr lang="en-US" dirty="0">
                <a:solidFill>
                  <a:srgbClr val="000000"/>
                </a:solidFill>
                <a:effectLst/>
                <a:latin typeface="Calibri" panose="020F0502020204030204" pitchFamily="34" charset="0"/>
                <a:ea typeface="Calibri" panose="020F0502020204030204" pitchFamily="34" charset="0"/>
              </a:rPr>
              <a:t>Typical download speeds can range from a few Mbps to around 24 Mbps, while upload speeds are generally lower.</a:t>
            </a:r>
          </a:p>
          <a:p>
            <a:r>
              <a:rPr lang="en-US" b="1" dirty="0">
                <a:solidFill>
                  <a:srgbClr val="000000"/>
                </a:solidFill>
                <a:effectLst/>
                <a:latin typeface="Calibri" panose="020F0502020204030204" pitchFamily="34" charset="0"/>
                <a:ea typeface="Calibri" panose="020F0502020204030204" pitchFamily="34" charset="0"/>
              </a:rPr>
              <a:t>Pricing: </a:t>
            </a:r>
          </a:p>
          <a:p>
            <a:pPr lvl="1"/>
            <a:r>
              <a:rPr lang="en-US" dirty="0">
                <a:solidFill>
                  <a:srgbClr val="000000"/>
                </a:solidFill>
                <a:effectLst/>
                <a:latin typeface="Calibri" panose="020F0502020204030204" pitchFamily="34" charset="0"/>
                <a:ea typeface="Calibri" panose="020F0502020204030204" pitchFamily="34" charset="0"/>
              </a:rPr>
              <a:t>NTC's ADSL packages are priced competitively, making them an affordable choice for many Nepali households and businesses. </a:t>
            </a:r>
          </a:p>
          <a:p>
            <a:pPr lvl="1"/>
            <a:r>
              <a:rPr lang="en-US" dirty="0">
                <a:solidFill>
                  <a:srgbClr val="000000"/>
                </a:solidFill>
                <a:effectLst/>
                <a:latin typeface="Calibri" panose="020F0502020204030204" pitchFamily="34" charset="0"/>
                <a:ea typeface="Calibri" panose="020F0502020204030204" pitchFamily="34" charset="0"/>
              </a:rPr>
              <a:t>The pricing structure often includes monthly subscription fees based on the chosen package.</a:t>
            </a:r>
            <a:endParaRPr lang="en-US" sz="3600" dirty="0"/>
          </a:p>
        </p:txBody>
      </p:sp>
    </p:spTree>
    <p:extLst>
      <p:ext uri="{BB962C8B-B14F-4D97-AF65-F5344CB8AC3E}">
        <p14:creationId xmlns:p14="http://schemas.microsoft.com/office/powerpoint/2010/main" val="2778040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E63FF2-930A-B835-5BA0-68272914D0F9}"/>
              </a:ext>
            </a:extLst>
          </p:cNvPr>
          <p:cNvSpPr>
            <a:spLocks noGrp="1"/>
          </p:cNvSpPr>
          <p:nvPr>
            <p:ph idx="1"/>
          </p:nvPr>
        </p:nvSpPr>
        <p:spPr>
          <a:xfrm>
            <a:off x="838200" y="492369"/>
            <a:ext cx="10515600" cy="5684594"/>
          </a:xfrm>
        </p:spPr>
        <p:txBody>
          <a:bodyPr>
            <a:normAutofit/>
          </a:bodyPr>
          <a:lstStyle/>
          <a:p>
            <a:r>
              <a:rPr lang="en-US" sz="3200" b="1" dirty="0">
                <a:solidFill>
                  <a:srgbClr val="000000"/>
                </a:solidFill>
                <a:effectLst/>
                <a:latin typeface="Calibri" panose="020F0502020204030204" pitchFamily="34" charset="0"/>
                <a:ea typeface="Calibri" panose="020F0502020204030204" pitchFamily="34" charset="0"/>
              </a:rPr>
              <a:t>Rural Connectivity: </a:t>
            </a:r>
          </a:p>
          <a:p>
            <a:pPr lvl="1"/>
            <a:r>
              <a:rPr lang="en-US" sz="2800" dirty="0">
                <a:solidFill>
                  <a:srgbClr val="000000"/>
                </a:solidFill>
                <a:effectLst/>
                <a:latin typeface="Calibri" panose="020F0502020204030204" pitchFamily="34" charset="0"/>
                <a:ea typeface="Calibri" panose="020F0502020204030204" pitchFamily="34" charset="0"/>
              </a:rPr>
              <a:t>ADSL technology has been used to provide internet access in some rural and remote areas of Nepal, where other broadband options are limited. </a:t>
            </a:r>
          </a:p>
          <a:p>
            <a:pPr lvl="1"/>
            <a:r>
              <a:rPr lang="en-US" sz="2800" dirty="0">
                <a:solidFill>
                  <a:srgbClr val="000000"/>
                </a:solidFill>
                <a:effectLst/>
                <a:latin typeface="Calibri" panose="020F0502020204030204" pitchFamily="34" charset="0"/>
                <a:ea typeface="Calibri" panose="020F0502020204030204" pitchFamily="34" charset="0"/>
              </a:rPr>
              <a:t>In such cases, NTC has extended its services to bridge the digital divide.</a:t>
            </a:r>
          </a:p>
          <a:p>
            <a:r>
              <a:rPr lang="en-US" sz="3200" b="1" dirty="0">
                <a:solidFill>
                  <a:srgbClr val="000000"/>
                </a:solidFill>
                <a:effectLst/>
                <a:latin typeface="Calibri" panose="020F0502020204030204" pitchFamily="34" charset="0"/>
                <a:ea typeface="Calibri" panose="020F0502020204030204" pitchFamily="34" charset="0"/>
              </a:rPr>
              <a:t>Challenges: </a:t>
            </a:r>
          </a:p>
          <a:p>
            <a:pPr lvl="1"/>
            <a:r>
              <a:rPr lang="en-US" sz="2800" dirty="0">
                <a:solidFill>
                  <a:srgbClr val="000000"/>
                </a:solidFill>
                <a:effectLst/>
                <a:latin typeface="Calibri" panose="020F0502020204030204" pitchFamily="34" charset="0"/>
                <a:ea typeface="Calibri" panose="020F0502020204030204" pitchFamily="34" charset="0"/>
              </a:rPr>
              <a:t>While ADSL has been a valuable option in Nepal, it is not without challenges.</a:t>
            </a:r>
          </a:p>
          <a:p>
            <a:pPr lvl="1"/>
            <a:r>
              <a:rPr lang="en-US" sz="2800" dirty="0">
                <a:solidFill>
                  <a:srgbClr val="000000"/>
                </a:solidFill>
                <a:effectLst/>
                <a:latin typeface="Calibri" panose="020F0502020204030204" pitchFamily="34" charset="0"/>
                <a:ea typeface="Calibri" panose="020F0502020204030204" pitchFamily="34" charset="0"/>
              </a:rPr>
              <a:t>Distance-related speed degradation can be an issue for customers located far from the telephone exchange. </a:t>
            </a:r>
          </a:p>
          <a:p>
            <a:pPr lvl="1"/>
            <a:r>
              <a:rPr lang="en-US" sz="2800" dirty="0">
                <a:solidFill>
                  <a:srgbClr val="000000"/>
                </a:solidFill>
                <a:effectLst/>
                <a:latin typeface="Calibri" panose="020F0502020204030204" pitchFamily="34" charset="0"/>
                <a:ea typeface="Calibri" panose="020F0502020204030204" pitchFamily="34" charset="0"/>
              </a:rPr>
              <a:t>Additionally, there has been a growing demand for higher-speed internet services to support evolving digital needs.</a:t>
            </a:r>
            <a:endParaRPr lang="en-US" sz="4000" dirty="0"/>
          </a:p>
        </p:txBody>
      </p:sp>
    </p:spTree>
    <p:extLst>
      <p:ext uri="{BB962C8B-B14F-4D97-AF65-F5344CB8AC3E}">
        <p14:creationId xmlns:p14="http://schemas.microsoft.com/office/powerpoint/2010/main" val="979316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B69285-C24E-C9BB-7609-8F146A7C938E}"/>
              </a:ext>
            </a:extLst>
          </p:cNvPr>
          <p:cNvSpPr>
            <a:spLocks noGrp="1"/>
          </p:cNvSpPr>
          <p:nvPr>
            <p:ph idx="1"/>
          </p:nvPr>
        </p:nvSpPr>
        <p:spPr>
          <a:xfrm>
            <a:off x="838200" y="506437"/>
            <a:ext cx="10515600" cy="5670526"/>
          </a:xfrm>
        </p:spPr>
        <p:txBody>
          <a:bodyPr>
            <a:normAutofit/>
          </a:bodyPr>
          <a:lstStyle/>
          <a:p>
            <a:r>
              <a:rPr lang="en-US" dirty="0">
                <a:solidFill>
                  <a:srgbClr val="000000"/>
                </a:solidFill>
                <a:effectLst/>
                <a:latin typeface="Calibri" panose="020F0502020204030204" pitchFamily="34" charset="0"/>
                <a:ea typeface="Calibri" panose="020F0502020204030204" pitchFamily="34" charset="0"/>
              </a:rPr>
              <a:t>It's important to note that the internet landscape in Nepal continues to evolve, with advancements in technologies like fiber-optic and wireless broadband.</a:t>
            </a:r>
          </a:p>
          <a:p>
            <a:r>
              <a:rPr lang="en-US" dirty="0">
                <a:solidFill>
                  <a:srgbClr val="000000"/>
                </a:solidFill>
                <a:effectLst/>
                <a:latin typeface="Calibri" panose="020F0502020204030204" pitchFamily="34" charset="0"/>
                <a:ea typeface="Calibri" panose="020F0502020204030204" pitchFamily="34" charset="0"/>
              </a:rPr>
              <a:t>While ADSL remains a relevant and accessible option, users in Nepal are increasingly exploring faster and more advanced internet alternatives to meet their growing digital demands. </a:t>
            </a:r>
          </a:p>
          <a:p>
            <a:r>
              <a:rPr lang="en-US" dirty="0">
                <a:solidFill>
                  <a:srgbClr val="000000"/>
                </a:solidFill>
                <a:effectLst/>
                <a:latin typeface="Calibri" panose="020F0502020204030204" pitchFamily="34" charset="0"/>
                <a:ea typeface="Calibri" panose="020F0502020204030204" pitchFamily="34" charset="0"/>
              </a:rPr>
              <a:t>While ADSL remains a viable option for many users, especially in areas without access to more advanced broadband technologies, it is worth noting that newer technologies like fiber-optic and cable internet can provide significantly higher speeds and symmetrical upload/download rates, making them more suitable for demanding applications such as online gaming and 4K video streaming.</a:t>
            </a:r>
            <a:endParaRPr lang="en-US" sz="4000" dirty="0"/>
          </a:p>
        </p:txBody>
      </p:sp>
    </p:spTree>
    <p:extLst>
      <p:ext uri="{BB962C8B-B14F-4D97-AF65-F5344CB8AC3E}">
        <p14:creationId xmlns:p14="http://schemas.microsoft.com/office/powerpoint/2010/main" val="3767263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F682-E5E3-96B3-C504-8B4948BA6B3A}"/>
              </a:ext>
            </a:extLst>
          </p:cNvPr>
          <p:cNvSpPr>
            <a:spLocks noGrp="1"/>
          </p:cNvSpPr>
          <p:nvPr>
            <p:ph type="title"/>
          </p:nvPr>
        </p:nvSpPr>
        <p:spPr/>
        <p:txBody>
          <a:bodyPr/>
          <a:lstStyle/>
          <a:p>
            <a:r>
              <a:rPr lang="en-US" sz="4400" b="1" dirty="0">
                <a:solidFill>
                  <a:srgbClr val="000000"/>
                </a:solidFill>
                <a:effectLst/>
                <a:latin typeface="Calibri" panose="020F0502020204030204" pitchFamily="34" charset="0"/>
                <a:ea typeface="Calibri" panose="020F0502020204030204" pitchFamily="34" charset="0"/>
              </a:rPr>
              <a:t>WIMAX</a:t>
            </a:r>
            <a:endParaRPr lang="en-US" b="1" dirty="0"/>
          </a:p>
        </p:txBody>
      </p:sp>
      <p:sp>
        <p:nvSpPr>
          <p:cNvPr id="3" name="Content Placeholder 2">
            <a:extLst>
              <a:ext uri="{FF2B5EF4-FFF2-40B4-BE49-F238E27FC236}">
                <a16:creationId xmlns:a16="http://schemas.microsoft.com/office/drawing/2014/main" id="{9B4827F7-3D52-004E-8DCE-094DD0894C9B}"/>
              </a:ext>
            </a:extLst>
          </p:cNvPr>
          <p:cNvSpPr>
            <a:spLocks noGrp="1"/>
          </p:cNvSpPr>
          <p:nvPr>
            <p:ph idx="1"/>
          </p:nvPr>
        </p:nvSpPr>
        <p:spPr/>
        <p:txBody>
          <a:bodyPr>
            <a:normAutofit/>
          </a:bodyPr>
          <a:lstStyle/>
          <a:p>
            <a:r>
              <a:rPr lang="en-US" dirty="0">
                <a:solidFill>
                  <a:srgbClr val="000000"/>
                </a:solidFill>
                <a:effectLst/>
                <a:latin typeface="Calibri" panose="020F0502020204030204" pitchFamily="34" charset="0"/>
                <a:ea typeface="Calibri" panose="020F0502020204030204" pitchFamily="34" charset="0"/>
              </a:rPr>
              <a:t>WiMAX, which stands for Worldwide Interoperability for Microwave Access, is a wireless broadband communication technology that provides high-speed internet access over a wide area. </a:t>
            </a:r>
          </a:p>
          <a:p>
            <a:r>
              <a:rPr lang="en-US" dirty="0">
                <a:solidFill>
                  <a:srgbClr val="000000"/>
                </a:solidFill>
                <a:effectLst/>
                <a:latin typeface="Calibri" panose="020F0502020204030204" pitchFamily="34" charset="0"/>
                <a:ea typeface="Calibri" panose="020F0502020204030204" pitchFamily="34" charset="0"/>
              </a:rPr>
              <a:t>It is designed to offer wireless connectivity similar to Wi-Fi but with a broader coverage range, making it suitable for providing internet access in both urban and rural areas.</a:t>
            </a:r>
            <a:endParaRPr lang="en-US" sz="4000" dirty="0"/>
          </a:p>
        </p:txBody>
      </p:sp>
    </p:spTree>
    <p:extLst>
      <p:ext uri="{BB962C8B-B14F-4D97-AF65-F5344CB8AC3E}">
        <p14:creationId xmlns:p14="http://schemas.microsoft.com/office/powerpoint/2010/main" val="3026270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58036-762A-8019-C356-97A1473E713D}"/>
              </a:ext>
            </a:extLst>
          </p:cNvPr>
          <p:cNvSpPr>
            <a:spLocks noGrp="1"/>
          </p:cNvSpPr>
          <p:nvPr>
            <p:ph idx="1"/>
          </p:nvPr>
        </p:nvSpPr>
        <p:spPr>
          <a:xfrm>
            <a:off x="838200" y="492369"/>
            <a:ext cx="10515600" cy="5684594"/>
          </a:xfrm>
        </p:spPr>
        <p:txBody>
          <a:bodyPr>
            <a:normAutofit lnSpcReduction="10000"/>
          </a:bodyPr>
          <a:lstStyle/>
          <a:p>
            <a:r>
              <a:rPr lang="en-US" b="1" dirty="0">
                <a:solidFill>
                  <a:srgbClr val="000000"/>
                </a:solidFill>
                <a:effectLst/>
                <a:latin typeface="Calibri" panose="020F0502020204030204" pitchFamily="34" charset="0"/>
                <a:ea typeface="Calibri" panose="020F0502020204030204" pitchFamily="34" charset="0"/>
              </a:rPr>
              <a:t>Broad Coverage Area: </a:t>
            </a:r>
          </a:p>
          <a:p>
            <a:pPr lvl="1"/>
            <a:r>
              <a:rPr lang="en-US" dirty="0">
                <a:solidFill>
                  <a:srgbClr val="000000"/>
                </a:solidFill>
                <a:effectLst/>
                <a:latin typeface="Calibri" panose="020F0502020204030204" pitchFamily="34" charset="0"/>
                <a:ea typeface="Calibri" panose="020F0502020204030204" pitchFamily="34" charset="0"/>
              </a:rPr>
              <a:t>WiMAX is known for its ability to cover larger geographic areas, often referred to as "cells" or "coverage zones." </a:t>
            </a:r>
          </a:p>
          <a:p>
            <a:pPr lvl="1"/>
            <a:r>
              <a:rPr lang="en-US" dirty="0">
                <a:solidFill>
                  <a:srgbClr val="000000"/>
                </a:solidFill>
                <a:effectLst/>
                <a:latin typeface="Calibri" panose="020F0502020204030204" pitchFamily="34" charset="0"/>
                <a:ea typeface="Calibri" panose="020F0502020204030204" pitchFamily="34" charset="0"/>
              </a:rPr>
              <a:t>Depending on the specific deployment, WiMAX cells can cover several kilometers in radius.</a:t>
            </a:r>
          </a:p>
          <a:p>
            <a:r>
              <a:rPr lang="en-US" b="1" dirty="0">
                <a:solidFill>
                  <a:srgbClr val="000000"/>
                </a:solidFill>
                <a:effectLst/>
                <a:latin typeface="Calibri" panose="020F0502020204030204" pitchFamily="34" charset="0"/>
                <a:ea typeface="Calibri" panose="020F0502020204030204" pitchFamily="34" charset="0"/>
              </a:rPr>
              <a:t>Point-to-Multipoint Architecture: </a:t>
            </a:r>
          </a:p>
          <a:p>
            <a:pPr lvl="1"/>
            <a:r>
              <a:rPr lang="en-US" dirty="0">
                <a:solidFill>
                  <a:srgbClr val="000000"/>
                </a:solidFill>
                <a:effectLst/>
                <a:latin typeface="Calibri" panose="020F0502020204030204" pitchFamily="34" charset="0"/>
                <a:ea typeface="Calibri" panose="020F0502020204030204" pitchFamily="34" charset="0"/>
              </a:rPr>
              <a:t>WiMAX operates on a point-to-multipoint architecture, where a WiMAX base station (also known as a tower or access point) communicates with multiple subscriber stations (CPE - Customer Premises Equipment) simultaneously.</a:t>
            </a:r>
          </a:p>
          <a:p>
            <a:r>
              <a:rPr lang="en-US" b="1" dirty="0">
                <a:solidFill>
                  <a:srgbClr val="000000"/>
                </a:solidFill>
                <a:effectLst/>
                <a:latin typeface="Calibri" panose="020F0502020204030204" pitchFamily="34" charset="0"/>
                <a:ea typeface="Calibri" panose="020F0502020204030204" pitchFamily="34" charset="0"/>
              </a:rPr>
              <a:t>Frequency Bands: </a:t>
            </a:r>
          </a:p>
          <a:p>
            <a:pPr lvl="1"/>
            <a:r>
              <a:rPr lang="en-US" dirty="0">
                <a:solidFill>
                  <a:srgbClr val="000000"/>
                </a:solidFill>
                <a:effectLst/>
                <a:latin typeface="Calibri" panose="020F0502020204030204" pitchFamily="34" charset="0"/>
                <a:ea typeface="Calibri" panose="020F0502020204030204" pitchFamily="34" charset="0"/>
              </a:rPr>
              <a:t>WiMAX can operate in various frequency bands, including licensed and unlicensed spectrum.</a:t>
            </a:r>
          </a:p>
          <a:p>
            <a:pPr lvl="1"/>
            <a:r>
              <a:rPr lang="en-US" dirty="0">
                <a:solidFill>
                  <a:srgbClr val="000000"/>
                </a:solidFill>
                <a:effectLst/>
                <a:latin typeface="Calibri" panose="020F0502020204030204" pitchFamily="34" charset="0"/>
                <a:ea typeface="Calibri" panose="020F0502020204030204" pitchFamily="34" charset="0"/>
              </a:rPr>
              <a:t>Licensed spectrum is typically used for commercial deployments, while unlicensed spectrum can be used for smaller scale or experimental deployments.</a:t>
            </a:r>
          </a:p>
        </p:txBody>
      </p:sp>
    </p:spTree>
    <p:extLst>
      <p:ext uri="{BB962C8B-B14F-4D97-AF65-F5344CB8AC3E}">
        <p14:creationId xmlns:p14="http://schemas.microsoft.com/office/powerpoint/2010/main" val="3806693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5EFF3-3CED-9450-4415-7135D0E08187}"/>
              </a:ext>
            </a:extLst>
          </p:cNvPr>
          <p:cNvSpPr>
            <a:spLocks noGrp="1"/>
          </p:cNvSpPr>
          <p:nvPr>
            <p:ph idx="1"/>
          </p:nvPr>
        </p:nvSpPr>
        <p:spPr>
          <a:xfrm>
            <a:off x="838200" y="534572"/>
            <a:ext cx="10515600" cy="5992837"/>
          </a:xfrm>
        </p:spPr>
        <p:txBody>
          <a:bodyPr>
            <a:normAutofit/>
          </a:bodyPr>
          <a:lstStyle/>
          <a:p>
            <a:r>
              <a:rPr lang="en-US" sz="3200" b="1" dirty="0">
                <a:solidFill>
                  <a:srgbClr val="000000"/>
                </a:solidFill>
                <a:effectLst/>
                <a:latin typeface="Calibri" panose="020F0502020204030204" pitchFamily="34" charset="0"/>
                <a:ea typeface="Calibri" panose="020F0502020204030204" pitchFamily="34" charset="0"/>
              </a:rPr>
              <a:t>Variants: </a:t>
            </a:r>
          </a:p>
          <a:p>
            <a:pPr lvl="1"/>
            <a:r>
              <a:rPr lang="en-US" dirty="0">
                <a:solidFill>
                  <a:srgbClr val="000000"/>
                </a:solidFill>
                <a:effectLst/>
                <a:latin typeface="Calibri" panose="020F0502020204030204" pitchFamily="34" charset="0"/>
                <a:ea typeface="Calibri" panose="020F0502020204030204" pitchFamily="34" charset="0"/>
              </a:rPr>
              <a:t>There are different variants of WiMAX technology, including fixed WiMAX (802.16d) and mobile WiMAX (802.16e). </a:t>
            </a:r>
          </a:p>
          <a:p>
            <a:pPr lvl="1"/>
            <a:r>
              <a:rPr lang="en-US" dirty="0">
                <a:solidFill>
                  <a:srgbClr val="000000"/>
                </a:solidFill>
                <a:effectLst/>
                <a:latin typeface="Calibri" panose="020F0502020204030204" pitchFamily="34" charset="0"/>
                <a:ea typeface="Calibri" panose="020F0502020204030204" pitchFamily="34" charset="0"/>
              </a:rPr>
              <a:t>Fixed WiMAX is primarily used for stationary connections, while mobile WiMAX allows for mobility, making it suitable for applications like mobile broadband.</a:t>
            </a:r>
            <a:endParaRPr lang="en-US" sz="3600" dirty="0"/>
          </a:p>
          <a:p>
            <a:r>
              <a:rPr lang="en-US" sz="3200" b="1" dirty="0">
                <a:solidFill>
                  <a:srgbClr val="000000"/>
                </a:solidFill>
                <a:latin typeface="Calibri" panose="020F0502020204030204" pitchFamily="34" charset="0"/>
              </a:rPr>
              <a:t>Quality of Service (QoS): </a:t>
            </a:r>
          </a:p>
          <a:p>
            <a:pPr lvl="1"/>
            <a:r>
              <a:rPr lang="en-US" dirty="0">
                <a:solidFill>
                  <a:srgbClr val="000000"/>
                </a:solidFill>
                <a:latin typeface="Calibri" panose="020F0502020204030204" pitchFamily="34" charset="0"/>
              </a:rPr>
              <a:t>WiMAX supports Quality of Service mechanisms, allowing for the prioritization of traffic to ensure that critical data, such as voice and video, receives sufficient bandwidth and low latency.</a:t>
            </a:r>
          </a:p>
          <a:p>
            <a:r>
              <a:rPr lang="en-US" sz="3200" b="1" dirty="0">
                <a:solidFill>
                  <a:srgbClr val="000000"/>
                </a:solidFill>
                <a:latin typeface="Calibri" panose="020F0502020204030204" pitchFamily="34" charset="0"/>
              </a:rPr>
              <a:t>Data Rates: </a:t>
            </a:r>
          </a:p>
          <a:p>
            <a:pPr lvl="1"/>
            <a:r>
              <a:rPr lang="en-US" dirty="0">
                <a:solidFill>
                  <a:srgbClr val="000000"/>
                </a:solidFill>
                <a:latin typeface="Calibri" panose="020F0502020204030204" pitchFamily="34" charset="0"/>
              </a:rPr>
              <a:t>WiMAX can offer varying data rates depending on the specific technology and frequency band used. </a:t>
            </a:r>
          </a:p>
          <a:p>
            <a:pPr lvl="1"/>
            <a:r>
              <a:rPr lang="en-US" dirty="0">
                <a:solidFill>
                  <a:srgbClr val="000000"/>
                </a:solidFill>
                <a:latin typeface="Calibri" panose="020F0502020204030204" pitchFamily="34" charset="0"/>
              </a:rPr>
              <a:t>It can provide speeds ranging from a few Mbps to over 100 Mbps in certain configurations.</a:t>
            </a:r>
          </a:p>
        </p:txBody>
      </p:sp>
    </p:spTree>
    <p:extLst>
      <p:ext uri="{BB962C8B-B14F-4D97-AF65-F5344CB8AC3E}">
        <p14:creationId xmlns:p14="http://schemas.microsoft.com/office/powerpoint/2010/main" val="2152236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97926-DD72-F26D-9134-928E37133E29}"/>
              </a:ext>
            </a:extLst>
          </p:cNvPr>
          <p:cNvSpPr>
            <a:spLocks noGrp="1"/>
          </p:cNvSpPr>
          <p:nvPr>
            <p:ph idx="1"/>
          </p:nvPr>
        </p:nvSpPr>
        <p:spPr>
          <a:xfrm>
            <a:off x="838200" y="393895"/>
            <a:ext cx="10515600" cy="5783068"/>
          </a:xfrm>
        </p:spPr>
        <p:txBody>
          <a:bodyPr>
            <a:normAutofit lnSpcReduction="10000"/>
          </a:bodyPr>
          <a:lstStyle/>
          <a:p>
            <a:r>
              <a:rPr lang="en-US" b="1" dirty="0">
                <a:solidFill>
                  <a:srgbClr val="000000"/>
                </a:solidFill>
                <a:effectLst/>
                <a:latin typeface="Calibri" panose="020F0502020204030204" pitchFamily="34" charset="0"/>
                <a:ea typeface="Calibri" panose="020F0502020204030204" pitchFamily="34" charset="0"/>
              </a:rPr>
              <a:t>NLOS (Non-Line-of-Sight) Capability: </a:t>
            </a:r>
          </a:p>
          <a:p>
            <a:pPr lvl="1"/>
            <a:r>
              <a:rPr lang="en-US" dirty="0">
                <a:solidFill>
                  <a:srgbClr val="000000"/>
                </a:solidFill>
                <a:effectLst/>
                <a:latin typeface="Calibri" panose="020F0502020204030204" pitchFamily="34" charset="0"/>
                <a:ea typeface="Calibri" panose="020F0502020204030204" pitchFamily="34" charset="0"/>
              </a:rPr>
              <a:t>WiMAX could provide connectivity even when there is no direct line of sight between the base station and subscriber station. </a:t>
            </a:r>
          </a:p>
          <a:p>
            <a:pPr lvl="1"/>
            <a:r>
              <a:rPr lang="en-US" dirty="0">
                <a:solidFill>
                  <a:srgbClr val="000000"/>
                </a:solidFill>
                <a:effectLst/>
                <a:latin typeface="Calibri" panose="020F0502020204030204" pitchFamily="34" charset="0"/>
                <a:ea typeface="Calibri" panose="020F0502020204030204" pitchFamily="34" charset="0"/>
              </a:rPr>
              <a:t>This makes it suitable for urban deployments with obstacles like buildings.</a:t>
            </a:r>
          </a:p>
          <a:p>
            <a:r>
              <a:rPr lang="en-US" b="1" dirty="0">
                <a:solidFill>
                  <a:srgbClr val="000000"/>
                </a:solidFill>
                <a:effectLst/>
                <a:latin typeface="Calibri" panose="020F0502020204030204" pitchFamily="34" charset="0"/>
                <a:ea typeface="Calibri" panose="020F0502020204030204" pitchFamily="34" charset="0"/>
              </a:rPr>
              <a:t>Security: </a:t>
            </a:r>
          </a:p>
          <a:p>
            <a:pPr lvl="1"/>
            <a:r>
              <a:rPr lang="en-US" dirty="0">
                <a:solidFill>
                  <a:srgbClr val="000000"/>
                </a:solidFill>
                <a:effectLst/>
                <a:latin typeface="Calibri" panose="020F0502020204030204" pitchFamily="34" charset="0"/>
                <a:ea typeface="Calibri" panose="020F0502020204030204" pitchFamily="34" charset="0"/>
              </a:rPr>
              <a:t>WiMAX networks can be secured using encryption and authentication protocols to protect data transmitted over the wireless link.</a:t>
            </a:r>
          </a:p>
          <a:p>
            <a:endParaRPr lang="en-US" dirty="0">
              <a:solidFill>
                <a:srgbClr val="000000"/>
              </a:solidFill>
              <a:latin typeface="Calibri" panose="020F0502020204030204" pitchFamily="34" charset="0"/>
              <a:ea typeface="Calibri" panose="020F0502020204030204" pitchFamily="34" charset="0"/>
            </a:endParaRPr>
          </a:p>
          <a:p>
            <a:r>
              <a:rPr lang="en-US" dirty="0">
                <a:solidFill>
                  <a:srgbClr val="000000"/>
                </a:solidFill>
                <a:effectLst/>
                <a:latin typeface="Calibri" panose="020F0502020204030204" pitchFamily="34" charset="0"/>
                <a:ea typeface="Calibri" panose="020F0502020204030204" pitchFamily="34" charset="0"/>
              </a:rPr>
              <a:t>Nepal Telecom (NT) has launched the 4G WiMAX IEEE 802.16e service for the first time in Nepal. </a:t>
            </a:r>
          </a:p>
          <a:p>
            <a:r>
              <a:rPr lang="en-US" dirty="0">
                <a:solidFill>
                  <a:srgbClr val="000000"/>
                </a:solidFill>
                <a:effectLst/>
                <a:latin typeface="Calibri" panose="020F0502020204030204" pitchFamily="34" charset="0"/>
                <a:ea typeface="Calibri" panose="020F0502020204030204" pitchFamily="34" charset="0"/>
              </a:rPr>
              <a:t>WiMAX service is available throughout the country within the tentative 2 km radius of the base station. Range of NT WiMAX is 15 Kms for the Rural area for line of sight and 4 Kms for the Urban area and the internet speed ranges from 256 Kbps to 2 Mbps.</a:t>
            </a:r>
            <a:endParaRPr lang="en-US" sz="4000" dirty="0"/>
          </a:p>
        </p:txBody>
      </p:sp>
    </p:spTree>
    <p:extLst>
      <p:ext uri="{BB962C8B-B14F-4D97-AF65-F5344CB8AC3E}">
        <p14:creationId xmlns:p14="http://schemas.microsoft.com/office/powerpoint/2010/main" val="3424773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A1C39E-FC14-6C1F-BF9C-1E25BBDB3CAF}"/>
              </a:ext>
            </a:extLst>
          </p:cNvPr>
          <p:cNvSpPr>
            <a:spLocks noGrp="1"/>
          </p:cNvSpPr>
          <p:nvPr>
            <p:ph idx="1"/>
          </p:nvPr>
        </p:nvSpPr>
        <p:spPr>
          <a:xfrm>
            <a:off x="838200" y="450166"/>
            <a:ext cx="10515600" cy="5726797"/>
          </a:xfrm>
        </p:spPr>
        <p:txBody>
          <a:bodyPr>
            <a:normAutofit fontScale="92500"/>
          </a:bodyPr>
          <a:lstStyle/>
          <a:p>
            <a:r>
              <a:rPr lang="en-US" dirty="0">
                <a:solidFill>
                  <a:srgbClr val="000000"/>
                </a:solidFill>
                <a:effectLst/>
                <a:latin typeface="Calibri" panose="020F0502020204030204" pitchFamily="34" charset="0"/>
                <a:ea typeface="Calibri" panose="020F0502020204030204" pitchFamily="34" charset="0"/>
              </a:rPr>
              <a:t>NT as a market leader in Wireless Internet, is enhancing its service, coverage and quality by delivering next generation internet services and utilize the technology to the subscribers. </a:t>
            </a:r>
          </a:p>
          <a:p>
            <a:r>
              <a:rPr lang="en-US" dirty="0">
                <a:solidFill>
                  <a:srgbClr val="000000"/>
                </a:solidFill>
                <a:effectLst/>
                <a:latin typeface="Calibri" panose="020F0502020204030204" pitchFamily="34" charset="0"/>
                <a:ea typeface="Calibri" panose="020F0502020204030204" pitchFamily="34" charset="0"/>
              </a:rPr>
              <a:t>They deliver high quality data and internet services and utilize the technology to encourage social and economic growth. </a:t>
            </a:r>
          </a:p>
          <a:p>
            <a:r>
              <a:rPr lang="en-US" dirty="0">
                <a:solidFill>
                  <a:srgbClr val="000000"/>
                </a:solidFill>
                <a:effectLst/>
                <a:latin typeface="Calibri" panose="020F0502020204030204" pitchFamily="34" charset="0"/>
                <a:ea typeface="Calibri" panose="020F0502020204030204" pitchFamily="34" charset="0"/>
              </a:rPr>
              <a:t>NT WiMAX enables broadband wireless anytime, anywhere using any WiMAX enabled devices, whether it is a laptop, smartphone or even a game device. </a:t>
            </a:r>
          </a:p>
          <a:p>
            <a:r>
              <a:rPr lang="en-US" dirty="0">
                <a:solidFill>
                  <a:srgbClr val="000000"/>
                </a:solidFill>
                <a:effectLst/>
                <a:latin typeface="Calibri" panose="020F0502020204030204" pitchFamily="34" charset="0"/>
                <a:ea typeface="Calibri" panose="020F0502020204030204" pitchFamily="34" charset="0"/>
              </a:rPr>
              <a:t>Mobile WiMAX creates a seamless broadband environment at home, in the office and on the move. </a:t>
            </a:r>
          </a:p>
          <a:p>
            <a:r>
              <a:rPr lang="en-US" dirty="0">
                <a:solidFill>
                  <a:srgbClr val="000000"/>
                </a:solidFill>
                <a:effectLst/>
                <a:latin typeface="Calibri" panose="020F0502020204030204" pitchFamily="34" charset="0"/>
                <a:ea typeface="Calibri" panose="020F0502020204030204" pitchFamily="34" charset="0"/>
              </a:rPr>
              <a:t>WiMAX is the Next Generation of Wireless Broadband instead of "Wi-Fi". </a:t>
            </a:r>
          </a:p>
          <a:p>
            <a:r>
              <a:rPr lang="en-US" dirty="0">
                <a:solidFill>
                  <a:srgbClr val="000000"/>
                </a:solidFill>
                <a:effectLst/>
                <a:latin typeface="Calibri" panose="020F0502020204030204" pitchFamily="34" charset="0"/>
                <a:ea typeface="Calibri" panose="020F0502020204030204" pitchFamily="34" charset="0"/>
              </a:rPr>
              <a:t>It can connect you to the internet at faster speed and wider coverage compared to Wi-Fi that can only be connected on Hotspots like Hotels, Restaurants, Airports and Recreation Center etc.</a:t>
            </a:r>
            <a:endParaRPr lang="en-US" sz="4000" dirty="0"/>
          </a:p>
        </p:txBody>
      </p:sp>
    </p:spTree>
    <p:extLst>
      <p:ext uri="{BB962C8B-B14F-4D97-AF65-F5344CB8AC3E}">
        <p14:creationId xmlns:p14="http://schemas.microsoft.com/office/powerpoint/2010/main" val="4073702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E2DA3-5BF8-8C61-5C70-9ED3FD78BD50}"/>
              </a:ext>
            </a:extLst>
          </p:cNvPr>
          <p:cNvSpPr>
            <a:spLocks noGrp="1"/>
          </p:cNvSpPr>
          <p:nvPr>
            <p:ph type="title"/>
          </p:nvPr>
        </p:nvSpPr>
        <p:spPr>
          <a:xfrm>
            <a:off x="838200" y="210377"/>
            <a:ext cx="10515600" cy="900967"/>
          </a:xfrm>
        </p:spPr>
        <p:txBody>
          <a:bodyPr>
            <a:normAutofit/>
          </a:bodyPr>
          <a:lstStyle/>
          <a:p>
            <a:r>
              <a:rPr lang="en-US" sz="4800" b="1" dirty="0">
                <a:solidFill>
                  <a:srgbClr val="000000"/>
                </a:solidFill>
                <a:effectLst/>
                <a:latin typeface="Calibri" panose="020F0502020204030204" pitchFamily="34" charset="0"/>
                <a:ea typeface="Calibri" panose="020F0502020204030204" pitchFamily="34" charset="0"/>
              </a:rPr>
              <a:t>Wi-Fi</a:t>
            </a:r>
            <a:endParaRPr lang="en-US" sz="4800" b="1" dirty="0"/>
          </a:p>
        </p:txBody>
      </p:sp>
      <p:sp>
        <p:nvSpPr>
          <p:cNvPr id="3" name="Content Placeholder 2">
            <a:extLst>
              <a:ext uri="{FF2B5EF4-FFF2-40B4-BE49-F238E27FC236}">
                <a16:creationId xmlns:a16="http://schemas.microsoft.com/office/drawing/2014/main" id="{F8751333-E32F-4BAB-6CDD-F789E5FAD745}"/>
              </a:ext>
            </a:extLst>
          </p:cNvPr>
          <p:cNvSpPr>
            <a:spLocks noGrp="1"/>
          </p:cNvSpPr>
          <p:nvPr>
            <p:ph idx="1"/>
          </p:nvPr>
        </p:nvSpPr>
        <p:spPr>
          <a:xfrm>
            <a:off x="838200" y="1153551"/>
            <a:ext cx="10515600" cy="5023412"/>
          </a:xfrm>
        </p:spPr>
        <p:txBody>
          <a:bodyPr>
            <a:normAutofit lnSpcReduction="10000"/>
          </a:bodyPr>
          <a:lstStyle/>
          <a:p>
            <a:r>
              <a:rPr lang="en-US" dirty="0">
                <a:solidFill>
                  <a:srgbClr val="000000"/>
                </a:solidFill>
                <a:effectLst/>
                <a:latin typeface="Calibri" panose="020F0502020204030204" pitchFamily="34" charset="0"/>
                <a:ea typeface="Calibri" panose="020F0502020204030204" pitchFamily="34" charset="0"/>
              </a:rPr>
              <a:t>Wi-Fi, short for "Wireless Fidelity," is a wireless networking technology that allows devices to connect to the internet and communicate with each other without the need for physical wired connections. </a:t>
            </a:r>
          </a:p>
          <a:p>
            <a:r>
              <a:rPr lang="en-US" dirty="0">
                <a:solidFill>
                  <a:srgbClr val="000000"/>
                </a:solidFill>
                <a:effectLst/>
                <a:latin typeface="Calibri" panose="020F0502020204030204" pitchFamily="34" charset="0"/>
                <a:ea typeface="Calibri" panose="020F0502020204030204" pitchFamily="34" charset="0"/>
              </a:rPr>
              <a:t>It has become an integral part of our daily lives, providing wireless internet access in homes, business, public spaces, and more. </a:t>
            </a:r>
          </a:p>
          <a:p>
            <a:r>
              <a:rPr lang="en-US" dirty="0">
                <a:solidFill>
                  <a:srgbClr val="000000"/>
                </a:solidFill>
                <a:effectLst/>
                <a:latin typeface="Calibri" panose="020F0502020204030204" pitchFamily="34" charset="0"/>
                <a:ea typeface="Calibri" panose="020F0502020204030204" pitchFamily="34" charset="0"/>
              </a:rPr>
              <a:t>Wi-Fi technology has evolved over the years, offering faster speeds, improved security, and increased capacity to meet the growing demands of modern wireless connectivity. </a:t>
            </a:r>
          </a:p>
          <a:p>
            <a:r>
              <a:rPr lang="en-US" dirty="0">
                <a:solidFill>
                  <a:srgbClr val="000000"/>
                </a:solidFill>
                <a:effectLst/>
                <a:latin typeface="Calibri" panose="020F0502020204030204" pitchFamily="34" charset="0"/>
                <a:ea typeface="Calibri" panose="020F0502020204030204" pitchFamily="34" charset="0"/>
              </a:rPr>
              <a:t>It has become an essential technology for both personal and professional use, enabling wireless internet access and connectivity in a wide range of environments.</a:t>
            </a:r>
            <a:endParaRPr lang="en-US" sz="4000" dirty="0"/>
          </a:p>
        </p:txBody>
      </p:sp>
    </p:spTree>
    <p:extLst>
      <p:ext uri="{BB962C8B-B14F-4D97-AF65-F5344CB8AC3E}">
        <p14:creationId xmlns:p14="http://schemas.microsoft.com/office/powerpoint/2010/main" val="17818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A9DD9-24FE-70E7-B3E7-55EE4AF54EDE}"/>
              </a:ext>
            </a:extLst>
          </p:cNvPr>
          <p:cNvSpPr>
            <a:spLocks noGrp="1"/>
          </p:cNvSpPr>
          <p:nvPr>
            <p:ph idx="1"/>
          </p:nvPr>
        </p:nvSpPr>
        <p:spPr>
          <a:xfrm>
            <a:off x="838200" y="379828"/>
            <a:ext cx="10515600" cy="5797135"/>
          </a:xfrm>
        </p:spPr>
        <p:txBody>
          <a:bodyPr>
            <a:normAutofit fontScale="92500" lnSpcReduction="10000"/>
          </a:bodyPr>
          <a:lstStyle/>
          <a:p>
            <a:r>
              <a:rPr lang="en-US" dirty="0">
                <a:solidFill>
                  <a:srgbClr val="000000"/>
                </a:solidFill>
                <a:effectLst/>
                <a:latin typeface="Calibri" panose="020F0502020204030204" pitchFamily="34" charset="0"/>
                <a:ea typeface="Calibri" panose="020F0502020204030204" pitchFamily="34" charset="0"/>
              </a:rPr>
              <a:t>Wi-Fi enables devices like smartphones, laptops, tablets, and smart home devices to connect to the internet and communicate with each other using radio waves.</a:t>
            </a:r>
          </a:p>
          <a:p>
            <a:r>
              <a:rPr lang="en-US" dirty="0">
                <a:solidFill>
                  <a:srgbClr val="000000"/>
                </a:solidFill>
                <a:effectLst/>
                <a:latin typeface="Calibri" panose="020F0502020204030204" pitchFamily="34" charset="0"/>
                <a:ea typeface="Calibri" panose="020F0502020204030204" pitchFamily="34" charset="0"/>
              </a:rPr>
              <a:t>Wi-Fi is typically used for local area networking (LAN) within a limited range, such as a home, office, or coffee shop. </a:t>
            </a:r>
          </a:p>
          <a:p>
            <a:r>
              <a:rPr lang="en-US" dirty="0">
                <a:solidFill>
                  <a:srgbClr val="000000"/>
                </a:solidFill>
                <a:effectLst/>
                <a:latin typeface="Calibri" panose="020F0502020204030204" pitchFamily="34" charset="0"/>
                <a:ea typeface="Calibri" panose="020F0502020204030204" pitchFamily="34" charset="0"/>
              </a:rPr>
              <a:t>However, Wi-Fi networks can be extended to cover larger areas using multiple access points.</a:t>
            </a:r>
          </a:p>
          <a:p>
            <a:r>
              <a:rPr lang="en-US" dirty="0">
                <a:solidFill>
                  <a:srgbClr val="000000"/>
                </a:solidFill>
                <a:effectLst/>
                <a:latin typeface="Calibri" panose="020F0502020204030204" pitchFamily="34" charset="0"/>
                <a:ea typeface="Calibri" panose="020F0502020204030204" pitchFamily="34" charset="0"/>
              </a:rPr>
              <a:t>Wireless access points, also known as Wi-Fi routers or APs, are devices that transmit Wi-Fi signals. </a:t>
            </a:r>
          </a:p>
          <a:p>
            <a:r>
              <a:rPr lang="en-US" dirty="0">
                <a:solidFill>
                  <a:srgbClr val="000000"/>
                </a:solidFill>
                <a:effectLst/>
                <a:latin typeface="Calibri" panose="020F0502020204030204" pitchFamily="34" charset="0"/>
                <a:ea typeface="Calibri" panose="020F0502020204030204" pitchFamily="34" charset="0"/>
              </a:rPr>
              <a:t>They are responsible for creating and managing Wi-Fi networks.</a:t>
            </a:r>
          </a:p>
          <a:p>
            <a:r>
              <a:rPr lang="en-US" dirty="0">
                <a:solidFill>
                  <a:srgbClr val="000000"/>
                </a:solidFill>
                <a:effectLst/>
                <a:latin typeface="Calibri" panose="020F0502020204030204" pitchFamily="34" charset="0"/>
                <a:ea typeface="Calibri" panose="020F0502020204030204" pitchFamily="34" charset="0"/>
              </a:rPr>
              <a:t>Wi-Fi technology operates based on specific standards defined by the IEEE (Institute of Electrical and Electronics Engineers). </a:t>
            </a:r>
          </a:p>
          <a:p>
            <a:r>
              <a:rPr lang="en-US" dirty="0">
                <a:solidFill>
                  <a:srgbClr val="000000"/>
                </a:solidFill>
                <a:effectLst/>
                <a:latin typeface="Calibri" panose="020F0502020204030204" pitchFamily="34" charset="0"/>
                <a:ea typeface="Calibri" panose="020F0502020204030204" pitchFamily="34" charset="0"/>
              </a:rPr>
              <a:t>Common Wi-Fi standards include 802.11a, 802.11b, 802.11g, 802.11n, 802.11ac, and 802.11ax (Wi-Fi 6), each offering different speeds and capabilities.</a:t>
            </a:r>
            <a:endParaRPr lang="en-US" sz="4000" dirty="0"/>
          </a:p>
        </p:txBody>
      </p:sp>
    </p:spTree>
    <p:extLst>
      <p:ext uri="{BB962C8B-B14F-4D97-AF65-F5344CB8AC3E}">
        <p14:creationId xmlns:p14="http://schemas.microsoft.com/office/powerpoint/2010/main" val="3776445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735294-1450-FBBC-1DDE-E4264B84C4E0}"/>
              </a:ext>
            </a:extLst>
          </p:cNvPr>
          <p:cNvSpPr>
            <a:spLocks noGrp="1"/>
          </p:cNvSpPr>
          <p:nvPr>
            <p:ph idx="1"/>
          </p:nvPr>
        </p:nvSpPr>
        <p:spPr>
          <a:xfrm>
            <a:off x="838200" y="393895"/>
            <a:ext cx="10515600" cy="5783068"/>
          </a:xfrm>
        </p:spPr>
        <p:txBody>
          <a:bodyPr>
            <a:normAutofit fontScale="92500" lnSpcReduction="10000"/>
          </a:bodyPr>
          <a:lstStyle/>
          <a:p>
            <a:r>
              <a:rPr lang="en-US" dirty="0">
                <a:solidFill>
                  <a:srgbClr val="000000"/>
                </a:solidFill>
                <a:effectLst/>
                <a:latin typeface="Calibri" panose="020F0502020204030204" pitchFamily="34" charset="0"/>
                <a:ea typeface="Calibri" panose="020F0502020204030204" pitchFamily="34" charset="0"/>
              </a:rPr>
              <a:t>Wi-Fi operates in both 2.4 GHz and 5 GHz frequency bands. The 2.4 GHz band provides better coverage but may experience more interference, while the 5 GHz band offers faster speeds with less interference.</a:t>
            </a:r>
          </a:p>
          <a:p>
            <a:r>
              <a:rPr lang="en-US" dirty="0">
                <a:solidFill>
                  <a:srgbClr val="000000"/>
                </a:solidFill>
                <a:effectLst/>
                <a:latin typeface="Calibri" panose="020F0502020204030204" pitchFamily="34" charset="0"/>
                <a:ea typeface="Calibri" panose="020F0502020204030204" pitchFamily="34" charset="0"/>
              </a:rPr>
              <a:t>Wi-Fi networks can be secured using encryption protocols like WPA3 and WPA2, along with passwords or passphrases. Encryption ensures that data transmitted over the wireless network remains private and secure.</a:t>
            </a:r>
          </a:p>
          <a:p>
            <a:r>
              <a:rPr lang="en-US" dirty="0">
                <a:solidFill>
                  <a:srgbClr val="000000"/>
                </a:solidFill>
                <a:effectLst/>
                <a:latin typeface="Calibri" panose="020F0502020204030204" pitchFamily="34" charset="0"/>
                <a:ea typeface="Calibri" panose="020F0502020204030204" pitchFamily="34" charset="0"/>
              </a:rPr>
              <a:t>SSID (Service Set Identifier) is the name of a Wi-Fi network that users see when searching for available networks. Network administrators can set SSIDs to identify and differentiate their networks.</a:t>
            </a:r>
          </a:p>
          <a:p>
            <a:r>
              <a:rPr lang="en-US" dirty="0">
                <a:solidFill>
                  <a:srgbClr val="000000"/>
                </a:solidFill>
                <a:effectLst/>
                <a:latin typeface="Calibri" panose="020F0502020204030204" pitchFamily="34" charset="0"/>
                <a:ea typeface="Calibri" panose="020F0502020204030204" pitchFamily="34" charset="0"/>
              </a:rPr>
              <a:t>Users must enter a password to connect to a secured Wi-Fi network. Some networks also use more advanced authentication methods like WPA3-Personal and WPA3-Enterprise.</a:t>
            </a:r>
          </a:p>
          <a:p>
            <a:r>
              <a:rPr lang="en-US" dirty="0">
                <a:solidFill>
                  <a:srgbClr val="000000"/>
                </a:solidFill>
                <a:effectLst/>
                <a:latin typeface="Calibri" panose="020F0502020204030204" pitchFamily="34" charset="0"/>
                <a:ea typeface="Calibri" panose="020F0502020204030204" pitchFamily="34" charset="0"/>
              </a:rPr>
              <a:t>The range of a Wi-Fi network can vary depending on factors like the strength of the signal, interference, and the type of Wi-Fi standard used. Range extenders and mesh Wi-Fi systems can be used to extend coverage.</a:t>
            </a:r>
            <a:endParaRPr lang="en-US" sz="4000" dirty="0"/>
          </a:p>
        </p:txBody>
      </p:sp>
    </p:spTree>
    <p:extLst>
      <p:ext uri="{BB962C8B-B14F-4D97-AF65-F5344CB8AC3E}">
        <p14:creationId xmlns:p14="http://schemas.microsoft.com/office/powerpoint/2010/main" val="1877341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ED94A-2DBF-AA63-F1FA-4AF4C0921AC6}"/>
              </a:ext>
            </a:extLst>
          </p:cNvPr>
          <p:cNvSpPr>
            <a:spLocks noGrp="1"/>
          </p:cNvSpPr>
          <p:nvPr>
            <p:ph idx="1"/>
          </p:nvPr>
        </p:nvSpPr>
        <p:spPr>
          <a:xfrm>
            <a:off x="838200" y="422030"/>
            <a:ext cx="10515600" cy="6063175"/>
          </a:xfrm>
        </p:spPr>
        <p:txBody>
          <a:bodyPr>
            <a:normAutofit fontScale="92500" lnSpcReduction="10000"/>
          </a:bodyPr>
          <a:lstStyle/>
          <a:p>
            <a:r>
              <a:rPr lang="en-US" dirty="0">
                <a:solidFill>
                  <a:srgbClr val="000000"/>
                </a:solidFill>
                <a:effectLst/>
                <a:latin typeface="Calibri" panose="020F0502020204030204" pitchFamily="34" charset="0"/>
                <a:ea typeface="Calibri" panose="020F0502020204030204" pitchFamily="34" charset="0"/>
              </a:rPr>
              <a:t>Wi-Fi networks support multiple devices simultaneously, allowing multiple users and devices to connect to the network.</a:t>
            </a:r>
          </a:p>
          <a:p>
            <a:r>
              <a:rPr lang="en-US" dirty="0">
                <a:solidFill>
                  <a:srgbClr val="000000"/>
                </a:solidFill>
                <a:effectLst/>
                <a:latin typeface="Calibri" panose="020F0502020204030204" pitchFamily="34" charset="0"/>
                <a:ea typeface="Calibri" panose="020F0502020204030204" pitchFamily="34" charset="0"/>
              </a:rPr>
              <a:t>Wi-Fi-enabled devices can seamlessly switch between different access points as users move within the coverage area, providing continuous connectivity.</a:t>
            </a:r>
          </a:p>
          <a:p>
            <a:r>
              <a:rPr lang="en-US" dirty="0">
                <a:solidFill>
                  <a:srgbClr val="000000"/>
                </a:solidFill>
                <a:effectLst/>
                <a:latin typeface="Calibri" panose="020F0502020204030204" pitchFamily="34" charset="0"/>
                <a:ea typeface="Calibri" panose="020F0502020204030204" pitchFamily="34" charset="0"/>
              </a:rPr>
              <a:t>Public places like airports, coffee shops, hotels, and libraries often offer free or paid public Wi-Fi access for visitors.</a:t>
            </a:r>
          </a:p>
          <a:p>
            <a:r>
              <a:rPr lang="en-US" dirty="0">
                <a:solidFill>
                  <a:srgbClr val="000000"/>
                </a:solidFill>
                <a:effectLst/>
                <a:latin typeface="Calibri" panose="020F0502020204030204" pitchFamily="34" charset="0"/>
                <a:ea typeface="Calibri" panose="020F0502020204030204" pitchFamily="34" charset="0"/>
              </a:rPr>
              <a:t>Wi-Fi is commonly used in homes to connect smartphones, laptops, smart TVs, gaming consoles, and IoT devices to the internet and to each other.</a:t>
            </a:r>
          </a:p>
          <a:p>
            <a:r>
              <a:rPr lang="en-US" dirty="0">
                <a:solidFill>
                  <a:srgbClr val="000000"/>
                </a:solidFill>
                <a:effectLst/>
                <a:latin typeface="Calibri" panose="020F0502020204030204" pitchFamily="34" charset="0"/>
                <a:ea typeface="Calibri" panose="020F0502020204030204" pitchFamily="34" charset="0"/>
              </a:rPr>
              <a:t>In businesses, Wi-Fi is used for both employee connectivity and guest access.</a:t>
            </a:r>
          </a:p>
          <a:p>
            <a:r>
              <a:rPr lang="en-US" dirty="0">
                <a:solidFill>
                  <a:srgbClr val="000000"/>
                </a:solidFill>
                <a:effectLst/>
                <a:latin typeface="Calibri" panose="020F0502020204030204" pitchFamily="34" charset="0"/>
                <a:ea typeface="Calibri" panose="020F0502020204030204" pitchFamily="34" charset="0"/>
              </a:rPr>
              <a:t>Enterprise-grade Wi-Fi systems are designed to handle a large number of users and provide advanced security features.</a:t>
            </a:r>
          </a:p>
          <a:p>
            <a:r>
              <a:rPr lang="en-US" dirty="0">
                <a:solidFill>
                  <a:srgbClr val="000000"/>
                </a:solidFill>
                <a:effectLst/>
                <a:latin typeface="Calibri" panose="020F0502020204030204" pitchFamily="34" charset="0"/>
                <a:ea typeface="Calibri" panose="020F0502020204030204" pitchFamily="34" charset="0"/>
              </a:rPr>
              <a:t>Mesh Wi-Fi systems use multiple access points to create a seamless and robust network with extended coverage, ideal for larger homes and offices.</a:t>
            </a:r>
            <a:endParaRPr lang="en-US" sz="4000" dirty="0"/>
          </a:p>
        </p:txBody>
      </p:sp>
    </p:spTree>
    <p:extLst>
      <p:ext uri="{BB962C8B-B14F-4D97-AF65-F5344CB8AC3E}">
        <p14:creationId xmlns:p14="http://schemas.microsoft.com/office/powerpoint/2010/main" val="3700579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10205-EA12-F680-944C-8FF519E6FB9B}"/>
              </a:ext>
            </a:extLst>
          </p:cNvPr>
          <p:cNvSpPr>
            <a:spLocks noGrp="1"/>
          </p:cNvSpPr>
          <p:nvPr>
            <p:ph type="title"/>
          </p:nvPr>
        </p:nvSpPr>
        <p:spPr>
          <a:xfrm>
            <a:off x="838200" y="365125"/>
            <a:ext cx="10515600" cy="929103"/>
          </a:xfrm>
        </p:spPr>
        <p:txBody>
          <a:bodyPr>
            <a:normAutofit/>
          </a:bodyPr>
          <a:lstStyle/>
          <a:p>
            <a:r>
              <a:rPr lang="en-US" sz="4000" b="1" dirty="0">
                <a:solidFill>
                  <a:srgbClr val="000000"/>
                </a:solidFill>
                <a:effectLst/>
                <a:latin typeface="Calibri" panose="020F0502020204030204" pitchFamily="34" charset="0"/>
                <a:ea typeface="Calibri" panose="020F0502020204030204" pitchFamily="34" charset="0"/>
              </a:rPr>
              <a:t>UMTS (3G)</a:t>
            </a:r>
            <a:endParaRPr lang="en-US" sz="8000" b="1" dirty="0"/>
          </a:p>
        </p:txBody>
      </p:sp>
      <p:sp>
        <p:nvSpPr>
          <p:cNvPr id="3" name="Content Placeholder 2">
            <a:extLst>
              <a:ext uri="{FF2B5EF4-FFF2-40B4-BE49-F238E27FC236}">
                <a16:creationId xmlns:a16="http://schemas.microsoft.com/office/drawing/2014/main" id="{B2A5F0DA-D302-3FAB-07FA-BCDA32154760}"/>
              </a:ext>
            </a:extLst>
          </p:cNvPr>
          <p:cNvSpPr>
            <a:spLocks noGrp="1"/>
          </p:cNvSpPr>
          <p:nvPr>
            <p:ph idx="1"/>
          </p:nvPr>
        </p:nvSpPr>
        <p:spPr>
          <a:xfrm>
            <a:off x="838200" y="1350498"/>
            <a:ext cx="10515600" cy="4826465"/>
          </a:xfrm>
        </p:spPr>
        <p:txBody>
          <a:bodyPr>
            <a:normAutofit/>
          </a:bodyPr>
          <a:lstStyle/>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which stands for </a:t>
            </a:r>
            <a:r>
              <a:rPr lang="en-US" b="1" dirty="0">
                <a:solidFill>
                  <a:srgbClr val="000000"/>
                </a:solidFill>
                <a:effectLst/>
                <a:latin typeface="Calibri" panose="020F0502020204030204" pitchFamily="34" charset="0"/>
                <a:ea typeface="Calibri" panose="020F0502020204030204" pitchFamily="34" charset="0"/>
              </a:rPr>
              <a:t>Universal Mobile Telecommunications System</a:t>
            </a:r>
            <a:r>
              <a:rPr lang="en-US" dirty="0">
                <a:solidFill>
                  <a:srgbClr val="000000"/>
                </a:solidFill>
                <a:effectLst/>
                <a:latin typeface="Calibri" panose="020F0502020204030204" pitchFamily="34" charset="0"/>
                <a:ea typeface="Calibri" panose="020F0502020204030204" pitchFamily="34" charset="0"/>
              </a:rPr>
              <a:t>, is a third- generation (3G) wireless cellular technology that was developed to provide high-speed mobile broadband connectivity and advanced multimedia services. </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is a significant advancement over 2G technologies like GSM (Global System for Mobile Communications) and paved the way for more data-intensive mobile applications.</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endParaRPr lang="en-US" sz="4000" dirty="0"/>
          </a:p>
        </p:txBody>
      </p:sp>
    </p:spTree>
    <p:extLst>
      <p:ext uri="{BB962C8B-B14F-4D97-AF65-F5344CB8AC3E}">
        <p14:creationId xmlns:p14="http://schemas.microsoft.com/office/powerpoint/2010/main" val="3953961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D3FA07-718F-7620-8304-C607C982210E}"/>
              </a:ext>
            </a:extLst>
          </p:cNvPr>
          <p:cNvSpPr>
            <a:spLocks noGrp="1"/>
          </p:cNvSpPr>
          <p:nvPr>
            <p:ph idx="1"/>
          </p:nvPr>
        </p:nvSpPr>
        <p:spPr>
          <a:xfrm>
            <a:off x="838200" y="520505"/>
            <a:ext cx="10515600" cy="5656458"/>
          </a:xfrm>
        </p:spPr>
        <p:txBody>
          <a:bodyPr>
            <a:normAutofit fontScale="92500"/>
          </a:bodyPr>
          <a:lstStyle/>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offers significantly higher data transfer rates compared to 2G</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r>
              <a:rPr lang="en-US" dirty="0">
                <a:solidFill>
                  <a:srgbClr val="000000"/>
                </a:solidFill>
                <a:effectLst/>
                <a:latin typeface="Calibri" panose="020F0502020204030204" pitchFamily="34" charset="0"/>
                <a:ea typeface="Calibri" panose="020F0502020204030204" pitchFamily="34" charset="0"/>
              </a:rPr>
              <a:t>technologies. It provides data rates ranging from 384 Kbps (kilobits per second) to 2 Mbps (megabits per second), making it suitable for internet browsing, video streaming, and other data-intensive applications.</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networks provide coverage over a broader geographical area than 2G networks, which were primarily designed for voice communication. This</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r>
              <a:rPr lang="en-US" dirty="0">
                <a:solidFill>
                  <a:srgbClr val="000000"/>
                </a:solidFill>
                <a:effectLst/>
                <a:latin typeface="Calibri" panose="020F0502020204030204" pitchFamily="34" charset="0"/>
                <a:ea typeface="Calibri" panose="020F0502020204030204" pitchFamily="34" charset="0"/>
              </a:rPr>
              <a:t>extended coverage is achieved through a network of base stations and cell sites.</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was designed to support multimedia services, including video calls,</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r>
              <a:rPr lang="en-US" dirty="0">
                <a:solidFill>
                  <a:srgbClr val="000000"/>
                </a:solidFill>
                <a:effectLst/>
                <a:latin typeface="Calibri" panose="020F0502020204030204" pitchFamily="34" charset="0"/>
                <a:ea typeface="Calibri" panose="020F0502020204030204" pitchFamily="34" charset="0"/>
              </a:rPr>
              <a:t>video streaming, mobile TV, and interactive gaming. It introduced the</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r>
              <a:rPr lang="en-US" dirty="0">
                <a:solidFill>
                  <a:srgbClr val="000000"/>
                </a:solidFill>
                <a:effectLst/>
                <a:latin typeface="Calibri" panose="020F0502020204030204" pitchFamily="34" charset="0"/>
                <a:ea typeface="Calibri" panose="020F0502020204030204" pitchFamily="34" charset="0"/>
              </a:rPr>
              <a:t>capability for simultaneous voice and data transmission.</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offers improved voice quality, reduced call drop rates, and reduced</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r>
              <a:rPr lang="en-US" dirty="0">
                <a:solidFill>
                  <a:srgbClr val="000000"/>
                </a:solidFill>
                <a:effectLst/>
                <a:latin typeface="Calibri" panose="020F0502020204030204" pitchFamily="34" charset="0"/>
                <a:ea typeface="Calibri" panose="020F0502020204030204" pitchFamily="34" charset="0"/>
              </a:rPr>
              <a:t>latency compared to 2G networks, providing a better user experience for voice calls.</a:t>
            </a:r>
            <a:endParaRPr lang="en-US" sz="4000" dirty="0"/>
          </a:p>
        </p:txBody>
      </p:sp>
    </p:spTree>
    <p:extLst>
      <p:ext uri="{BB962C8B-B14F-4D97-AF65-F5344CB8AC3E}">
        <p14:creationId xmlns:p14="http://schemas.microsoft.com/office/powerpoint/2010/main" val="2016845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879AC-DA69-59C2-B3F8-07092E7D45FA}"/>
              </a:ext>
            </a:extLst>
          </p:cNvPr>
          <p:cNvSpPr>
            <a:spLocks noGrp="1"/>
          </p:cNvSpPr>
          <p:nvPr>
            <p:ph idx="1"/>
          </p:nvPr>
        </p:nvSpPr>
        <p:spPr>
          <a:xfrm>
            <a:off x="838200" y="464234"/>
            <a:ext cx="10515600" cy="5712729"/>
          </a:xfrm>
        </p:spPr>
        <p:txBody>
          <a:bodyPr>
            <a:normAutofit/>
          </a:bodyPr>
          <a:lstStyle/>
          <a:p>
            <a:pPr marL="236538" marR="0" indent="-236538">
              <a:lnSpc>
                <a:spcPct val="107000"/>
              </a:lnSpc>
              <a:spcBef>
                <a:spcPts val="0"/>
              </a:spcBef>
              <a:spcAft>
                <a:spcPts val="800"/>
              </a:spcAft>
            </a:pPr>
            <a:r>
              <a:rPr lang="en-US"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uses a more efficient spectrum allocation method, allowing multiple users to share the same frequency channels simultaneously without significant interference.</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networks are backward compatible with 2G networks, which means that users can seamlessly switch between 3G and 2G networks depending on network availability and signal strength.</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supports various data services and applications such as Web browsing and email, Mobile application downloads, Multimedia Messaging (MMS), GPS and location-based services etc.</a:t>
            </a:r>
          </a:p>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uses SIM (Subscriber Identity Module) cards, similar to GSM technology, to authenticate users and provide personalized services.</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endParaRPr lang="en-US" sz="4000" dirty="0"/>
          </a:p>
        </p:txBody>
      </p:sp>
    </p:spTree>
    <p:extLst>
      <p:ext uri="{BB962C8B-B14F-4D97-AF65-F5344CB8AC3E}">
        <p14:creationId xmlns:p14="http://schemas.microsoft.com/office/powerpoint/2010/main" val="2937668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D0857D-45CB-EC18-AFA7-96A18E5EBC06}"/>
              </a:ext>
            </a:extLst>
          </p:cNvPr>
          <p:cNvSpPr>
            <a:spLocks noGrp="1"/>
          </p:cNvSpPr>
          <p:nvPr>
            <p:ph idx="1"/>
          </p:nvPr>
        </p:nvSpPr>
        <p:spPr>
          <a:xfrm>
            <a:off x="838200" y="796413"/>
            <a:ext cx="10515600" cy="5380550"/>
          </a:xfrm>
        </p:spPr>
        <p:txBody>
          <a:bodyPr>
            <a:normAutofit/>
          </a:bodyPr>
          <a:lstStyle/>
          <a:p>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has seen several evolutionary upgrades, including High-Speed Downlink Packet Access (HSDPA) and High-Speed Uplink Packet Access (HSUPA), which further improved data speeds.</a:t>
            </a:r>
          </a:p>
          <a:p>
            <a:r>
              <a:rPr lang="en-US" dirty="0">
                <a:solidFill>
                  <a:srgbClr val="000000"/>
                </a:solidFill>
                <a:effectLst/>
                <a:latin typeface="Calibri" panose="020F0502020204030204" pitchFamily="34" charset="0"/>
                <a:ea typeface="Calibri" panose="020F0502020204030204" pitchFamily="34" charset="0"/>
              </a:rPr>
              <a:t>While </a:t>
            </a:r>
            <a:r>
              <a:rPr lang="en-US" b="1" dirty="0">
                <a:solidFill>
                  <a:srgbClr val="000000"/>
                </a:solidFill>
                <a:effectLst/>
                <a:latin typeface="Calibri" panose="020F0502020204030204" pitchFamily="34" charset="0"/>
                <a:ea typeface="Calibri" panose="020F0502020204030204" pitchFamily="34" charset="0"/>
              </a:rPr>
              <a:t>UMTS</a:t>
            </a:r>
            <a:r>
              <a:rPr lang="en-US" dirty="0">
                <a:solidFill>
                  <a:srgbClr val="000000"/>
                </a:solidFill>
                <a:effectLst/>
                <a:latin typeface="Calibri" panose="020F0502020204030204" pitchFamily="34" charset="0"/>
                <a:ea typeface="Calibri" panose="020F0502020204030204" pitchFamily="34" charset="0"/>
              </a:rPr>
              <a:t> represented a significant leap in mobile technology, it has been largely surpassed by 4G LTE (Long-Term Evolution) and 5G networks in terms of data speeds and capabilities. Mobile operators have been phasing out 3G networks in favor of these faster technologies.</a:t>
            </a:r>
            <a:endParaRPr lang="en-US" sz="4000" dirty="0"/>
          </a:p>
        </p:txBody>
      </p:sp>
    </p:spTree>
    <p:extLst>
      <p:ext uri="{BB962C8B-B14F-4D97-AF65-F5344CB8AC3E}">
        <p14:creationId xmlns:p14="http://schemas.microsoft.com/office/powerpoint/2010/main" val="2130412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472D8-823B-2F8B-719F-ADDB6CBCBD5E}"/>
              </a:ext>
            </a:extLst>
          </p:cNvPr>
          <p:cNvSpPr>
            <a:spLocks noGrp="1"/>
          </p:cNvSpPr>
          <p:nvPr>
            <p:ph idx="1"/>
          </p:nvPr>
        </p:nvSpPr>
        <p:spPr>
          <a:xfrm>
            <a:off x="838200" y="457200"/>
            <a:ext cx="10515600" cy="5719763"/>
          </a:xfrm>
        </p:spPr>
        <p:txBody>
          <a:bodyPr>
            <a:normAutofit lnSpcReduction="10000"/>
          </a:bodyPr>
          <a:lstStyle/>
          <a:p>
            <a:r>
              <a:rPr lang="en-US" dirty="0">
                <a:solidFill>
                  <a:srgbClr val="000000"/>
                </a:solidFill>
                <a:effectLst/>
                <a:latin typeface="Calibri" panose="020F0502020204030204" pitchFamily="34" charset="0"/>
                <a:ea typeface="Calibri" panose="020F0502020204030204" pitchFamily="34" charset="0"/>
              </a:rPr>
              <a:t>In Nepal, UMTS (3G) technology has been widely used by mobile network operators to provide high-speed mobile data services. </a:t>
            </a:r>
          </a:p>
          <a:p>
            <a:r>
              <a:rPr lang="en-US" dirty="0">
                <a:solidFill>
                  <a:srgbClr val="000000"/>
                </a:solidFill>
                <a:effectLst/>
                <a:latin typeface="Calibri" panose="020F0502020204030204" pitchFamily="34" charset="0"/>
                <a:ea typeface="Calibri" panose="020F0502020204030204" pitchFamily="34" charset="0"/>
              </a:rPr>
              <a:t>Nepal Telecom (NTC) and </a:t>
            </a:r>
            <a:r>
              <a:rPr lang="en-US" dirty="0" err="1">
                <a:solidFill>
                  <a:srgbClr val="000000"/>
                </a:solidFill>
                <a:effectLst/>
                <a:latin typeface="Calibri" panose="020F0502020204030204" pitchFamily="34" charset="0"/>
                <a:ea typeface="Calibri" panose="020F0502020204030204" pitchFamily="34" charset="0"/>
              </a:rPr>
              <a:t>Ncell</a:t>
            </a:r>
            <a:r>
              <a:rPr lang="en-US" dirty="0">
                <a:solidFill>
                  <a:srgbClr val="000000"/>
                </a:solidFill>
                <a:effectLst/>
                <a:latin typeface="Calibri" panose="020F0502020204030204" pitchFamily="34" charset="0"/>
                <a:ea typeface="Calibri" panose="020F0502020204030204" pitchFamily="34" charset="0"/>
              </a:rPr>
              <a:t> are two major mobile network operators in Nepal who have deployed UMTS (3G) networks to offer 3G services to their subscribers. </a:t>
            </a:r>
          </a:p>
          <a:p>
            <a:r>
              <a:rPr lang="en-US" dirty="0">
                <a:solidFill>
                  <a:srgbClr val="000000"/>
                </a:solidFill>
                <a:effectLst/>
                <a:latin typeface="Calibri" panose="020F0502020204030204" pitchFamily="34" charset="0"/>
                <a:ea typeface="Calibri" panose="020F0502020204030204" pitchFamily="34" charset="0"/>
              </a:rPr>
              <a:t>Users with 3G-compatible smartphones or devices can access faster mobile data speeds for internet browsing, social media, video streaming, and more.</a:t>
            </a:r>
          </a:p>
          <a:p>
            <a:r>
              <a:rPr lang="en-US" dirty="0">
                <a:solidFill>
                  <a:srgbClr val="000000"/>
                </a:solidFill>
                <a:effectLst/>
                <a:latin typeface="Calibri" panose="020F0502020204030204" pitchFamily="34" charset="0"/>
                <a:ea typeface="Calibri" panose="020F0502020204030204" pitchFamily="34" charset="0"/>
              </a:rPr>
              <a:t>UMTS technology has made it possible for people across Nepal to access the internet on their mobile devices, even in remote and rural areas where fixed broadband infrastructure may be limited. </a:t>
            </a:r>
          </a:p>
          <a:p>
            <a:r>
              <a:rPr lang="en-US" dirty="0">
                <a:solidFill>
                  <a:srgbClr val="000000"/>
                </a:solidFill>
                <a:effectLst/>
                <a:latin typeface="Calibri" panose="020F0502020204030204" pitchFamily="34" charset="0"/>
                <a:ea typeface="Calibri" panose="020F0502020204030204" pitchFamily="34" charset="0"/>
              </a:rPr>
              <a:t>Likewise, UMTS networks have enabled services like video calling and multimedia messaging (MMS), allowing users to communicate with each other using multimedia content.</a:t>
            </a:r>
            <a:endParaRPr lang="en-US" sz="4000" dirty="0"/>
          </a:p>
        </p:txBody>
      </p:sp>
    </p:spTree>
    <p:extLst>
      <p:ext uri="{BB962C8B-B14F-4D97-AF65-F5344CB8AC3E}">
        <p14:creationId xmlns:p14="http://schemas.microsoft.com/office/powerpoint/2010/main" val="1058662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F497E-A771-5D9E-BC1B-FB41FA04560D}"/>
              </a:ext>
            </a:extLst>
          </p:cNvPr>
          <p:cNvSpPr>
            <a:spLocks noGrp="1"/>
          </p:cNvSpPr>
          <p:nvPr>
            <p:ph idx="1"/>
          </p:nvPr>
        </p:nvSpPr>
        <p:spPr>
          <a:xfrm>
            <a:off x="838200" y="811161"/>
            <a:ext cx="10515600" cy="5365802"/>
          </a:xfrm>
        </p:spPr>
        <p:txBody>
          <a:bodyPr>
            <a:normAutofit/>
          </a:bodyPr>
          <a:lstStyle/>
          <a:p>
            <a:r>
              <a:rPr lang="en-US" dirty="0">
                <a:solidFill>
                  <a:srgbClr val="000000"/>
                </a:solidFill>
                <a:effectLst/>
                <a:latin typeface="Calibri" panose="020F0502020204030204" pitchFamily="34" charset="0"/>
                <a:ea typeface="Calibri" panose="020F0502020204030204" pitchFamily="34" charset="0"/>
              </a:rPr>
              <a:t>As mobile technology continues to advance, many regions, including Nepal, have been transitioning to 4G LTE and 5G networks to meet the growing demand for faster data speeds and more advanced mobile services. </a:t>
            </a:r>
          </a:p>
          <a:p>
            <a:r>
              <a:rPr lang="en-US" dirty="0">
                <a:solidFill>
                  <a:srgbClr val="000000"/>
                </a:solidFill>
                <a:effectLst/>
                <a:latin typeface="Calibri" panose="020F0502020204030204" pitchFamily="34" charset="0"/>
                <a:ea typeface="Calibri" panose="020F0502020204030204" pitchFamily="34" charset="0"/>
              </a:rPr>
              <a:t>However, 3G networks may still be in use in certain areas, providing essential connectivity for voice and data services.</a:t>
            </a:r>
            <a:r>
              <a:rPr lang="en-US" dirty="0">
                <a:effectLst/>
                <a:latin typeface="Calibri" panose="020F0502020204030204" pitchFamily="34" charset="0"/>
                <a:ea typeface="Calibri" panose="020F0502020204030204" pitchFamily="34" charset="0"/>
              </a:rPr>
              <a:t/>
            </a:r>
            <a:br>
              <a:rPr lang="en-US" dirty="0">
                <a:effectLst/>
                <a:latin typeface="Calibri" panose="020F0502020204030204" pitchFamily="34" charset="0"/>
                <a:ea typeface="Calibri" panose="020F0502020204030204" pitchFamily="34" charset="0"/>
              </a:rPr>
            </a:br>
            <a:endParaRPr lang="en-US" sz="4000" dirty="0"/>
          </a:p>
        </p:txBody>
      </p:sp>
    </p:spTree>
    <p:extLst>
      <p:ext uri="{BB962C8B-B14F-4D97-AF65-F5344CB8AC3E}">
        <p14:creationId xmlns:p14="http://schemas.microsoft.com/office/powerpoint/2010/main" val="2028831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4522-A645-53FD-58FE-650202C5B5A1}"/>
              </a:ext>
            </a:extLst>
          </p:cNvPr>
          <p:cNvSpPr>
            <a:spLocks noGrp="1"/>
          </p:cNvSpPr>
          <p:nvPr>
            <p:ph type="title"/>
          </p:nvPr>
        </p:nvSpPr>
        <p:spPr>
          <a:xfrm>
            <a:off x="838200" y="365125"/>
            <a:ext cx="10515600" cy="844243"/>
          </a:xfrm>
        </p:spPr>
        <p:txBody>
          <a:bodyPr>
            <a:normAutofit/>
          </a:bodyPr>
          <a:lstStyle/>
          <a:p>
            <a:r>
              <a:rPr lang="en-US" sz="4000" b="1" dirty="0">
                <a:solidFill>
                  <a:srgbClr val="000000"/>
                </a:solidFill>
                <a:effectLst/>
                <a:latin typeface="Calibri" panose="020F0502020204030204" pitchFamily="34" charset="0"/>
                <a:ea typeface="Calibri" panose="020F0502020204030204" pitchFamily="34" charset="0"/>
              </a:rPr>
              <a:t>LTE (4G)</a:t>
            </a:r>
            <a:endParaRPr lang="en-US" sz="8000" b="1" dirty="0"/>
          </a:p>
        </p:txBody>
      </p:sp>
      <p:sp>
        <p:nvSpPr>
          <p:cNvPr id="3" name="Content Placeholder 2">
            <a:extLst>
              <a:ext uri="{FF2B5EF4-FFF2-40B4-BE49-F238E27FC236}">
                <a16:creationId xmlns:a16="http://schemas.microsoft.com/office/drawing/2014/main" id="{0252DC50-1A86-23D7-C28D-E6685BA13F02}"/>
              </a:ext>
            </a:extLst>
          </p:cNvPr>
          <p:cNvSpPr>
            <a:spLocks noGrp="1"/>
          </p:cNvSpPr>
          <p:nvPr>
            <p:ph idx="1"/>
          </p:nvPr>
        </p:nvSpPr>
        <p:spPr>
          <a:xfrm>
            <a:off x="838200" y="1268361"/>
            <a:ext cx="10515600" cy="4908602"/>
          </a:xfrm>
        </p:spPr>
        <p:txBody>
          <a:bodyPr>
            <a:normAutofit/>
          </a:bodyPr>
          <a:lstStyle/>
          <a:p>
            <a:r>
              <a:rPr lang="en-US" b="1" dirty="0">
                <a:solidFill>
                  <a:srgbClr val="000000"/>
                </a:solidFill>
                <a:effectLst/>
                <a:latin typeface="Calibri" panose="020F0502020204030204" pitchFamily="34" charset="0"/>
                <a:ea typeface="Calibri" panose="020F0502020204030204" pitchFamily="34" charset="0"/>
              </a:rPr>
              <a:t>LTE</a:t>
            </a:r>
            <a:r>
              <a:rPr lang="en-US" dirty="0">
                <a:solidFill>
                  <a:srgbClr val="000000"/>
                </a:solidFill>
                <a:effectLst/>
                <a:latin typeface="Calibri" panose="020F0502020204030204" pitchFamily="34" charset="0"/>
                <a:ea typeface="Calibri" panose="020F0502020204030204" pitchFamily="34" charset="0"/>
              </a:rPr>
              <a:t>, or </a:t>
            </a:r>
            <a:r>
              <a:rPr lang="en-US" b="1" dirty="0">
                <a:solidFill>
                  <a:srgbClr val="000000"/>
                </a:solidFill>
                <a:effectLst/>
                <a:latin typeface="Calibri" panose="020F0502020204030204" pitchFamily="34" charset="0"/>
                <a:ea typeface="Calibri" panose="020F0502020204030204" pitchFamily="34" charset="0"/>
              </a:rPr>
              <a:t>Long-Term Evolution</a:t>
            </a:r>
            <a:r>
              <a:rPr lang="en-US" dirty="0">
                <a:solidFill>
                  <a:srgbClr val="000000"/>
                </a:solidFill>
                <a:effectLst/>
                <a:latin typeface="Calibri" panose="020F0502020204030204" pitchFamily="34" charset="0"/>
                <a:ea typeface="Calibri" panose="020F0502020204030204" pitchFamily="34" charset="0"/>
              </a:rPr>
              <a:t>, is a fourth-generation (4G) wireless communication technology and standard for mobile broadband networks. </a:t>
            </a:r>
          </a:p>
          <a:p>
            <a:r>
              <a:rPr lang="en-US" dirty="0">
                <a:solidFill>
                  <a:srgbClr val="000000"/>
                </a:solidFill>
                <a:effectLst/>
                <a:latin typeface="Calibri" panose="020F0502020204030204" pitchFamily="34" charset="0"/>
                <a:ea typeface="Calibri" panose="020F0502020204030204" pitchFamily="34" charset="0"/>
              </a:rPr>
              <a:t>It represents a significant advancement over 3G technology like UMTS (Universal Mobile Telecommunications System) and offers faster data speeds, lower latency, and improved overall performance. </a:t>
            </a:r>
          </a:p>
          <a:p>
            <a:r>
              <a:rPr lang="en-US" dirty="0">
                <a:solidFill>
                  <a:srgbClr val="000000"/>
                </a:solidFill>
                <a:effectLst/>
                <a:latin typeface="Calibri" panose="020F0502020204030204" pitchFamily="34" charset="0"/>
                <a:ea typeface="Calibri" panose="020F0502020204030204" pitchFamily="34" charset="0"/>
              </a:rPr>
              <a:t>LTE has become the foundation for high-speed wireless internet access and has paved the way for various applications, including mobile data, video streaming, and IoT (Internet of Things) connectivity.</a:t>
            </a:r>
            <a:endParaRPr lang="en-US" sz="4000" dirty="0"/>
          </a:p>
        </p:txBody>
      </p:sp>
    </p:spTree>
    <p:extLst>
      <p:ext uri="{BB962C8B-B14F-4D97-AF65-F5344CB8AC3E}">
        <p14:creationId xmlns:p14="http://schemas.microsoft.com/office/powerpoint/2010/main" val="2222219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0907"/>
          </a:xfrm>
        </p:spPr>
        <p:txBody>
          <a:bodyPr>
            <a:normAutofit fontScale="92500" lnSpcReduction="10000"/>
          </a:bodyPr>
          <a:lstStyle/>
          <a:p>
            <a:r>
              <a:rPr lang="en-US" b="1" dirty="0"/>
              <a:t>LTE</a:t>
            </a:r>
            <a:r>
              <a:rPr lang="en-US" dirty="0"/>
              <a:t> delivers significantly higher data speeds compared to 3G technologies. It can provide download speeds ranging from 5 Mbps to over 100 Mbps,</a:t>
            </a:r>
            <a:br>
              <a:rPr lang="en-US" dirty="0"/>
            </a:br>
            <a:r>
              <a:rPr lang="en-US" dirty="0"/>
              <a:t>depending on the network configuration and user equipment.</a:t>
            </a:r>
          </a:p>
          <a:p>
            <a:r>
              <a:rPr lang="en-US" b="1" dirty="0"/>
              <a:t>LTE</a:t>
            </a:r>
            <a:r>
              <a:rPr lang="en-US" dirty="0"/>
              <a:t> networks offer reduced latency, which means that data packets travel</a:t>
            </a:r>
            <a:br>
              <a:rPr lang="en-US" dirty="0"/>
            </a:br>
            <a:r>
              <a:rPr lang="en-US" dirty="0"/>
              <a:t>with minimal delay. This low latency is essential for applications like online</a:t>
            </a:r>
            <a:br>
              <a:rPr lang="en-US" dirty="0"/>
            </a:br>
            <a:r>
              <a:rPr lang="en-US" dirty="0"/>
              <a:t>gaming, real-time video conferencing, and autonomous vehicles.</a:t>
            </a:r>
          </a:p>
          <a:p>
            <a:r>
              <a:rPr lang="en-US" b="1" dirty="0"/>
              <a:t>LTE</a:t>
            </a:r>
            <a:r>
              <a:rPr lang="en-US" dirty="0"/>
              <a:t> networks are designed to accommodate a large number of simultaneous users and devices, making them suitable for densely populated areas and crowded events.</a:t>
            </a:r>
          </a:p>
          <a:p>
            <a:r>
              <a:rPr lang="en-US" b="1" dirty="0"/>
              <a:t>LTE</a:t>
            </a:r>
            <a:r>
              <a:rPr lang="en-US" dirty="0"/>
              <a:t> uses advanced modulation and coding techniques, as well as more efficient spectrum utilization, to deliver higher data rates per unit of spectrum compared to previous generations of wireless technology.</a:t>
            </a:r>
          </a:p>
          <a:p>
            <a:r>
              <a:rPr lang="en-US" b="1" dirty="0"/>
              <a:t>LTE</a:t>
            </a:r>
            <a:r>
              <a:rPr lang="en-US" dirty="0"/>
              <a:t> networks are based on an all-IP (Internet Protocol) architecture, allowing for seamless integration with the internet and IP-based services.</a:t>
            </a:r>
          </a:p>
        </p:txBody>
      </p:sp>
    </p:spTree>
    <p:extLst>
      <p:ext uri="{BB962C8B-B14F-4D97-AF65-F5344CB8AC3E}">
        <p14:creationId xmlns:p14="http://schemas.microsoft.com/office/powerpoint/2010/main" val="1276594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5302"/>
            <a:ext cx="10515600" cy="5751661"/>
          </a:xfrm>
        </p:spPr>
        <p:txBody>
          <a:bodyPr>
            <a:normAutofit lnSpcReduction="10000"/>
          </a:bodyPr>
          <a:lstStyle/>
          <a:p>
            <a:r>
              <a:rPr lang="en-US" b="1" dirty="0"/>
              <a:t>LTE</a:t>
            </a:r>
            <a:r>
              <a:rPr lang="en-US" dirty="0"/>
              <a:t> operates in various frequency bands, including low, mid, and high</a:t>
            </a:r>
            <a:br>
              <a:rPr lang="en-US" dirty="0"/>
            </a:br>
            <a:r>
              <a:rPr lang="en-US" dirty="0"/>
              <a:t>frequencies. This flexibility allows mobile operators to deploy LTE in different spectrum bands, optimizing coverage and capacity.</a:t>
            </a:r>
          </a:p>
          <a:p>
            <a:r>
              <a:rPr lang="en-US" b="1" dirty="0"/>
              <a:t>LTE</a:t>
            </a:r>
            <a:r>
              <a:rPr lang="en-US" dirty="0"/>
              <a:t> employs Multiple-Input, Multiple-Output (MIMO) technology, which uses multiple antennas on both the transmitter and receiver sides to enhance signal quality, increase data rates, and improve coverage.</a:t>
            </a:r>
          </a:p>
          <a:p>
            <a:r>
              <a:rPr lang="en-US" b="1" dirty="0"/>
              <a:t>LTE</a:t>
            </a:r>
            <a:r>
              <a:rPr lang="en-US" dirty="0"/>
              <a:t> networks support voice calls over IP using </a:t>
            </a:r>
            <a:r>
              <a:rPr lang="en-US" dirty="0" err="1"/>
              <a:t>VoLTE</a:t>
            </a:r>
            <a:r>
              <a:rPr lang="en-US" dirty="0"/>
              <a:t> technology, which provides high-quality voice calls over the same LTE data network.</a:t>
            </a:r>
          </a:p>
          <a:p>
            <a:r>
              <a:rPr lang="en-US" b="1" dirty="0"/>
              <a:t>LTE</a:t>
            </a:r>
            <a:r>
              <a:rPr lang="en-US" dirty="0"/>
              <a:t> networks are designed for seamless handovers between cell towers and network nodes, ensuring that users can move while maintaining an uninterrupted data or voice connection.</a:t>
            </a:r>
            <a:br>
              <a:rPr lang="en-US" dirty="0"/>
            </a:br>
            <a:endParaRPr lang="en-US" dirty="0"/>
          </a:p>
        </p:txBody>
      </p:sp>
    </p:spTree>
    <p:extLst>
      <p:ext uri="{BB962C8B-B14F-4D97-AF65-F5344CB8AC3E}">
        <p14:creationId xmlns:p14="http://schemas.microsoft.com/office/powerpoint/2010/main" val="28532301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645335"/>
          </a:xfrm>
        </p:spPr>
        <p:txBody>
          <a:bodyPr>
            <a:normAutofit/>
          </a:bodyPr>
          <a:lstStyle/>
          <a:p>
            <a:r>
              <a:rPr lang="en-US" b="1" dirty="0"/>
              <a:t>LTE</a:t>
            </a:r>
            <a:r>
              <a:rPr lang="en-US" dirty="0"/>
              <a:t> has seen several evolutionary steps, including LTE-Advanced (LTE-A) and LTE-Advanced Pro, which have further improved data speeds, capacity, and network performance.</a:t>
            </a:r>
          </a:p>
          <a:p>
            <a:r>
              <a:rPr lang="en-US" b="1" dirty="0"/>
              <a:t>LTE</a:t>
            </a:r>
            <a:r>
              <a:rPr lang="en-US" dirty="0"/>
              <a:t> networks are backward compatible with 2G and 3G technologies, allowing users to switch between network types as needed.</a:t>
            </a:r>
            <a:br>
              <a:rPr lang="en-US" dirty="0"/>
            </a:br>
            <a:r>
              <a:rPr lang="en-US" dirty="0"/>
              <a:t>While LTE represents a significant leap in mobile technology, the industry has been transitioning to 5G networks, which offer even higher data speeds, ultra- low latency, and support for a wide range of applications, including IoT and Augmented Reality (AR).</a:t>
            </a:r>
          </a:p>
        </p:txBody>
      </p:sp>
    </p:spTree>
    <p:extLst>
      <p:ext uri="{BB962C8B-B14F-4D97-AF65-F5344CB8AC3E}">
        <p14:creationId xmlns:p14="http://schemas.microsoft.com/office/powerpoint/2010/main" val="4069510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3526"/>
            <a:ext cx="10515600" cy="5613437"/>
          </a:xfrm>
        </p:spPr>
        <p:txBody>
          <a:bodyPr>
            <a:normAutofit fontScale="92500"/>
          </a:bodyPr>
          <a:lstStyle/>
          <a:p>
            <a:r>
              <a:rPr lang="en-US" dirty="0"/>
              <a:t>In Nepal, LTE (4G) technology has been deployed by major mobile network operators to provide high-speed mobile data services to consumers. </a:t>
            </a:r>
          </a:p>
          <a:p>
            <a:r>
              <a:rPr lang="en-US" dirty="0"/>
              <a:t>For instance, Nepal Telecom (NTC) and </a:t>
            </a:r>
            <a:r>
              <a:rPr lang="en-US" dirty="0" err="1"/>
              <a:t>Ncell</a:t>
            </a:r>
            <a:r>
              <a:rPr lang="en-US" dirty="0"/>
              <a:t> are leading mobile operators in Nepal who have rolled out 4G LTE networks across various cities and regions in the country. </a:t>
            </a:r>
          </a:p>
          <a:p>
            <a:r>
              <a:rPr lang="en-US" dirty="0"/>
              <a:t>This has allowed subscribers to access faster mobile data speeds for internet browsing, streaming, online gaming, and other data-intensive applications. </a:t>
            </a:r>
          </a:p>
          <a:p>
            <a:r>
              <a:rPr lang="en-US" dirty="0"/>
              <a:t>LTE networks in Nepal also support </a:t>
            </a:r>
            <a:r>
              <a:rPr lang="en-US" dirty="0" err="1"/>
              <a:t>IoT</a:t>
            </a:r>
            <a:r>
              <a:rPr lang="en-US" dirty="0"/>
              <a:t> devices and applications, enabling connectivity for smart homes, smart cities, and various industrial and agricultural applications. </a:t>
            </a:r>
          </a:p>
          <a:p>
            <a:r>
              <a:rPr lang="en-US" dirty="0"/>
              <a:t>With the introduction of 4G LTE, mobile users in Nepal can enjoy improved voice quality, faster data speeds, and a broader range of mobile services and applications.</a:t>
            </a:r>
          </a:p>
        </p:txBody>
      </p:sp>
    </p:spTree>
    <p:extLst>
      <p:ext uri="{BB962C8B-B14F-4D97-AF65-F5344CB8AC3E}">
        <p14:creationId xmlns:p14="http://schemas.microsoft.com/office/powerpoint/2010/main" val="39220223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5G NR</a:t>
            </a:r>
          </a:p>
        </p:txBody>
      </p:sp>
      <p:sp>
        <p:nvSpPr>
          <p:cNvPr id="3" name="Content Placeholder 2"/>
          <p:cNvSpPr>
            <a:spLocks noGrp="1"/>
          </p:cNvSpPr>
          <p:nvPr>
            <p:ph idx="1"/>
          </p:nvPr>
        </p:nvSpPr>
        <p:spPr/>
        <p:txBody>
          <a:bodyPr/>
          <a:lstStyle/>
          <a:p>
            <a:r>
              <a:rPr lang="en-US" b="1" dirty="0"/>
              <a:t>5G NR</a:t>
            </a:r>
            <a:r>
              <a:rPr lang="en-US" dirty="0"/>
              <a:t>, which stands for “</a:t>
            </a:r>
            <a:r>
              <a:rPr lang="en-US" b="1" dirty="0"/>
              <a:t>5G New Radio</a:t>
            </a:r>
            <a:r>
              <a:rPr lang="en-US" dirty="0"/>
              <a:t>,” is the global standard for the air interface of 5G wireless communication systems. </a:t>
            </a:r>
          </a:p>
          <a:p>
            <a:r>
              <a:rPr lang="en-US" dirty="0"/>
              <a:t>It is a critical component of 5G networks, enabling faster data speeds, lower latency, and improved network performance compared to previous generations of wireless technology. </a:t>
            </a:r>
          </a:p>
        </p:txBody>
      </p:sp>
    </p:spTree>
    <p:extLst>
      <p:ext uri="{BB962C8B-B14F-4D97-AF65-F5344CB8AC3E}">
        <p14:creationId xmlns:p14="http://schemas.microsoft.com/office/powerpoint/2010/main" val="3504075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Here’s an overview of 5G NR technology:</a:t>
            </a:r>
          </a:p>
        </p:txBody>
      </p:sp>
      <p:sp>
        <p:nvSpPr>
          <p:cNvPr id="3" name="Content Placeholder 2"/>
          <p:cNvSpPr>
            <a:spLocks noGrp="1"/>
          </p:cNvSpPr>
          <p:nvPr>
            <p:ph idx="1"/>
          </p:nvPr>
        </p:nvSpPr>
        <p:spPr/>
        <p:txBody>
          <a:bodyPr>
            <a:normAutofit fontScale="92500" lnSpcReduction="10000"/>
          </a:bodyPr>
          <a:lstStyle/>
          <a:p>
            <a:r>
              <a:rPr lang="en-US" b="1" dirty="0"/>
              <a:t>5G NR </a:t>
            </a:r>
            <a:r>
              <a:rPr lang="en-US" dirty="0"/>
              <a:t>offers significantly higher data rates compared to 4G LTE and earlier generations. It can provide peak data speeds of up to 20 Gbps, making it suitable for bandwidth-intensive applications like 4K and 8K video streaming, Virtual Reality (VR), and Augmented Reality (AR).</a:t>
            </a:r>
          </a:p>
          <a:p>
            <a:r>
              <a:rPr lang="en-US" b="1" dirty="0"/>
              <a:t>5G NR </a:t>
            </a:r>
            <a:r>
              <a:rPr lang="en-US" dirty="0"/>
              <a:t>networks are designed to have ultra-low latency, reducing the delay between sending and receiving data. This low latency is crucial for applications that require real-time responsiveness, such as autonomous vehicles, remote surgery, and online gaming.</a:t>
            </a:r>
          </a:p>
          <a:p>
            <a:r>
              <a:rPr lang="en-US" b="1" dirty="0"/>
              <a:t>5G NR </a:t>
            </a:r>
            <a:r>
              <a:rPr lang="en-US" dirty="0"/>
              <a:t>supports a massive number of connected devices, making it suitable for the Internet of Things (</a:t>
            </a:r>
            <a:r>
              <a:rPr lang="en-US" dirty="0" err="1"/>
              <a:t>IoT</a:t>
            </a:r>
            <a:r>
              <a:rPr lang="en-US" dirty="0"/>
              <a:t>). It can handle up to a million devices per square kilometer, enabling the growth of smart cities, industrial automation, and </a:t>
            </a:r>
            <a:r>
              <a:rPr lang="en-US" dirty="0" err="1"/>
              <a:t>IoT</a:t>
            </a:r>
            <a:r>
              <a:rPr lang="en-US" dirty="0"/>
              <a:t> deployments.</a:t>
            </a:r>
          </a:p>
        </p:txBody>
      </p:sp>
    </p:spTree>
    <p:extLst>
      <p:ext uri="{BB962C8B-B14F-4D97-AF65-F5344CB8AC3E}">
        <p14:creationId xmlns:p14="http://schemas.microsoft.com/office/powerpoint/2010/main" val="2048500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995"/>
            <a:ext cx="10515600" cy="5655968"/>
          </a:xfrm>
        </p:spPr>
        <p:txBody>
          <a:bodyPr>
            <a:normAutofit lnSpcReduction="10000"/>
          </a:bodyPr>
          <a:lstStyle/>
          <a:p>
            <a:r>
              <a:rPr lang="en-US" b="1" dirty="0"/>
              <a:t>5G NR </a:t>
            </a:r>
            <a:r>
              <a:rPr lang="en-US" dirty="0"/>
              <a:t>is optimized for delivering high-speed mobile broadband services to smartphones, tablets, and other consumer devices. It provides an improved user experience for mobile internet access, streaming media, and social networking.</a:t>
            </a:r>
          </a:p>
          <a:p>
            <a:r>
              <a:rPr lang="en-US" b="1" dirty="0"/>
              <a:t>5G NR </a:t>
            </a:r>
            <a:r>
              <a:rPr lang="en-US" dirty="0"/>
              <a:t>networks are designed to provide ultra-reliable and low-latency communication for mission-critical applications such as industrial automation, remote control, and emergency services.</a:t>
            </a:r>
          </a:p>
          <a:p>
            <a:r>
              <a:rPr lang="en-US" b="1" dirty="0"/>
              <a:t>5G NR </a:t>
            </a:r>
            <a:r>
              <a:rPr lang="en-US" dirty="0"/>
              <a:t>enables network slicing, allowing network operators to partition the network into multiple virtual networks with different characteristics to serve diverse use cases and industries.</a:t>
            </a:r>
          </a:p>
          <a:p>
            <a:r>
              <a:rPr lang="en-US" b="1" dirty="0"/>
              <a:t>5G NR </a:t>
            </a:r>
            <a:r>
              <a:rPr lang="en-US" dirty="0"/>
              <a:t>utilizes higher-frequency spectrum, including Millimeter-Wave (</a:t>
            </a:r>
            <a:r>
              <a:rPr lang="en-US" dirty="0" err="1"/>
              <a:t>mmWave</a:t>
            </a:r>
            <a:r>
              <a:rPr lang="en-US" dirty="0"/>
              <a:t>) bands, to achieve faster data speeds. These high-frequency bands offer wide bandwidth but have shorter range, requiring more small cell deployments.</a:t>
            </a:r>
          </a:p>
          <a:p>
            <a:endParaRPr lang="en-US" dirty="0"/>
          </a:p>
        </p:txBody>
      </p:sp>
    </p:spTree>
    <p:extLst>
      <p:ext uri="{BB962C8B-B14F-4D97-AF65-F5344CB8AC3E}">
        <p14:creationId xmlns:p14="http://schemas.microsoft.com/office/powerpoint/2010/main" val="827778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2381"/>
            <a:ext cx="10515600" cy="5464582"/>
          </a:xfrm>
        </p:spPr>
        <p:txBody>
          <a:bodyPr>
            <a:normAutofit fontScale="92500"/>
          </a:bodyPr>
          <a:lstStyle/>
          <a:p>
            <a:r>
              <a:rPr lang="en-US" b="1" dirty="0"/>
              <a:t>5G NR </a:t>
            </a:r>
            <a:r>
              <a:rPr lang="en-US" dirty="0"/>
              <a:t>networks use Advanced Antenna Technologies like beamforming and massive MIMO (Multiple-Input, Multiple-Output) to improve signal quality, extend coverage, and increase network capacity.</a:t>
            </a:r>
          </a:p>
          <a:p>
            <a:r>
              <a:rPr lang="en-US" b="1" dirty="0"/>
              <a:t>5G NR </a:t>
            </a:r>
            <a:r>
              <a:rPr lang="en-US" dirty="0"/>
              <a:t>is designed to be more energy-efficient than previous generations of</a:t>
            </a:r>
            <a:br>
              <a:rPr lang="en-US" dirty="0"/>
            </a:br>
            <a:r>
              <a:rPr lang="en-US" dirty="0"/>
              <a:t>wireless technology, which is essential for reducing the environmental impact of network operations.</a:t>
            </a:r>
          </a:p>
          <a:p>
            <a:r>
              <a:rPr lang="en-US" b="1" dirty="0"/>
              <a:t>5G NR </a:t>
            </a:r>
            <a:r>
              <a:rPr lang="en-US" dirty="0"/>
              <a:t>is designed to coexist and interoperate with 4G LTE networks, allowing for a smooth transition to 5G while leveraging existing infrastructure.</a:t>
            </a:r>
          </a:p>
          <a:p>
            <a:r>
              <a:rPr lang="en-US" b="1" dirty="0"/>
              <a:t>5G NR </a:t>
            </a:r>
            <a:r>
              <a:rPr lang="en-US" dirty="0"/>
              <a:t>is a global standard defined by organizations like the 3rd Generation</a:t>
            </a:r>
            <a:br>
              <a:rPr lang="en-US" dirty="0"/>
            </a:br>
            <a:r>
              <a:rPr lang="en-US" dirty="0"/>
              <a:t>Partnership Project (3GPP), ensuring interoperability and compatibility among different network equipment vendors and mobile devices.</a:t>
            </a:r>
          </a:p>
        </p:txBody>
      </p:sp>
    </p:spTree>
    <p:extLst>
      <p:ext uri="{BB962C8B-B14F-4D97-AF65-F5344CB8AC3E}">
        <p14:creationId xmlns:p14="http://schemas.microsoft.com/office/powerpoint/2010/main" val="13392479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7833"/>
            <a:ext cx="10515600" cy="6103088"/>
          </a:xfrm>
        </p:spPr>
        <p:txBody>
          <a:bodyPr>
            <a:normAutofit fontScale="92500" lnSpcReduction="20000"/>
          </a:bodyPr>
          <a:lstStyle/>
          <a:p>
            <a:r>
              <a:rPr lang="en-US" dirty="0"/>
              <a:t>In Nepal, 5G NR technology is expected to play a crucial role in advancing wireless communication capabilities. </a:t>
            </a:r>
          </a:p>
          <a:p>
            <a:r>
              <a:rPr lang="en-US" dirty="0"/>
              <a:t>While 5G deployments are in their early stages, it’s likely that major mobile network operators like Nepal Telecom (NTC) and </a:t>
            </a:r>
            <a:r>
              <a:rPr lang="en-US" dirty="0" err="1"/>
              <a:t>Ncell</a:t>
            </a:r>
            <a:r>
              <a:rPr lang="en-US" dirty="0"/>
              <a:t> are actively working</a:t>
            </a:r>
            <a:br>
              <a:rPr lang="en-US" dirty="0"/>
            </a:br>
            <a:r>
              <a:rPr lang="en-US" dirty="0"/>
              <a:t>on plans to roll out 5G networks to meet the increasing demand for high-speed data and new applications. </a:t>
            </a:r>
          </a:p>
          <a:p>
            <a:r>
              <a:rPr lang="en-US" dirty="0"/>
              <a:t>The introduction of 5G NR in Nepal has the potential to revolutionize various sectors, including healthcare, education, transportation, and entertainment. </a:t>
            </a:r>
          </a:p>
          <a:p>
            <a:r>
              <a:rPr lang="en-US" dirty="0"/>
              <a:t>It can enable innovative applications like telemedicine, remote learning, smart transportation systems, and immersive AR/VR experiences. </a:t>
            </a:r>
          </a:p>
          <a:p>
            <a:r>
              <a:rPr lang="en-US" dirty="0"/>
              <a:t>Additionally, it will provide the infrastructure needed to support the growing number of connected devices in the </a:t>
            </a:r>
            <a:r>
              <a:rPr lang="en-US" dirty="0" err="1"/>
              <a:t>IoT</a:t>
            </a:r>
            <a:r>
              <a:rPr lang="en-US" dirty="0"/>
              <a:t> ecosystem. </a:t>
            </a:r>
          </a:p>
          <a:p>
            <a:r>
              <a:rPr lang="en-US" dirty="0"/>
              <a:t>As 5G NR networks continue to expand globally, including in Nepal, they are expected to drive economic growth, enhance connectivity, and open up opportunities for technological innovation and digital transformation across industries.</a:t>
            </a:r>
          </a:p>
        </p:txBody>
      </p:sp>
    </p:spTree>
    <p:extLst>
      <p:ext uri="{BB962C8B-B14F-4D97-AF65-F5344CB8AC3E}">
        <p14:creationId xmlns:p14="http://schemas.microsoft.com/office/powerpoint/2010/main" val="7209689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7740"/>
          </a:xfrm>
        </p:spPr>
        <p:txBody>
          <a:bodyPr>
            <a:normAutofit/>
          </a:bodyPr>
          <a:lstStyle/>
          <a:p>
            <a:r>
              <a:rPr lang="en-US" sz="3600" b="1" dirty="0"/>
              <a:t>Security Issues related to Wireless Communications</a:t>
            </a:r>
          </a:p>
        </p:txBody>
      </p:sp>
      <p:sp>
        <p:nvSpPr>
          <p:cNvPr id="3" name="Content Placeholder 2"/>
          <p:cNvSpPr>
            <a:spLocks noGrp="1"/>
          </p:cNvSpPr>
          <p:nvPr>
            <p:ph idx="1"/>
          </p:nvPr>
        </p:nvSpPr>
        <p:spPr/>
        <p:txBody>
          <a:bodyPr/>
          <a:lstStyle/>
          <a:p>
            <a:r>
              <a:rPr lang="en-US" dirty="0"/>
              <a:t>Wireless communications have become an integral part of our daily lives, providing convenient access to the internet and enabling communication between devices. </a:t>
            </a:r>
          </a:p>
          <a:p>
            <a:r>
              <a:rPr lang="en-US" dirty="0"/>
              <a:t>However, they also come with various security challenges and vulnerabilities that need to be addressed to protect data, privacy, and network integrity.</a:t>
            </a:r>
          </a:p>
        </p:txBody>
      </p:sp>
    </p:spTree>
    <p:extLst>
      <p:ext uri="{BB962C8B-B14F-4D97-AF65-F5344CB8AC3E}">
        <p14:creationId xmlns:p14="http://schemas.microsoft.com/office/powerpoint/2010/main" val="12126192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1877"/>
            <a:ext cx="10515600" cy="5762293"/>
          </a:xfrm>
        </p:spPr>
        <p:txBody>
          <a:bodyPr>
            <a:normAutofit fontScale="92500"/>
          </a:bodyPr>
          <a:lstStyle/>
          <a:p>
            <a:r>
              <a:rPr lang="en-US" dirty="0"/>
              <a:t>Unauthorized Access is a major security issue in wireless scenarios. Hackers may attempt to gain unauthorized access to wireless networks by exploiting weak passwords, using brute force attacks, or employing techniques like packet sniffing. Once inside the network, they can intercept data, </a:t>
            </a:r>
            <a:r>
              <a:rPr lang="en-US" dirty="0" smtClean="0"/>
              <a:t>snoop </a:t>
            </a:r>
            <a:r>
              <a:rPr lang="en-US" dirty="0"/>
              <a:t>on communications, or launch further attacks.</a:t>
            </a:r>
          </a:p>
          <a:p>
            <a:r>
              <a:rPr lang="en-US" dirty="0"/>
              <a:t>While Wi-Fi networks often use encryption protocols like WPA3 or WPA2 to</a:t>
            </a:r>
            <a:br>
              <a:rPr lang="en-US" dirty="0"/>
            </a:br>
            <a:r>
              <a:rPr lang="en-US" dirty="0"/>
              <a:t>secure data transmission, vulnerabilities can be found in encryption</a:t>
            </a:r>
            <a:br>
              <a:rPr lang="en-US" dirty="0"/>
            </a:br>
            <a:r>
              <a:rPr lang="en-US" dirty="0"/>
              <a:t>algorithms. Weak passwords or improper configuration can also undermine</a:t>
            </a:r>
            <a:br>
              <a:rPr lang="en-US" dirty="0"/>
            </a:br>
            <a:r>
              <a:rPr lang="en-US" dirty="0"/>
              <a:t>encryption’s effectiveness.</a:t>
            </a:r>
          </a:p>
          <a:p>
            <a:r>
              <a:rPr lang="en-US" dirty="0"/>
              <a:t>Unauthorized or rogue access points can be set up by malicious actors within the vicinity of a legitimate network. Devices may unwittingly connect to these rogue access points, allowing attackers to intercept data or launch attacks.</a:t>
            </a:r>
          </a:p>
        </p:txBody>
      </p:sp>
    </p:spTree>
    <p:extLst>
      <p:ext uri="{BB962C8B-B14F-4D97-AF65-F5344CB8AC3E}">
        <p14:creationId xmlns:p14="http://schemas.microsoft.com/office/powerpoint/2010/main" val="15445890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4912"/>
            <a:ext cx="10515600" cy="5932967"/>
          </a:xfrm>
        </p:spPr>
        <p:txBody>
          <a:bodyPr>
            <a:normAutofit fontScale="92500" lnSpcReduction="20000"/>
          </a:bodyPr>
          <a:lstStyle/>
          <a:p>
            <a:r>
              <a:rPr lang="en-US" dirty="0"/>
              <a:t>Attackers can position themselves between two communicating devices and intercept or alter data traffic. Man-in-the-Middle (MITM) attacks can lead to data theft, session hijacking, and unauthorized access.</a:t>
            </a:r>
          </a:p>
          <a:p>
            <a:r>
              <a:rPr lang="en-US" dirty="0"/>
              <a:t>Wireless networks are susceptible to Denial of Service (</a:t>
            </a:r>
            <a:r>
              <a:rPr lang="en-US" dirty="0" err="1"/>
              <a:t>DoS</a:t>
            </a:r>
            <a:r>
              <a:rPr lang="en-US" dirty="0"/>
              <a:t>) and Distributed Denial of Service (</a:t>
            </a:r>
            <a:r>
              <a:rPr lang="en-US" dirty="0" err="1"/>
              <a:t>DDoS</a:t>
            </a:r>
            <a:r>
              <a:rPr lang="en-US" dirty="0"/>
              <a:t>) attacks, where attackers flood the network with traffic to overwhelm it and disrupt normal operations. This can render the network unusable for legitimate users.</a:t>
            </a:r>
          </a:p>
          <a:p>
            <a:r>
              <a:rPr lang="en-US" dirty="0"/>
              <a:t>Attackers may create a fake Wi-Fi hotspot with a similar name to a legitimate one commonly known as ‘evil twin attack’. Users may unknowingly connect to the fake hotspot, allowing attackers to monitor or manipulate their traffic.</a:t>
            </a:r>
          </a:p>
          <a:p>
            <a:r>
              <a:rPr lang="en-US" dirty="0"/>
              <a:t>Wireless technologies like Bluetooth and </a:t>
            </a:r>
            <a:r>
              <a:rPr lang="en-US" dirty="0" err="1"/>
              <a:t>IoT</a:t>
            </a:r>
            <a:r>
              <a:rPr lang="en-US" dirty="0"/>
              <a:t> (Internet of Things) devices can have security vulnerabilities that attackers exploit to gain control of devices, steal data, or infiltrate networks.</a:t>
            </a:r>
          </a:p>
          <a:p>
            <a:r>
              <a:rPr lang="en-US" dirty="0"/>
              <a:t>Attackers can use packet-sniffing tools to intercept and analyze wireless data packets. This can lead to the exposure of sensitive information, such as login credentials or financial data.</a:t>
            </a:r>
            <a:br>
              <a:rPr lang="en-US" dirty="0"/>
            </a:br>
            <a:r>
              <a:rPr lang="en-US" dirty="0"/>
              <a:t/>
            </a:r>
            <a:br>
              <a:rPr lang="en-US" dirty="0"/>
            </a:br>
            <a:endParaRPr lang="en-US" dirty="0"/>
          </a:p>
        </p:txBody>
      </p:sp>
    </p:spTree>
    <p:extLst>
      <p:ext uri="{BB962C8B-B14F-4D97-AF65-F5344CB8AC3E}">
        <p14:creationId xmlns:p14="http://schemas.microsoft.com/office/powerpoint/2010/main" val="5612113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6688"/>
            <a:ext cx="10515600" cy="5560275"/>
          </a:xfrm>
        </p:spPr>
        <p:txBody>
          <a:bodyPr>
            <a:normAutofit fontScale="92500" lnSpcReduction="20000"/>
          </a:bodyPr>
          <a:lstStyle/>
          <a:p>
            <a:r>
              <a:rPr lang="en-US" dirty="0"/>
              <a:t>Many wireless devices, including routers and </a:t>
            </a:r>
            <a:r>
              <a:rPr lang="en-US" dirty="0" err="1"/>
              <a:t>IoT</a:t>
            </a:r>
            <a:r>
              <a:rPr lang="en-US" dirty="0"/>
              <a:t> devices, may have default usernames and passwords that are seldom changed by users. These devices become easy targets for attackers seeking to compromise the network.</a:t>
            </a:r>
          </a:p>
          <a:p>
            <a:r>
              <a:rPr lang="en-US" dirty="0"/>
              <a:t>Wireless communications, by their nature, can be intercepted by nearby eavesdroppers. Sensitive information, such as voice calls or text messages, can be captured if proper encryption and security measures are not in place.</a:t>
            </a:r>
          </a:p>
          <a:p>
            <a:r>
              <a:rPr lang="en-US" dirty="0"/>
              <a:t>Wireless devices often transmit signals that can be used to track their physical location. While this can be useful for legitimate purposes, it can also raise privacy concerns if abused.</a:t>
            </a:r>
          </a:p>
          <a:p>
            <a:r>
              <a:rPr lang="en-US" dirty="0"/>
              <a:t>Failure to update wireless devices, including routers and smartphones, with the latest firmware and security patches can leave them vulnerable to known exploits.</a:t>
            </a:r>
          </a:p>
          <a:p>
            <a:r>
              <a:rPr lang="en-US" dirty="0"/>
              <a:t>Attackers may use social engineering techniques to manipulate individuals into revealing sensitive information or credentials, which can then be used to compromise wireless networks.</a:t>
            </a:r>
          </a:p>
        </p:txBody>
      </p:sp>
    </p:spTree>
    <p:extLst>
      <p:ext uri="{BB962C8B-B14F-4D97-AF65-F5344CB8AC3E}">
        <p14:creationId xmlns:p14="http://schemas.microsoft.com/office/powerpoint/2010/main" val="17146274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5677233"/>
          </a:xfrm>
        </p:spPr>
        <p:txBody>
          <a:bodyPr/>
          <a:lstStyle/>
          <a:p>
            <a:r>
              <a:rPr lang="en-US" dirty="0"/>
              <a:t>To mitigate the above-mentioned security issues, individuals and organizations should implement strong security practices, including using strong and unique passwords, enabling encryption, keeping firmware up to date, and regularly monitoring network traffic for anomalies. </a:t>
            </a:r>
          </a:p>
          <a:p>
            <a:r>
              <a:rPr lang="en-US" dirty="0"/>
              <a:t>Additionally, using virtual private networks (VPNs) and employing intrusion detection systems (IDS) and intrusion prevention systems (IPS) can enhance wireless network security. </a:t>
            </a:r>
          </a:p>
          <a:p>
            <a:r>
              <a:rPr lang="en-US" dirty="0"/>
              <a:t>Security awareness and education are also vital to help users recognize and respond to potential threats effectively.</a:t>
            </a:r>
          </a:p>
        </p:txBody>
      </p:sp>
    </p:spTree>
    <p:extLst>
      <p:ext uri="{BB962C8B-B14F-4D97-AF65-F5344CB8AC3E}">
        <p14:creationId xmlns:p14="http://schemas.microsoft.com/office/powerpoint/2010/main" val="3648525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Mobile Computing and Mobile Commerce</a:t>
            </a:r>
          </a:p>
        </p:txBody>
      </p:sp>
      <p:sp>
        <p:nvSpPr>
          <p:cNvPr id="3" name="Content Placeholder 2"/>
          <p:cNvSpPr>
            <a:spLocks noGrp="1"/>
          </p:cNvSpPr>
          <p:nvPr>
            <p:ph idx="1"/>
          </p:nvPr>
        </p:nvSpPr>
        <p:spPr>
          <a:xfrm>
            <a:off x="838200" y="1825624"/>
            <a:ext cx="10515600" cy="4681501"/>
          </a:xfrm>
        </p:spPr>
        <p:txBody>
          <a:bodyPr>
            <a:normAutofit lnSpcReduction="10000"/>
          </a:bodyPr>
          <a:lstStyle/>
          <a:p>
            <a:r>
              <a:rPr lang="en-US" dirty="0"/>
              <a:t>The past few decades have witnessed a remarkable shift in how we interact with technology. </a:t>
            </a:r>
          </a:p>
          <a:p>
            <a:r>
              <a:rPr lang="en-US" dirty="0"/>
              <a:t>We've moved from bulky desktops to sleek laptops, and now, mobile devices reign supreme. </a:t>
            </a:r>
          </a:p>
          <a:p>
            <a:r>
              <a:rPr lang="en-US" dirty="0"/>
              <a:t>This era of mobility has fostered two intertwined concepts: mobile</a:t>
            </a:r>
            <a:br>
              <a:rPr lang="en-US" dirty="0"/>
            </a:br>
            <a:r>
              <a:rPr lang="en-US" dirty="0"/>
              <a:t>computing and mobile commerce (m-commerce). </a:t>
            </a:r>
          </a:p>
          <a:p>
            <a:r>
              <a:rPr lang="en-US" dirty="0"/>
              <a:t>The convergence of mobile computing and mobile commerce has reshaped the way we interact with technology and conduct business. </a:t>
            </a:r>
          </a:p>
          <a:p>
            <a:r>
              <a:rPr lang="en-US" dirty="0"/>
              <a:t>Mobile devices, such as smartphones and tablets, have become indispensable tools for communication, information access, and commerce.</a:t>
            </a:r>
          </a:p>
        </p:txBody>
      </p:sp>
    </p:spTree>
    <p:extLst>
      <p:ext uri="{BB962C8B-B14F-4D97-AF65-F5344CB8AC3E}">
        <p14:creationId xmlns:p14="http://schemas.microsoft.com/office/powerpoint/2010/main" val="1713199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3526"/>
            <a:ext cx="10515600" cy="5613437"/>
          </a:xfrm>
        </p:spPr>
        <p:txBody>
          <a:bodyPr>
            <a:normAutofit fontScale="92500" lnSpcReduction="20000"/>
          </a:bodyPr>
          <a:lstStyle/>
          <a:p>
            <a:r>
              <a:rPr lang="en-US" dirty="0"/>
              <a:t>Mobile computing refers to the use of portable devices like smartphones, tablets, and laptops to access and process information, communicate, and interact with applications and services while on the go. </a:t>
            </a:r>
          </a:p>
          <a:p>
            <a:r>
              <a:rPr lang="en-US" dirty="0"/>
              <a:t>Mobile devices provide instant access to the vast ocean of information on the internet. </a:t>
            </a:r>
          </a:p>
          <a:p>
            <a:r>
              <a:rPr lang="en-US" dirty="0"/>
              <a:t>From news updates and research to maps, navigation, and language translation, knowledge is readily available at our fingertips. </a:t>
            </a:r>
          </a:p>
          <a:p>
            <a:r>
              <a:rPr lang="en-US" dirty="0"/>
              <a:t>Mobile devices are entertainment powerhouses. </a:t>
            </a:r>
          </a:p>
          <a:p>
            <a:r>
              <a:rPr lang="en-US" dirty="0"/>
              <a:t>We can stream music and videos, play games, read e-books, and access countless online entertainment options, transforming commutes and downtime into moments of enjoyment. </a:t>
            </a:r>
          </a:p>
          <a:p>
            <a:r>
              <a:rPr lang="en-US" dirty="0"/>
              <a:t>This ubiquitous computing power has transformed how we live</a:t>
            </a:r>
            <a:br>
              <a:rPr lang="en-US" dirty="0"/>
            </a:br>
            <a:r>
              <a:rPr lang="en-US" dirty="0"/>
              <a:t>and work. </a:t>
            </a:r>
          </a:p>
          <a:p>
            <a:r>
              <a:rPr lang="en-US" dirty="0"/>
              <a:t>The proliferation of mobile devices has been fueled by advancements in</a:t>
            </a:r>
            <a:br>
              <a:rPr lang="en-US" dirty="0"/>
            </a:br>
            <a:r>
              <a:rPr lang="en-US" dirty="0"/>
              <a:t>hardware, software, and wireless connectivity, enabling users to perform a wide range of tasks anytime, anywhere. </a:t>
            </a:r>
          </a:p>
        </p:txBody>
      </p:sp>
    </p:spTree>
    <p:extLst>
      <p:ext uri="{BB962C8B-B14F-4D97-AF65-F5344CB8AC3E}">
        <p14:creationId xmlns:p14="http://schemas.microsoft.com/office/powerpoint/2010/main" val="276139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Key factors driving the rise of mobile computing include:</a:t>
            </a:r>
          </a:p>
        </p:txBody>
      </p:sp>
      <p:sp>
        <p:nvSpPr>
          <p:cNvPr id="3" name="Content Placeholder 2"/>
          <p:cNvSpPr>
            <a:spLocks noGrp="1"/>
          </p:cNvSpPr>
          <p:nvPr>
            <p:ph idx="1"/>
          </p:nvPr>
        </p:nvSpPr>
        <p:spPr>
          <a:xfrm>
            <a:off x="838200" y="1825624"/>
            <a:ext cx="10515600" cy="4575175"/>
          </a:xfrm>
        </p:spPr>
        <p:txBody>
          <a:bodyPr/>
          <a:lstStyle/>
          <a:p>
            <a:r>
              <a:rPr lang="en-US" b="1" dirty="0"/>
              <a:t>Increased Mobile Phone Penetration: </a:t>
            </a:r>
          </a:p>
          <a:p>
            <a:pPr lvl="1"/>
            <a:r>
              <a:rPr lang="en-US" dirty="0"/>
              <a:t>The global smartphone user base is constantly growing, making mobile devices an accessible platform for computing and commerce for a vast majority of the population.</a:t>
            </a:r>
          </a:p>
          <a:p>
            <a:r>
              <a:rPr lang="en-US" b="1" dirty="0"/>
              <a:t>Technological Advancements: </a:t>
            </a:r>
          </a:p>
          <a:p>
            <a:pPr lvl="1"/>
            <a:r>
              <a:rPr lang="en-US" dirty="0"/>
              <a:t>Powerful and affordable mobile devices equipped with high-resolution displays, faster processors, and longer battery  life have paved the way for a richer mobile experience.</a:t>
            </a:r>
          </a:p>
        </p:txBody>
      </p:sp>
    </p:spTree>
    <p:extLst>
      <p:ext uri="{BB962C8B-B14F-4D97-AF65-F5344CB8AC3E}">
        <p14:creationId xmlns:p14="http://schemas.microsoft.com/office/powerpoint/2010/main" val="38247400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7953"/>
            <a:ext cx="10515600" cy="5539010"/>
          </a:xfrm>
        </p:spPr>
        <p:txBody>
          <a:bodyPr>
            <a:normAutofit/>
          </a:bodyPr>
          <a:lstStyle/>
          <a:p>
            <a:r>
              <a:rPr lang="en-US" b="1" dirty="0"/>
              <a:t>Ubiquitous Connectivity: </a:t>
            </a:r>
          </a:p>
          <a:p>
            <a:pPr lvl="1"/>
            <a:r>
              <a:rPr lang="en-US" dirty="0"/>
              <a:t>The widespread availability of high-speed cellular networks, such as 4G LTE and now 5G, has facilitated seamless internet access on mobile devices, enabling users to stay connected wherever they are. </a:t>
            </a:r>
          </a:p>
          <a:p>
            <a:pPr lvl="1"/>
            <a:r>
              <a:rPr lang="en-US" dirty="0"/>
              <a:t>The expansion of high-speed cellular networks like 4G LTE and the emergence of 5G technology have ensured smooth and reliable internet access on the go, making mobile computing and m-commerce truly mobile.</a:t>
            </a:r>
          </a:p>
          <a:p>
            <a:pPr lvl="1"/>
            <a:endParaRPr lang="en-US" dirty="0"/>
          </a:p>
          <a:p>
            <a:r>
              <a:rPr lang="en-US" b="1" dirty="0"/>
              <a:t>Untethered Productivity: </a:t>
            </a:r>
          </a:p>
          <a:p>
            <a:pPr lvl="1"/>
            <a:r>
              <a:rPr lang="en-US" dirty="0"/>
              <a:t> No longer confined to desks, mobile computing allows us to work remotely, access documents and data in the cloud, collaborate with colleagues in real-time, and manage tasks from anywhere with an internet connection.</a:t>
            </a:r>
          </a:p>
        </p:txBody>
      </p:sp>
    </p:spTree>
    <p:extLst>
      <p:ext uri="{BB962C8B-B14F-4D97-AF65-F5344CB8AC3E}">
        <p14:creationId xmlns:p14="http://schemas.microsoft.com/office/powerpoint/2010/main" val="39959252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219"/>
            <a:ext cx="10515600" cy="5517744"/>
          </a:xfrm>
        </p:spPr>
        <p:txBody>
          <a:bodyPr>
            <a:normAutofit/>
          </a:bodyPr>
          <a:lstStyle/>
          <a:p>
            <a:r>
              <a:rPr lang="en-US" b="1" dirty="0"/>
              <a:t>Enhanced Communication: </a:t>
            </a:r>
          </a:p>
          <a:p>
            <a:pPr lvl="1"/>
            <a:r>
              <a:rPr lang="en-US" dirty="0"/>
              <a:t>Mobile devices are communication hubs, enabling instant messaging, video conferencing, voice calls, and social media interactions, fostering seamless personal and professional connections.</a:t>
            </a:r>
          </a:p>
          <a:p>
            <a:r>
              <a:rPr lang="en-US" b="1" dirty="0"/>
              <a:t>Cloud Computing: </a:t>
            </a:r>
          </a:p>
          <a:p>
            <a:pPr lvl="1"/>
            <a:r>
              <a:rPr lang="en-US" dirty="0"/>
              <a:t>The advent of cloud computing has enabled mobile users to access and store vast amounts of data remotely, leveraging the scalability and flexibility of cloud-based services.</a:t>
            </a:r>
          </a:p>
          <a:p>
            <a:r>
              <a:rPr lang="en-US" b="1" dirty="0"/>
              <a:t>Pervasive Apps Ecosystem: </a:t>
            </a:r>
          </a:p>
          <a:p>
            <a:pPr lvl="1"/>
            <a:r>
              <a:rPr lang="en-US" dirty="0"/>
              <a:t>Mobile operating systems like iOS and Android have fostered a rich ecosystem of apps catering to diverse needs, from social networking and entertainment to productivity and e-commerce.</a:t>
            </a:r>
            <a:br>
              <a:rPr lang="en-US" dirty="0"/>
            </a:br>
            <a:endParaRPr lang="en-US" dirty="0"/>
          </a:p>
        </p:txBody>
      </p:sp>
    </p:spTree>
    <p:extLst>
      <p:ext uri="{BB962C8B-B14F-4D97-AF65-F5344CB8AC3E}">
        <p14:creationId xmlns:p14="http://schemas.microsoft.com/office/powerpoint/2010/main" val="620062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normAutofit lnSpcReduction="10000"/>
          </a:bodyPr>
          <a:lstStyle/>
          <a:p>
            <a:r>
              <a:rPr lang="en-US" b="1" dirty="0"/>
              <a:t>User-Friendly Interfaces: </a:t>
            </a:r>
          </a:p>
          <a:p>
            <a:pPr lvl="1"/>
            <a:r>
              <a:rPr lang="en-US" dirty="0"/>
              <a:t>Mobile operating systems like Android and iOS provide intuitive interfaces designed specifically for touchscreens, making mobile computing and m-commerce simple and user-friendly for everyone, regardless of technical expertise. </a:t>
            </a:r>
          </a:p>
          <a:p>
            <a:pPr lvl="1"/>
            <a:r>
              <a:rPr lang="en-US" dirty="0"/>
              <a:t>Mobile devices prioritize user experience, offering intuitive interfaces, touch-based interactions, and personalized services tailored to individual preferences.</a:t>
            </a:r>
          </a:p>
          <a:p>
            <a:r>
              <a:rPr lang="en-US" b="1" dirty="0"/>
              <a:t>Rise of App Stores: </a:t>
            </a:r>
          </a:p>
          <a:p>
            <a:pPr lvl="1"/>
            <a:r>
              <a:rPr lang="en-US" dirty="0"/>
              <a:t>Online app stores like Google Play Store and Apple App Store offer a vast and diverse range of mobile apps, catering to every imaginable need and interest, further enhancing the functionalities of mobile devices, and fueling m-commerce. </a:t>
            </a:r>
          </a:p>
          <a:p>
            <a:pPr lvl="1"/>
            <a:r>
              <a:rPr lang="en-US" dirty="0"/>
              <a:t>These specialized programs cater to a variety of needs, from productivity tools and social media platforms to fitness trackers and mobile banking apps.</a:t>
            </a:r>
            <a:br>
              <a:rPr lang="en-US" dirty="0"/>
            </a:br>
            <a:endParaRPr lang="en-US" dirty="0"/>
          </a:p>
        </p:txBody>
      </p:sp>
    </p:spTree>
    <p:extLst>
      <p:ext uri="{BB962C8B-B14F-4D97-AF65-F5344CB8AC3E}">
        <p14:creationId xmlns:p14="http://schemas.microsoft.com/office/powerpoint/2010/main" val="1247934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8707"/>
            <a:ext cx="10515600" cy="5358256"/>
          </a:xfrm>
        </p:spPr>
        <p:txBody>
          <a:bodyPr/>
          <a:lstStyle/>
          <a:p>
            <a:r>
              <a:rPr lang="en-US" dirty="0"/>
              <a:t>Mobile commerce, or m-commerce, refers to the buying and selling of goods and services through mobile devices and wireless networks.</a:t>
            </a:r>
          </a:p>
          <a:p>
            <a:r>
              <a:rPr lang="en-US" dirty="0"/>
              <a:t>The evolution of mobile computing has catalyzed the growth of m-commerce, transforming the way businesses engage with</a:t>
            </a:r>
            <a:br>
              <a:rPr lang="en-US" dirty="0"/>
            </a:br>
            <a:r>
              <a:rPr lang="en-US" dirty="0"/>
              <a:t>customers and conduct transactions. </a:t>
            </a:r>
          </a:p>
          <a:p>
            <a:r>
              <a:rPr lang="en-US" dirty="0"/>
              <a:t>Important forces behind the shift in mobile business include:</a:t>
            </a:r>
            <a:br>
              <a:rPr lang="en-US" dirty="0"/>
            </a:br>
            <a:endParaRPr lang="en-US" dirty="0"/>
          </a:p>
        </p:txBody>
      </p:sp>
    </p:spTree>
    <p:extLst>
      <p:ext uri="{BB962C8B-B14F-4D97-AF65-F5344CB8AC3E}">
        <p14:creationId xmlns:p14="http://schemas.microsoft.com/office/powerpoint/2010/main" val="2610402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normAutofit lnSpcReduction="10000"/>
          </a:bodyPr>
          <a:lstStyle/>
          <a:p>
            <a:r>
              <a:rPr lang="en-US" b="1" dirty="0"/>
              <a:t>24/7 Shopping Spree: </a:t>
            </a:r>
          </a:p>
          <a:p>
            <a:pPr lvl="1"/>
            <a:r>
              <a:rPr lang="en-US" dirty="0"/>
              <a:t>M-commerce allows consumers to shop anytime, anywhere. Whether browsing on the bus, waiting in line, or relaxing at home, the virtual stores are always open.</a:t>
            </a:r>
          </a:p>
          <a:p>
            <a:r>
              <a:rPr lang="en-US" b="1" dirty="0"/>
              <a:t>Simplified Transactions: </a:t>
            </a:r>
          </a:p>
          <a:p>
            <a:pPr lvl="1"/>
            <a:r>
              <a:rPr lang="en-US" dirty="0"/>
              <a:t>M-commerce simplifies the buying process. </a:t>
            </a:r>
          </a:p>
          <a:p>
            <a:pPr lvl="1"/>
            <a:r>
              <a:rPr lang="en-US" dirty="0"/>
              <a:t>Secure payment options like digital wallets and mobile banking apps eliminate the need to carry cash or credit cards.</a:t>
            </a:r>
          </a:p>
          <a:p>
            <a:r>
              <a:rPr lang="en-US" b="1" dirty="0"/>
              <a:t>Location-Based Services: </a:t>
            </a:r>
          </a:p>
          <a:p>
            <a:pPr lvl="1"/>
            <a:r>
              <a:rPr lang="en-US" dirty="0"/>
              <a:t>Mobile devices equipped with GPS can leverage location-based services, providing personalized recommendations and promotions based on your physical location. </a:t>
            </a:r>
          </a:p>
          <a:p>
            <a:pPr lvl="1"/>
            <a:r>
              <a:rPr lang="en-US" dirty="0"/>
              <a:t>It enables location-aware services, allowing businesses to deliver targeted offers, promotions, and discounts based on users’ geographical location, preferences, and behavior.</a:t>
            </a:r>
          </a:p>
        </p:txBody>
      </p:sp>
    </p:spTree>
    <p:extLst>
      <p:ext uri="{BB962C8B-B14F-4D97-AF65-F5344CB8AC3E}">
        <p14:creationId xmlns:p14="http://schemas.microsoft.com/office/powerpoint/2010/main" val="16909478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465"/>
            <a:ext cx="10515600" cy="5698498"/>
          </a:xfrm>
        </p:spPr>
        <p:txBody>
          <a:bodyPr>
            <a:normAutofit/>
          </a:bodyPr>
          <a:lstStyle/>
          <a:p>
            <a:r>
              <a:rPr lang="en-US" b="1" dirty="0"/>
              <a:t>Enhanced Customer Experience: </a:t>
            </a:r>
          </a:p>
          <a:p>
            <a:pPr lvl="1"/>
            <a:r>
              <a:rPr lang="en-US" dirty="0"/>
              <a:t>M-commerce allows for a more interactive shopping experience. </a:t>
            </a:r>
          </a:p>
          <a:p>
            <a:pPr lvl="1"/>
            <a:r>
              <a:rPr lang="en-US" dirty="0"/>
              <a:t>Augmented reality apps can allow virtual product try-ons, while detailed product information and customer reviews readily available on mobile devices empower informed purchase decisions.</a:t>
            </a:r>
          </a:p>
          <a:p>
            <a:r>
              <a:rPr lang="en-US" b="1" dirty="0"/>
              <a:t>The Power of Mobile Marketing: </a:t>
            </a:r>
          </a:p>
          <a:p>
            <a:pPr lvl="1"/>
            <a:r>
              <a:rPr lang="en-US" dirty="0"/>
              <a:t>M-commerce offers unique marketing opportunities. </a:t>
            </a:r>
          </a:p>
          <a:p>
            <a:pPr lvl="1"/>
            <a:r>
              <a:rPr lang="en-US" dirty="0"/>
              <a:t>Targeted ads based on demographics and purchasing history can be delivered directly to consumers’ mobile devices, promoting relevant products, and driving sales.</a:t>
            </a:r>
          </a:p>
          <a:p>
            <a:r>
              <a:rPr lang="en-US" b="1" dirty="0"/>
              <a:t>Seamless Integration: </a:t>
            </a:r>
          </a:p>
          <a:p>
            <a:pPr lvl="1"/>
            <a:r>
              <a:rPr lang="en-US" dirty="0"/>
              <a:t>M-commerce platforms seamlessly integrate with social media and loyalty programs, allowing for easy sharing of products, reviews, and promotions, further amplifying their reach.</a:t>
            </a:r>
          </a:p>
        </p:txBody>
      </p:sp>
    </p:spTree>
    <p:extLst>
      <p:ext uri="{BB962C8B-B14F-4D97-AF65-F5344CB8AC3E}">
        <p14:creationId xmlns:p14="http://schemas.microsoft.com/office/powerpoint/2010/main" val="36043508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2381"/>
            <a:ext cx="10515600" cy="5464582"/>
          </a:xfrm>
        </p:spPr>
        <p:txBody>
          <a:bodyPr>
            <a:normAutofit/>
          </a:bodyPr>
          <a:lstStyle/>
          <a:p>
            <a:r>
              <a:rPr lang="en-US" b="1" dirty="0"/>
              <a:t>Convenience and Accessibility: </a:t>
            </a:r>
          </a:p>
          <a:p>
            <a:pPr lvl="1"/>
            <a:r>
              <a:rPr lang="en-US" dirty="0"/>
              <a:t>Mobile devices provide users with convenient access to e-commerce platforms and digital marketplaces, allowing them to browse products, make purchases, and track orders on the go.</a:t>
            </a:r>
          </a:p>
          <a:p>
            <a:r>
              <a:rPr lang="en-US" b="1" dirty="0"/>
              <a:t>Mobile Payment Technologies: </a:t>
            </a:r>
          </a:p>
          <a:p>
            <a:pPr lvl="1"/>
            <a:r>
              <a:rPr lang="en-US" dirty="0"/>
              <a:t>The emergence of mobile payment technologies like digital wallets, mobile banking apps, and contactless payments has simplified the checkout process, making transactions quick, secure, and hassle-free.</a:t>
            </a:r>
          </a:p>
          <a:p>
            <a:r>
              <a:rPr lang="en-US" b="1" dirty="0"/>
              <a:t>Social Commerce Integration: </a:t>
            </a:r>
          </a:p>
          <a:p>
            <a:pPr lvl="1"/>
            <a:r>
              <a:rPr lang="en-US" dirty="0"/>
              <a:t>Social media platforms have integrated e-commerce functionalities, enabling businesses to showcase products, engage with customers, and facilitate transactions directly within social apps.</a:t>
            </a:r>
            <a:br>
              <a:rPr lang="en-US" dirty="0"/>
            </a:br>
            <a:endParaRPr lang="en-US" dirty="0"/>
          </a:p>
        </p:txBody>
      </p:sp>
    </p:spTree>
    <p:extLst>
      <p:ext uri="{BB962C8B-B14F-4D97-AF65-F5344CB8AC3E}">
        <p14:creationId xmlns:p14="http://schemas.microsoft.com/office/powerpoint/2010/main" val="4227047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344"/>
            <a:ext cx="10515600" cy="6422065"/>
          </a:xfrm>
        </p:spPr>
        <p:txBody>
          <a:bodyPr>
            <a:normAutofit fontScale="92500" lnSpcReduction="10000"/>
          </a:bodyPr>
          <a:lstStyle/>
          <a:p>
            <a:r>
              <a:rPr lang="en-US" dirty="0"/>
              <a:t>Several trends are shaping the future of mobile computing and commerce, influencing consumer behavior, business strategies, and technological innovations:</a:t>
            </a:r>
          </a:p>
          <a:p>
            <a:r>
              <a:rPr lang="en-US" b="1" dirty="0"/>
              <a:t>Augmented Reality (AR) and Virtual Reality (VR): </a:t>
            </a:r>
          </a:p>
          <a:p>
            <a:pPr lvl="1"/>
            <a:r>
              <a:rPr lang="en-US" dirty="0"/>
              <a:t>AR and VR technologies are revolutionizing the shopping experience, enabling virtual try-ons, immersive product demos, and interactive brand engagement.</a:t>
            </a:r>
          </a:p>
          <a:p>
            <a:r>
              <a:rPr lang="en-US" b="1" dirty="0"/>
              <a:t>Voice Commerce: </a:t>
            </a:r>
          </a:p>
          <a:p>
            <a:pPr lvl="1"/>
            <a:r>
              <a:rPr lang="en-US" dirty="0"/>
              <a:t>Voice-activated assistants like Siri, Alexa, and Google Assistant are driving the adoption of voice commerce, allowing users to search for products, place orders, and make payments using natural language commands.</a:t>
            </a:r>
          </a:p>
          <a:p>
            <a:r>
              <a:rPr lang="en-US" b="1" dirty="0"/>
              <a:t>Progressive Web Apps (PWAs): </a:t>
            </a:r>
          </a:p>
          <a:p>
            <a:pPr lvl="1"/>
            <a:r>
              <a:rPr lang="en-US" dirty="0"/>
              <a:t>PWAs combine the best features of web and mobile apps, delivering fast, reliable, and engaging experiences across devices, without the need for installation from an app store.</a:t>
            </a:r>
          </a:p>
          <a:p>
            <a:r>
              <a:rPr lang="en-US" b="1" dirty="0"/>
              <a:t>Mobile-First Design: </a:t>
            </a:r>
          </a:p>
          <a:p>
            <a:pPr lvl="1"/>
            <a:r>
              <a:rPr lang="en-US" dirty="0"/>
              <a:t>With most of the internet traffic now originating from mobile devices, businesses are prioritizing mobile-first design strategies to ensure optimal performance, usability, and accessibility on smartphones and tablets.</a:t>
            </a:r>
          </a:p>
        </p:txBody>
      </p:sp>
    </p:spTree>
    <p:extLst>
      <p:ext uri="{BB962C8B-B14F-4D97-AF65-F5344CB8AC3E}">
        <p14:creationId xmlns:p14="http://schemas.microsoft.com/office/powerpoint/2010/main" val="33207352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371"/>
            <a:ext cx="10515600" cy="888909"/>
          </a:xfrm>
        </p:spPr>
        <p:txBody>
          <a:bodyPr/>
          <a:lstStyle/>
          <a:p>
            <a:r>
              <a:rPr lang="en-US" b="1" dirty="0"/>
              <a:t>Security Concerns and Challenges</a:t>
            </a:r>
            <a:endParaRPr lang="en-US" b="1" dirty="0"/>
          </a:p>
        </p:txBody>
      </p:sp>
      <p:sp>
        <p:nvSpPr>
          <p:cNvPr id="3" name="Content Placeholder 2"/>
          <p:cNvSpPr>
            <a:spLocks noGrp="1"/>
          </p:cNvSpPr>
          <p:nvPr>
            <p:ph idx="1"/>
          </p:nvPr>
        </p:nvSpPr>
        <p:spPr>
          <a:xfrm>
            <a:off x="838200" y="1201783"/>
            <a:ext cx="10515600" cy="4975180"/>
          </a:xfrm>
        </p:spPr>
        <p:txBody>
          <a:bodyPr>
            <a:normAutofit lnSpcReduction="10000"/>
          </a:bodyPr>
          <a:lstStyle/>
          <a:p>
            <a:r>
              <a:rPr lang="en-US" dirty="0"/>
              <a:t>While mobile computing and m-commerce offer undeniable convenience, security concerns remain a significant challenge. </a:t>
            </a:r>
            <a:endParaRPr lang="en-US" dirty="0" smtClean="0"/>
          </a:p>
          <a:p>
            <a:r>
              <a:rPr lang="en-US" dirty="0" smtClean="0"/>
              <a:t>Here </a:t>
            </a:r>
            <a:r>
              <a:rPr lang="en-US" dirty="0"/>
              <a:t>are some key areas of consideration</a:t>
            </a:r>
            <a:r>
              <a:rPr lang="en-US" dirty="0" smtClean="0"/>
              <a:t>:</a:t>
            </a:r>
          </a:p>
          <a:p>
            <a:r>
              <a:rPr lang="en-US" b="1" dirty="0" smtClean="0"/>
              <a:t>Data </a:t>
            </a:r>
            <a:r>
              <a:rPr lang="en-US" b="1" dirty="0"/>
              <a:t>Security and Privacy Concerns: </a:t>
            </a:r>
            <a:endParaRPr lang="en-US" b="1" dirty="0" smtClean="0"/>
          </a:p>
          <a:p>
            <a:pPr lvl="1"/>
            <a:r>
              <a:rPr lang="en-US" dirty="0" smtClean="0"/>
              <a:t>Mobile </a:t>
            </a:r>
            <a:r>
              <a:rPr lang="en-US" dirty="0"/>
              <a:t>devices are vulnerable to malware, phishing attacks, data breaches, and unauthorized access, raising concerns about the security and privacy of sensitive information, such as payment details and personal data. </a:t>
            </a:r>
            <a:endParaRPr lang="en-US" dirty="0" smtClean="0"/>
          </a:p>
          <a:p>
            <a:pPr lvl="1"/>
            <a:r>
              <a:rPr lang="en-US" dirty="0" smtClean="0"/>
              <a:t>Robust </a:t>
            </a:r>
            <a:r>
              <a:rPr lang="en-US" dirty="0"/>
              <a:t>security measures, strong passwords, and secure app downloads are crucial to protect personal information and financial data</a:t>
            </a:r>
            <a:r>
              <a:rPr lang="en-US" dirty="0" smtClean="0"/>
              <a:t>.</a:t>
            </a:r>
          </a:p>
          <a:p>
            <a:r>
              <a:rPr lang="en-US" b="1" dirty="0" smtClean="0"/>
              <a:t>Fragmentation </a:t>
            </a:r>
            <a:r>
              <a:rPr lang="en-US" b="1" dirty="0"/>
              <a:t>and Compatibility Issues: </a:t>
            </a:r>
            <a:endParaRPr lang="en-US" b="1" dirty="0" smtClean="0"/>
          </a:p>
          <a:p>
            <a:pPr lvl="1"/>
            <a:r>
              <a:rPr lang="en-US" dirty="0" smtClean="0"/>
              <a:t>The </a:t>
            </a:r>
            <a:r>
              <a:rPr lang="en-US" dirty="0"/>
              <a:t>diverse landscape of mobile devices, operating systems, and screen sizes presents challenges for developers in ensuring compatibility and consistency across platforms.</a:t>
            </a:r>
            <a:endParaRPr lang="en-US" dirty="0"/>
          </a:p>
        </p:txBody>
      </p:sp>
    </p:spTree>
    <p:extLst>
      <p:ext uri="{BB962C8B-B14F-4D97-AF65-F5344CB8AC3E}">
        <p14:creationId xmlns:p14="http://schemas.microsoft.com/office/powerpoint/2010/main" val="41392925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4325" y="731521"/>
            <a:ext cx="10515600" cy="5303520"/>
          </a:xfrm>
        </p:spPr>
        <p:txBody>
          <a:bodyPr>
            <a:normAutofit/>
          </a:bodyPr>
          <a:lstStyle/>
          <a:p>
            <a:r>
              <a:rPr lang="en-US" b="1" dirty="0" smtClean="0"/>
              <a:t>Bandwidth </a:t>
            </a:r>
            <a:r>
              <a:rPr lang="en-US" b="1" dirty="0"/>
              <a:t>and Connectivity Constraints: </a:t>
            </a:r>
            <a:endParaRPr lang="en-US" b="1" dirty="0" smtClean="0"/>
          </a:p>
          <a:p>
            <a:pPr lvl="1"/>
            <a:r>
              <a:rPr lang="en-US" dirty="0" smtClean="0"/>
              <a:t>In </a:t>
            </a:r>
            <a:r>
              <a:rPr lang="en-US" dirty="0"/>
              <a:t>regions with limited network infrastructure or poor connectivity, users may experience slow internet speeds, latency issues, and interrupted transactions, hindering the adoption of mobile commerce</a:t>
            </a:r>
            <a:r>
              <a:rPr lang="en-US" dirty="0" smtClean="0"/>
              <a:t>.</a:t>
            </a:r>
          </a:p>
          <a:p>
            <a:r>
              <a:rPr lang="en-US" b="1" dirty="0" smtClean="0"/>
              <a:t>Network </a:t>
            </a:r>
            <a:r>
              <a:rPr lang="en-US" b="1" dirty="0"/>
              <a:t>Security: </a:t>
            </a:r>
            <a:endParaRPr lang="en-US" b="1" dirty="0" smtClean="0"/>
          </a:p>
          <a:p>
            <a:pPr lvl="1"/>
            <a:r>
              <a:rPr lang="en-US" dirty="0" smtClean="0"/>
              <a:t>Public </a:t>
            </a:r>
            <a:r>
              <a:rPr lang="en-US" dirty="0"/>
              <a:t>Wi-Fi networks often lack security measures, making them vulnerable to data breaches. Using a VPN (Virtual Private Network) can offer additional security when accessing the internet through public Wi-Fi</a:t>
            </a:r>
            <a:r>
              <a:rPr lang="en-US" dirty="0" smtClean="0"/>
              <a:t>.</a:t>
            </a:r>
          </a:p>
          <a:p>
            <a:r>
              <a:rPr lang="en-US" b="1" dirty="0" smtClean="0"/>
              <a:t>Device </a:t>
            </a:r>
            <a:r>
              <a:rPr lang="en-US" b="1" dirty="0"/>
              <a:t>Security: </a:t>
            </a:r>
            <a:endParaRPr lang="en-US" b="1" dirty="0" smtClean="0"/>
          </a:p>
          <a:p>
            <a:pPr lvl="1"/>
            <a:r>
              <a:rPr lang="en-US" dirty="0" smtClean="0"/>
              <a:t>Mobile </a:t>
            </a:r>
            <a:r>
              <a:rPr lang="en-US" dirty="0"/>
              <a:t>devices can be easily lost or stolen. Implementing strong lock screen measures, data encryption, and remote wipe capabilities can help mitigate data loss in such scenarios</a:t>
            </a:r>
            <a:r>
              <a:rPr lang="en-US" dirty="0" smtClean="0"/>
              <a:t>.</a:t>
            </a:r>
          </a:p>
        </p:txBody>
      </p:sp>
    </p:spTree>
    <p:extLst>
      <p:ext uri="{BB962C8B-B14F-4D97-AF65-F5344CB8AC3E}">
        <p14:creationId xmlns:p14="http://schemas.microsoft.com/office/powerpoint/2010/main" val="8425285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2149"/>
            <a:ext cx="10515600" cy="5314814"/>
          </a:xfrm>
        </p:spPr>
        <p:txBody>
          <a:bodyPr/>
          <a:lstStyle/>
          <a:p>
            <a:r>
              <a:rPr lang="en-US" b="1" dirty="0"/>
              <a:t>Privacy Concerns: </a:t>
            </a:r>
          </a:p>
          <a:p>
            <a:pPr lvl="1"/>
            <a:r>
              <a:rPr lang="en-US" dirty="0"/>
              <a:t>Mobile apps often collect user data to personalize experiences or target advertising. Understanding and managing app permissions and being selective about data sharing is vital to protecting your privacy</a:t>
            </a:r>
            <a:r>
              <a:rPr lang="en-US" dirty="0" smtClean="0"/>
              <a:t>. </a:t>
            </a:r>
          </a:p>
          <a:p>
            <a:r>
              <a:rPr lang="en-US" b="1" dirty="0" smtClean="0"/>
              <a:t>Regulatory </a:t>
            </a:r>
            <a:r>
              <a:rPr lang="en-US" b="1" dirty="0"/>
              <a:t>Compliance: </a:t>
            </a:r>
            <a:endParaRPr lang="en-US" b="1" dirty="0" smtClean="0"/>
          </a:p>
          <a:p>
            <a:pPr lvl="1"/>
            <a:r>
              <a:rPr lang="en-US" dirty="0" smtClean="0"/>
              <a:t>Compliance </a:t>
            </a:r>
            <a:r>
              <a:rPr lang="en-US" dirty="0"/>
              <a:t>with regulations governing data protection, consumer rights, and financial transactions is essential for businesses operating in the mobile commerce space, requiring adherence to industry standards and best practices.</a:t>
            </a:r>
            <a:br>
              <a:rPr lang="en-US" dirty="0"/>
            </a:br>
            <a:endParaRPr lang="en-US" dirty="0"/>
          </a:p>
        </p:txBody>
      </p:sp>
    </p:spTree>
    <p:extLst>
      <p:ext uri="{BB962C8B-B14F-4D97-AF65-F5344CB8AC3E}">
        <p14:creationId xmlns:p14="http://schemas.microsoft.com/office/powerpoint/2010/main" val="32575414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183"/>
            <a:ext cx="10515600" cy="745218"/>
          </a:xfrm>
        </p:spPr>
        <p:txBody>
          <a:bodyPr>
            <a:normAutofit/>
          </a:bodyPr>
          <a:lstStyle/>
          <a:p>
            <a:r>
              <a:rPr lang="en-US" sz="3600" b="1" dirty="0"/>
              <a:t>The Future of Mobile Computing and </a:t>
            </a:r>
            <a:r>
              <a:rPr lang="en-US" sz="3600" b="1" dirty="0" smtClean="0"/>
              <a:t>M-Commerce</a:t>
            </a:r>
            <a:endParaRPr lang="en-US" sz="3600" b="1" dirty="0"/>
          </a:p>
        </p:txBody>
      </p:sp>
      <p:sp>
        <p:nvSpPr>
          <p:cNvPr id="3" name="Content Placeholder 2"/>
          <p:cNvSpPr>
            <a:spLocks noGrp="1"/>
          </p:cNvSpPr>
          <p:nvPr>
            <p:ph idx="1"/>
          </p:nvPr>
        </p:nvSpPr>
        <p:spPr>
          <a:xfrm>
            <a:off x="838200" y="1058091"/>
            <a:ext cx="10515600" cy="5603966"/>
          </a:xfrm>
        </p:spPr>
        <p:txBody>
          <a:bodyPr>
            <a:normAutofit lnSpcReduction="10000"/>
          </a:bodyPr>
          <a:lstStyle/>
          <a:p>
            <a:r>
              <a:rPr lang="en-US" dirty="0"/>
              <a:t>The future of mobile computing and m-commerce promises even greater advancements and integration into our lives. </a:t>
            </a:r>
            <a:endParaRPr lang="en-US" dirty="0" smtClean="0"/>
          </a:p>
          <a:p>
            <a:r>
              <a:rPr lang="en-US" dirty="0" smtClean="0"/>
              <a:t>Here </a:t>
            </a:r>
            <a:r>
              <a:rPr lang="en-US" dirty="0"/>
              <a:t>are some exciting possibilities</a:t>
            </a:r>
            <a:r>
              <a:rPr lang="en-US" dirty="0" smtClean="0"/>
              <a:t>:</a:t>
            </a:r>
          </a:p>
          <a:p>
            <a:r>
              <a:rPr lang="en-US" b="1" dirty="0" smtClean="0"/>
              <a:t>The </a:t>
            </a:r>
            <a:r>
              <a:rPr lang="en-US" b="1" dirty="0"/>
              <a:t>Rise of Wearables: </a:t>
            </a:r>
            <a:endParaRPr lang="en-US" b="1" dirty="0" smtClean="0"/>
          </a:p>
          <a:p>
            <a:pPr lvl="1"/>
            <a:r>
              <a:rPr lang="en-US" dirty="0" smtClean="0"/>
              <a:t>Wearable </a:t>
            </a:r>
            <a:r>
              <a:rPr lang="en-US" dirty="0"/>
              <a:t>devices like smartwatches and fitness trackers are becoming increasingly popular, blurring the lines between </a:t>
            </a:r>
            <a:r>
              <a:rPr lang="en-US" dirty="0" smtClean="0"/>
              <a:t>mobile computing </a:t>
            </a:r>
            <a:r>
              <a:rPr lang="en-US" dirty="0"/>
              <a:t>and personal accessories. </a:t>
            </a:r>
            <a:endParaRPr lang="en-US" dirty="0" smtClean="0"/>
          </a:p>
          <a:p>
            <a:pPr lvl="1"/>
            <a:r>
              <a:rPr lang="en-US" dirty="0" smtClean="0"/>
              <a:t>These </a:t>
            </a:r>
            <a:r>
              <a:rPr lang="en-US" dirty="0"/>
              <a:t>devices can provide real-time </a:t>
            </a:r>
            <a:r>
              <a:rPr lang="en-US" dirty="0" smtClean="0"/>
              <a:t>health monitoring</a:t>
            </a:r>
            <a:r>
              <a:rPr lang="en-US" dirty="0"/>
              <a:t>, contactless payments, and voice-activated commands, </a:t>
            </a:r>
            <a:r>
              <a:rPr lang="en-US" dirty="0" smtClean="0"/>
              <a:t>further enhancing </a:t>
            </a:r>
            <a:r>
              <a:rPr lang="en-US" dirty="0"/>
              <a:t>our mobile experience</a:t>
            </a:r>
            <a:r>
              <a:rPr lang="en-US" dirty="0" smtClean="0"/>
              <a:t>.</a:t>
            </a:r>
          </a:p>
          <a:p>
            <a:r>
              <a:rPr lang="en-US" b="1" dirty="0" smtClean="0"/>
              <a:t>The </a:t>
            </a:r>
            <a:r>
              <a:rPr lang="en-US" b="1" dirty="0"/>
              <a:t>Power of Artificial Intelligence (AI): </a:t>
            </a:r>
            <a:endParaRPr lang="en-US" b="1" dirty="0" smtClean="0"/>
          </a:p>
          <a:p>
            <a:pPr lvl="1"/>
            <a:r>
              <a:rPr lang="en-US" dirty="0" smtClean="0"/>
              <a:t>AI </a:t>
            </a:r>
            <a:r>
              <a:rPr lang="en-US" dirty="0"/>
              <a:t>integration in mobile apps </a:t>
            </a:r>
            <a:r>
              <a:rPr lang="en-US" dirty="0" smtClean="0"/>
              <a:t>can personalize </a:t>
            </a:r>
            <a:r>
              <a:rPr lang="en-US" dirty="0"/>
              <a:t>user experiences further, anticipate needs, and offer </a:t>
            </a:r>
            <a:r>
              <a:rPr lang="en-US" dirty="0" smtClean="0"/>
              <a:t>proactive  recommendations</a:t>
            </a:r>
            <a:r>
              <a:rPr lang="en-US" dirty="0"/>
              <a:t>. Imagine a shopping app that suggests clothing based </a:t>
            </a:r>
            <a:r>
              <a:rPr lang="en-US" dirty="0" smtClean="0"/>
              <a:t>on your </a:t>
            </a:r>
            <a:r>
              <a:rPr lang="en-US" dirty="0"/>
              <a:t>style preferences and weather conditions, or a travel app that </a:t>
            </a:r>
            <a:r>
              <a:rPr lang="en-US" dirty="0" smtClean="0"/>
              <a:t>curates personalized </a:t>
            </a:r>
            <a:r>
              <a:rPr lang="en-US" dirty="0"/>
              <a:t>itineraries based on your interests and travel history.</a:t>
            </a:r>
            <a:endParaRPr lang="en-US" dirty="0"/>
          </a:p>
        </p:txBody>
      </p:sp>
    </p:spTree>
    <p:extLst>
      <p:ext uri="{BB962C8B-B14F-4D97-AF65-F5344CB8AC3E}">
        <p14:creationId xmlns:p14="http://schemas.microsoft.com/office/powerpoint/2010/main" val="19426508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9714"/>
            <a:ext cx="10515600" cy="5721531"/>
          </a:xfrm>
        </p:spPr>
        <p:txBody>
          <a:bodyPr>
            <a:normAutofit/>
          </a:bodyPr>
          <a:lstStyle/>
          <a:p>
            <a:r>
              <a:rPr lang="en-US" b="1" dirty="0" smtClean="0"/>
              <a:t>The </a:t>
            </a:r>
            <a:r>
              <a:rPr lang="en-US" b="1" dirty="0"/>
              <a:t>Expansion of the Internet of Things (</a:t>
            </a:r>
            <a:r>
              <a:rPr lang="en-US" b="1" dirty="0" err="1"/>
              <a:t>IoT</a:t>
            </a:r>
            <a:r>
              <a:rPr lang="en-US" b="1" dirty="0"/>
              <a:t>): </a:t>
            </a:r>
            <a:endParaRPr lang="en-US" b="1" dirty="0" smtClean="0"/>
          </a:p>
          <a:p>
            <a:pPr lvl="1"/>
            <a:r>
              <a:rPr lang="en-US" dirty="0" smtClean="0"/>
              <a:t>The </a:t>
            </a:r>
            <a:r>
              <a:rPr lang="en-US" dirty="0" err="1"/>
              <a:t>IoT</a:t>
            </a:r>
            <a:r>
              <a:rPr lang="en-US" dirty="0"/>
              <a:t> ecosystem, </a:t>
            </a:r>
            <a:r>
              <a:rPr lang="en-US" dirty="0" smtClean="0"/>
              <a:t>where everyday </a:t>
            </a:r>
            <a:r>
              <a:rPr lang="en-US" dirty="0"/>
              <a:t>objects are connected to the internet, is set to expand. </a:t>
            </a:r>
            <a:endParaRPr lang="en-US" dirty="0" smtClean="0"/>
          </a:p>
          <a:p>
            <a:pPr lvl="1"/>
            <a:r>
              <a:rPr lang="en-US" dirty="0" smtClean="0"/>
              <a:t>Mobile device  will </a:t>
            </a:r>
            <a:r>
              <a:rPr lang="en-US" dirty="0"/>
              <a:t>act as hubs for controlling and interacting with smart home </a:t>
            </a:r>
            <a:r>
              <a:rPr lang="en-US" dirty="0" smtClean="0"/>
              <a:t>devices, wearable </a:t>
            </a:r>
            <a:r>
              <a:rPr lang="en-US" dirty="0"/>
              <a:t>tech, and connected cars, creating a seamless network of </a:t>
            </a:r>
            <a:r>
              <a:rPr lang="en-US" dirty="0" smtClean="0"/>
              <a:t>intelligent devices </a:t>
            </a:r>
            <a:r>
              <a:rPr lang="en-US" dirty="0"/>
              <a:t>that enhance our daily lives</a:t>
            </a:r>
            <a:r>
              <a:rPr lang="en-US" dirty="0" smtClean="0"/>
              <a:t>.</a:t>
            </a:r>
          </a:p>
          <a:p>
            <a:r>
              <a:rPr lang="en-US" b="1" dirty="0" smtClean="0"/>
              <a:t>Emerging </a:t>
            </a:r>
            <a:r>
              <a:rPr lang="en-US" b="1" dirty="0"/>
              <a:t>Technologies: </a:t>
            </a:r>
            <a:endParaRPr lang="en-US" b="1" dirty="0" smtClean="0"/>
          </a:p>
          <a:p>
            <a:pPr lvl="1"/>
            <a:r>
              <a:rPr lang="en-US" dirty="0" smtClean="0"/>
              <a:t>Advancements </a:t>
            </a:r>
            <a:r>
              <a:rPr lang="en-US" dirty="0"/>
              <a:t>in technologies like </a:t>
            </a:r>
            <a:r>
              <a:rPr lang="en-US" dirty="0" smtClean="0"/>
              <a:t>augmented reality </a:t>
            </a:r>
            <a:r>
              <a:rPr lang="en-US" dirty="0"/>
              <a:t>(AR) and virtual reality (VR) will further revolutionize </a:t>
            </a:r>
            <a:r>
              <a:rPr lang="en-US" dirty="0" smtClean="0"/>
              <a:t>mobile computing </a:t>
            </a:r>
            <a:r>
              <a:rPr lang="en-US" dirty="0"/>
              <a:t>and m-commerce. </a:t>
            </a:r>
            <a:endParaRPr lang="en-US" dirty="0" smtClean="0"/>
          </a:p>
          <a:p>
            <a:pPr lvl="1"/>
            <a:r>
              <a:rPr lang="en-US" dirty="0" smtClean="0"/>
              <a:t>Imagine </a:t>
            </a:r>
            <a:r>
              <a:rPr lang="en-US" dirty="0"/>
              <a:t>virtually trying on clothes </a:t>
            </a:r>
            <a:r>
              <a:rPr lang="en-US" dirty="0" smtClean="0"/>
              <a:t>before purchasing </a:t>
            </a:r>
            <a:r>
              <a:rPr lang="en-US" dirty="0"/>
              <a:t>them online or taking a virtual tour of a potential </a:t>
            </a:r>
            <a:r>
              <a:rPr lang="en-US" dirty="0" smtClean="0"/>
              <a:t>vacation destination </a:t>
            </a:r>
            <a:r>
              <a:rPr lang="en-US" dirty="0"/>
              <a:t>before booking your trip.</a:t>
            </a:r>
            <a:endParaRPr lang="en-US" dirty="0"/>
          </a:p>
        </p:txBody>
      </p:sp>
    </p:spTree>
    <p:extLst>
      <p:ext uri="{BB962C8B-B14F-4D97-AF65-F5344CB8AC3E}">
        <p14:creationId xmlns:p14="http://schemas.microsoft.com/office/powerpoint/2010/main" val="27092464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4583"/>
            <a:ext cx="10515600" cy="5432380"/>
          </a:xfrm>
        </p:spPr>
        <p:txBody>
          <a:bodyPr>
            <a:normAutofit lnSpcReduction="10000"/>
          </a:bodyPr>
          <a:lstStyle/>
          <a:p>
            <a:r>
              <a:rPr lang="en-US" dirty="0"/>
              <a:t>Mobile computing and m-commerce have fundamentally changed how we interact with </a:t>
            </a:r>
            <a:r>
              <a:rPr lang="en-US" dirty="0" smtClean="0"/>
              <a:t>the digital </a:t>
            </a:r>
            <a:r>
              <a:rPr lang="en-US" dirty="0"/>
              <a:t>world. </a:t>
            </a:r>
            <a:endParaRPr lang="en-US" dirty="0" smtClean="0"/>
          </a:p>
          <a:p>
            <a:r>
              <a:rPr lang="en-US" dirty="0" smtClean="0"/>
              <a:t>As </a:t>
            </a:r>
            <a:r>
              <a:rPr lang="en-US" dirty="0"/>
              <a:t>technology continues to evolve and mobile devices become even </a:t>
            </a:r>
            <a:r>
              <a:rPr lang="en-US" dirty="0" smtClean="0"/>
              <a:t>more powerful </a:t>
            </a:r>
            <a:r>
              <a:rPr lang="en-US" dirty="0"/>
              <a:t>and versatile, we can expect an even more seamless integration of </a:t>
            </a:r>
            <a:r>
              <a:rPr lang="en-US" dirty="0" smtClean="0"/>
              <a:t>mobile experiences </a:t>
            </a:r>
            <a:r>
              <a:rPr lang="en-US" dirty="0"/>
              <a:t>into our personal and professional lives. </a:t>
            </a:r>
            <a:endParaRPr lang="en-US" dirty="0" smtClean="0"/>
          </a:p>
          <a:p>
            <a:r>
              <a:rPr lang="en-US" dirty="0" smtClean="0"/>
              <a:t>The </a:t>
            </a:r>
            <a:r>
              <a:rPr lang="en-US" dirty="0"/>
              <a:t>future promises a world </a:t>
            </a:r>
            <a:r>
              <a:rPr lang="en-US" dirty="0" smtClean="0"/>
              <a:t>where information </a:t>
            </a:r>
            <a:r>
              <a:rPr lang="en-US" dirty="0"/>
              <a:t>is constantly at our fingertips, streamlined communication fosters </a:t>
            </a:r>
            <a:r>
              <a:rPr lang="en-US" dirty="0" smtClean="0"/>
              <a:t>deeper connections</a:t>
            </a:r>
            <a:r>
              <a:rPr lang="en-US" dirty="0"/>
              <a:t>, and shopping becomes a personalized and convenient on-the-go experience. </a:t>
            </a:r>
            <a:endParaRPr lang="en-US" dirty="0" smtClean="0"/>
          </a:p>
          <a:p>
            <a:r>
              <a:rPr lang="en-US" dirty="0" smtClean="0"/>
              <a:t>By embracing </a:t>
            </a:r>
            <a:r>
              <a:rPr lang="en-US" dirty="0"/>
              <a:t>these advancements and remaining vigilant about security considerations, </a:t>
            </a:r>
            <a:r>
              <a:rPr lang="en-US" dirty="0" smtClean="0"/>
              <a:t>we can </a:t>
            </a:r>
            <a:r>
              <a:rPr lang="en-US" dirty="0"/>
              <a:t>unlock the full potential of mobile computing and m-commerce, shaping a future </a:t>
            </a:r>
            <a:r>
              <a:rPr lang="en-US" dirty="0" smtClean="0"/>
              <a:t>where we </a:t>
            </a:r>
            <a:r>
              <a:rPr lang="en-US" dirty="0"/>
              <a:t>are truly empowered by the technology in our pockets.</a:t>
            </a:r>
            <a:endParaRPr lang="en-US" dirty="0"/>
          </a:p>
        </p:txBody>
      </p:sp>
    </p:spTree>
    <p:extLst>
      <p:ext uri="{BB962C8B-B14F-4D97-AF65-F5344CB8AC3E}">
        <p14:creationId xmlns:p14="http://schemas.microsoft.com/office/powerpoint/2010/main" val="9271858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lstStyle/>
          <a:p>
            <a:r>
              <a:rPr lang="en-US" b="1" dirty="0"/>
              <a:t>The Internet of Things (</a:t>
            </a:r>
            <a:r>
              <a:rPr lang="en-US" b="1" dirty="0" err="1"/>
              <a:t>IoT</a:t>
            </a:r>
            <a:r>
              <a:rPr lang="en-US" b="1" dirty="0"/>
              <a:t>)</a:t>
            </a:r>
            <a:endParaRPr lang="en-US" b="1" dirty="0"/>
          </a:p>
        </p:txBody>
      </p:sp>
      <p:sp>
        <p:nvSpPr>
          <p:cNvPr id="3" name="Content Placeholder 2"/>
          <p:cNvSpPr>
            <a:spLocks noGrp="1"/>
          </p:cNvSpPr>
          <p:nvPr>
            <p:ph idx="1"/>
          </p:nvPr>
        </p:nvSpPr>
        <p:spPr>
          <a:xfrm>
            <a:off x="838200" y="1240972"/>
            <a:ext cx="10515600" cy="5238205"/>
          </a:xfrm>
        </p:spPr>
        <p:txBody>
          <a:bodyPr>
            <a:normAutofit fontScale="92500"/>
          </a:bodyPr>
          <a:lstStyle/>
          <a:p>
            <a:r>
              <a:rPr lang="en-US" dirty="0"/>
              <a:t>The Internet of Things refers to a network of interconnected devices embedded </a:t>
            </a:r>
            <a:r>
              <a:rPr lang="en-US" dirty="0" smtClean="0"/>
              <a:t>with sensors</a:t>
            </a:r>
            <a:r>
              <a:rPr lang="en-US" dirty="0"/>
              <a:t>, software, and connectivity capabilities that enable them to collect, exchange, </a:t>
            </a:r>
            <a:r>
              <a:rPr lang="en-US" dirty="0" smtClean="0"/>
              <a:t>and analyze </a:t>
            </a:r>
            <a:r>
              <a:rPr lang="en-US" dirty="0"/>
              <a:t>data autonomously. </a:t>
            </a:r>
            <a:endParaRPr lang="en-US" dirty="0" smtClean="0"/>
          </a:p>
          <a:p>
            <a:r>
              <a:rPr lang="en-US" dirty="0" smtClean="0"/>
              <a:t>These </a:t>
            </a:r>
            <a:r>
              <a:rPr lang="en-US" dirty="0"/>
              <a:t>devices can range from everyday objects like </a:t>
            </a:r>
            <a:r>
              <a:rPr lang="en-US" dirty="0" smtClean="0"/>
              <a:t>home appliances </a:t>
            </a:r>
            <a:r>
              <a:rPr lang="en-US" dirty="0"/>
              <a:t>and wearable gadgets to industrial machinery and smart infrastructure. </a:t>
            </a:r>
            <a:endParaRPr lang="en-US" dirty="0" smtClean="0"/>
          </a:p>
          <a:p>
            <a:r>
              <a:rPr lang="en-US" dirty="0" smtClean="0"/>
              <a:t>The </a:t>
            </a:r>
            <a:r>
              <a:rPr lang="en-US" dirty="0" err="1" smtClean="0"/>
              <a:t>IoT</a:t>
            </a:r>
            <a:r>
              <a:rPr lang="en-US" dirty="0" smtClean="0"/>
              <a:t> network </a:t>
            </a:r>
            <a:r>
              <a:rPr lang="en-US" dirty="0"/>
              <a:t>connects everyday objects – from refrigerators and thermostats to cars </a:t>
            </a:r>
            <a:r>
              <a:rPr lang="en-US" dirty="0" smtClean="0"/>
              <a:t>and industrial </a:t>
            </a:r>
            <a:r>
              <a:rPr lang="en-US" dirty="0"/>
              <a:t>machinery – to the internet, enabling them to collect, share, and analyze data</a:t>
            </a:r>
            <a:r>
              <a:rPr lang="en-US" dirty="0" smtClean="0"/>
              <a:t>.</a:t>
            </a:r>
          </a:p>
          <a:p>
            <a:r>
              <a:rPr lang="en-US" dirty="0" smtClean="0"/>
              <a:t>Imagine </a:t>
            </a:r>
            <a:r>
              <a:rPr lang="en-US" dirty="0"/>
              <a:t>a world where your coffee maker starts brewing a fresh pot just as you wake </a:t>
            </a:r>
            <a:r>
              <a:rPr lang="en-US" dirty="0" smtClean="0"/>
              <a:t>up, your </a:t>
            </a:r>
            <a:r>
              <a:rPr lang="en-US" dirty="0"/>
              <a:t>smart speaker plays the music based on </a:t>
            </a:r>
            <a:r>
              <a:rPr lang="en-US" dirty="0" smtClean="0"/>
              <a:t>your preferences</a:t>
            </a:r>
            <a:r>
              <a:rPr lang="en-US" dirty="0"/>
              <a:t>, and your car alerts you to a potential maintenance issue before it becomes a major problem. </a:t>
            </a:r>
            <a:endParaRPr lang="en-US" dirty="0" smtClean="0"/>
          </a:p>
          <a:p>
            <a:r>
              <a:rPr lang="en-US" dirty="0" smtClean="0"/>
              <a:t>This </a:t>
            </a:r>
            <a:r>
              <a:rPr lang="en-US" dirty="0"/>
              <a:t>is the power and potential of the Internet of Things.</a:t>
            </a:r>
            <a:endParaRPr lang="en-US" dirty="0"/>
          </a:p>
        </p:txBody>
      </p:sp>
    </p:spTree>
    <p:extLst>
      <p:ext uri="{BB962C8B-B14F-4D97-AF65-F5344CB8AC3E}">
        <p14:creationId xmlns:p14="http://schemas.microsoft.com/office/powerpoint/2010/main" val="22267945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r>
              <a:rPr lang="en-US" b="1" dirty="0"/>
              <a:t>The key components of </a:t>
            </a:r>
            <a:r>
              <a:rPr lang="en-US" b="1" dirty="0" err="1"/>
              <a:t>IoT</a:t>
            </a:r>
            <a:r>
              <a:rPr lang="en-US" b="1" dirty="0"/>
              <a:t> include:</a:t>
            </a:r>
            <a:endParaRPr lang="en-US" b="1" dirty="0"/>
          </a:p>
        </p:txBody>
      </p:sp>
      <p:sp>
        <p:nvSpPr>
          <p:cNvPr id="3" name="Content Placeholder 2"/>
          <p:cNvSpPr>
            <a:spLocks noGrp="1"/>
          </p:cNvSpPr>
          <p:nvPr>
            <p:ph idx="1"/>
          </p:nvPr>
        </p:nvSpPr>
        <p:spPr>
          <a:xfrm>
            <a:off x="838200" y="1280160"/>
            <a:ext cx="10515600" cy="5199017"/>
          </a:xfrm>
        </p:spPr>
        <p:txBody>
          <a:bodyPr>
            <a:normAutofit lnSpcReduction="10000"/>
          </a:bodyPr>
          <a:lstStyle/>
          <a:p>
            <a:r>
              <a:rPr lang="en-US" b="1" dirty="0"/>
              <a:t>Devices: </a:t>
            </a:r>
            <a:endParaRPr lang="en-US" b="1" dirty="0" smtClean="0"/>
          </a:p>
          <a:p>
            <a:pPr lvl="1"/>
            <a:r>
              <a:rPr lang="en-US" dirty="0" smtClean="0"/>
              <a:t>At </a:t>
            </a:r>
            <a:r>
              <a:rPr lang="en-US" dirty="0"/>
              <a:t>the heart of the </a:t>
            </a:r>
            <a:r>
              <a:rPr lang="en-US" dirty="0" err="1"/>
              <a:t>IoT</a:t>
            </a:r>
            <a:r>
              <a:rPr lang="en-US" dirty="0"/>
              <a:t> ecosystem lies a vast network of interconnected devices. </a:t>
            </a:r>
            <a:endParaRPr lang="en-US" dirty="0" smtClean="0"/>
          </a:p>
          <a:p>
            <a:pPr lvl="1"/>
            <a:r>
              <a:rPr lang="en-US" dirty="0" smtClean="0"/>
              <a:t>These </a:t>
            </a:r>
            <a:r>
              <a:rPr lang="en-US" dirty="0"/>
              <a:t>devices, embedded with sensors, actuators, processors, and communication modules, can collect data about their environment, including temperature, pressure, movement, and even sound. </a:t>
            </a:r>
            <a:endParaRPr lang="en-US" dirty="0" smtClean="0"/>
          </a:p>
          <a:p>
            <a:pPr lvl="1"/>
            <a:r>
              <a:rPr lang="en-US" dirty="0" smtClean="0"/>
              <a:t>This </a:t>
            </a:r>
            <a:r>
              <a:rPr lang="en-US" dirty="0"/>
              <a:t>data is then transmitted wirelessly, often through Wi-Fi, Bluetooth, or cellular networks, to a central hub or cloud platform</a:t>
            </a:r>
            <a:r>
              <a:rPr lang="en-US" dirty="0" smtClean="0"/>
              <a:t>.</a:t>
            </a:r>
          </a:p>
          <a:p>
            <a:r>
              <a:rPr lang="en-US" b="1" dirty="0" smtClean="0"/>
              <a:t>Connectivity</a:t>
            </a:r>
            <a:r>
              <a:rPr lang="en-US" b="1" dirty="0"/>
              <a:t>: </a:t>
            </a:r>
            <a:endParaRPr lang="en-US" b="1" dirty="0" smtClean="0"/>
          </a:p>
          <a:p>
            <a:pPr lvl="1"/>
            <a:r>
              <a:rPr lang="en-US" dirty="0" smtClean="0"/>
              <a:t>It </a:t>
            </a:r>
            <a:r>
              <a:rPr lang="en-US" dirty="0"/>
              <a:t>is the glue that binds the entire </a:t>
            </a:r>
            <a:r>
              <a:rPr lang="en-US" dirty="0" err="1"/>
              <a:t>IoT</a:t>
            </a:r>
            <a:r>
              <a:rPr lang="en-US" dirty="0"/>
              <a:t> ecosystem together. </a:t>
            </a:r>
            <a:endParaRPr lang="en-US" dirty="0" smtClean="0"/>
          </a:p>
          <a:p>
            <a:pPr lvl="1"/>
            <a:r>
              <a:rPr lang="en-US" dirty="0" err="1" smtClean="0"/>
              <a:t>IoT</a:t>
            </a:r>
            <a:r>
              <a:rPr lang="en-US" dirty="0" smtClean="0"/>
              <a:t> </a:t>
            </a:r>
            <a:r>
              <a:rPr lang="en-US" dirty="0"/>
              <a:t>devices communicate with each other and facilitate seamless data exchange between devices and platforms with cloud-based platforms using various wireless technologies like Wi-Fi, Bluetooth, </a:t>
            </a:r>
            <a:r>
              <a:rPr lang="en-US" dirty="0" err="1"/>
              <a:t>Zigbee</a:t>
            </a:r>
            <a:r>
              <a:rPr lang="en-US" dirty="0"/>
              <a:t>, Z-Wave, MQTT, and cellular networks.</a:t>
            </a:r>
            <a:endParaRPr lang="en-US" dirty="0"/>
          </a:p>
        </p:txBody>
      </p:sp>
    </p:spTree>
    <p:extLst>
      <p:ext uri="{BB962C8B-B14F-4D97-AF65-F5344CB8AC3E}">
        <p14:creationId xmlns:p14="http://schemas.microsoft.com/office/powerpoint/2010/main" val="39893886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6022"/>
            <a:ext cx="10515600" cy="5199017"/>
          </a:xfrm>
        </p:spPr>
        <p:txBody>
          <a:bodyPr>
            <a:normAutofit/>
          </a:bodyPr>
          <a:lstStyle/>
          <a:p>
            <a:r>
              <a:rPr lang="en-US" b="1" dirty="0"/>
              <a:t>Data Processing: </a:t>
            </a:r>
            <a:endParaRPr lang="en-US" b="1" dirty="0" smtClean="0"/>
          </a:p>
          <a:p>
            <a:pPr lvl="1"/>
            <a:r>
              <a:rPr lang="en-US" dirty="0" smtClean="0"/>
              <a:t>The </a:t>
            </a:r>
            <a:r>
              <a:rPr lang="en-US" dirty="0"/>
              <a:t>collected data is the lifeblood of the </a:t>
            </a:r>
            <a:r>
              <a:rPr lang="en-US" dirty="0" err="1"/>
              <a:t>IoT</a:t>
            </a:r>
            <a:r>
              <a:rPr lang="en-US" dirty="0"/>
              <a:t>. It’s analyzed using powerful data analytics tools to extract meaningful insights. </a:t>
            </a:r>
            <a:endParaRPr lang="en-US" dirty="0" smtClean="0"/>
          </a:p>
          <a:p>
            <a:pPr lvl="1"/>
            <a:r>
              <a:rPr lang="en-US" dirty="0" smtClean="0"/>
              <a:t>This </a:t>
            </a:r>
            <a:r>
              <a:rPr lang="en-US" dirty="0"/>
              <a:t>allows devices to learn, adapt, and automate tasks based on real-time information. </a:t>
            </a:r>
            <a:endParaRPr lang="en-US" dirty="0" smtClean="0"/>
          </a:p>
          <a:p>
            <a:pPr lvl="1"/>
            <a:r>
              <a:rPr lang="en-US" dirty="0" smtClean="0"/>
              <a:t>For </a:t>
            </a:r>
            <a:r>
              <a:rPr lang="en-US" dirty="0"/>
              <a:t>instance, a smart thermostat can analyze your home’s occupancy patterns and adjust the temperature accordingly, saving energy and money. </a:t>
            </a:r>
            <a:endParaRPr lang="en-US" dirty="0" smtClean="0"/>
          </a:p>
          <a:p>
            <a:pPr lvl="1"/>
            <a:r>
              <a:rPr lang="en-US" dirty="0" smtClean="0"/>
              <a:t>The </a:t>
            </a:r>
            <a:r>
              <a:rPr lang="en-US" dirty="0"/>
              <a:t>data collected by </a:t>
            </a:r>
            <a:r>
              <a:rPr lang="en-US" dirty="0" err="1"/>
              <a:t>IoT</a:t>
            </a:r>
            <a:r>
              <a:rPr lang="en-US" dirty="0"/>
              <a:t> devices is processed and analyzed using cloud computing resources or edge computing devices, extracting valuable insights and actionable information</a:t>
            </a:r>
            <a:r>
              <a:rPr lang="en-US" dirty="0" smtClean="0"/>
              <a:t>.</a:t>
            </a:r>
          </a:p>
          <a:p>
            <a:r>
              <a:rPr lang="en-US" b="1" dirty="0" smtClean="0"/>
              <a:t>Applications</a:t>
            </a:r>
            <a:r>
              <a:rPr lang="en-US" b="1" dirty="0"/>
              <a:t>: </a:t>
            </a:r>
            <a:endParaRPr lang="en-US" b="1" dirty="0" smtClean="0"/>
          </a:p>
          <a:p>
            <a:pPr lvl="1"/>
            <a:r>
              <a:rPr lang="en-US" dirty="0" err="1" smtClean="0"/>
              <a:t>IoT</a:t>
            </a:r>
            <a:r>
              <a:rPr lang="en-US" dirty="0" smtClean="0"/>
              <a:t> </a:t>
            </a:r>
            <a:r>
              <a:rPr lang="en-US" dirty="0"/>
              <a:t>applications span across diverse domains, including home automation, healthcare, transportation, agriculture, manufacturing, and smart cities.</a:t>
            </a:r>
            <a:endParaRPr lang="en-US" dirty="0"/>
          </a:p>
        </p:txBody>
      </p:sp>
    </p:spTree>
    <p:extLst>
      <p:ext uri="{BB962C8B-B14F-4D97-AF65-F5344CB8AC3E}">
        <p14:creationId xmlns:p14="http://schemas.microsoft.com/office/powerpoint/2010/main" val="31029471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 better understand how </a:t>
            </a:r>
            <a:r>
              <a:rPr lang="en-US" b="1" dirty="0" err="1"/>
              <a:t>IoT</a:t>
            </a:r>
            <a:r>
              <a:rPr lang="en-US" b="1" dirty="0"/>
              <a:t> impacts our daily lives, let’s explore some real-world examples: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Smart Home</a:t>
            </a:r>
            <a:r>
              <a:rPr lang="en-US" dirty="0"/>
              <a:t/>
            </a:r>
            <a:br>
              <a:rPr lang="en-US" dirty="0"/>
            </a:br>
            <a:endParaRPr lang="en-US" dirty="0" smtClean="0"/>
          </a:p>
          <a:p>
            <a:pPr lvl="1"/>
            <a:r>
              <a:rPr lang="en-US" b="1" dirty="0" smtClean="0"/>
              <a:t>Smart </a:t>
            </a:r>
            <a:r>
              <a:rPr lang="en-US" b="1" dirty="0"/>
              <a:t>Thermostat: </a:t>
            </a:r>
            <a:r>
              <a:rPr lang="en-US" dirty="0"/>
              <a:t>Devices like the Nest Thermostat use sensors to monitor temperature and occupancy, adjusting heating and cooling settings automatically for energy efficiency and comfort.</a:t>
            </a:r>
            <a:br>
              <a:rPr lang="en-US" dirty="0"/>
            </a:br>
            <a:r>
              <a:rPr lang="en-US" dirty="0"/>
              <a:t/>
            </a:r>
            <a:br>
              <a:rPr lang="en-US" dirty="0"/>
            </a:br>
            <a:endParaRPr lang="en-US" dirty="0" smtClean="0"/>
          </a:p>
          <a:p>
            <a:pPr lvl="1"/>
            <a:r>
              <a:rPr lang="en-US" b="1" dirty="0" smtClean="0"/>
              <a:t>Smart </a:t>
            </a:r>
            <a:r>
              <a:rPr lang="en-US" b="1" dirty="0"/>
              <a:t>Lighting: </a:t>
            </a:r>
            <a:r>
              <a:rPr lang="en-US" dirty="0"/>
              <a:t>Philips Hue bulbs allow users to control lighting remotely via a smartphone app, customize brightness, color, and schedule lighting scenes to suit different activities and moods.</a:t>
            </a:r>
            <a:br>
              <a:rPr lang="en-US" dirty="0"/>
            </a:br>
            <a:endParaRPr lang="en-US" dirty="0" smtClean="0"/>
          </a:p>
          <a:p>
            <a:pPr lvl="1"/>
            <a:r>
              <a:rPr lang="en-US" b="1" dirty="0" smtClean="0"/>
              <a:t>Smart </a:t>
            </a:r>
            <a:r>
              <a:rPr lang="en-US" b="1" dirty="0"/>
              <a:t>Security Cameras: </a:t>
            </a:r>
            <a:r>
              <a:rPr lang="en-US" dirty="0"/>
              <a:t>Home security cameras like Ring and Arlo provide real-time monitoring and alerts, enabling users to keep an eye on their property and deter intruders.</a:t>
            </a:r>
            <a:endParaRPr lang="en-US" dirty="0"/>
          </a:p>
        </p:txBody>
      </p:sp>
    </p:spTree>
    <p:extLst>
      <p:ext uri="{BB962C8B-B14F-4D97-AF65-F5344CB8AC3E}">
        <p14:creationId xmlns:p14="http://schemas.microsoft.com/office/powerpoint/2010/main" val="25625632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7647"/>
            <a:ext cx="10515600" cy="4454434"/>
          </a:xfrm>
        </p:spPr>
        <p:txBody>
          <a:bodyPr>
            <a:normAutofit/>
          </a:bodyPr>
          <a:lstStyle/>
          <a:p>
            <a:r>
              <a:rPr lang="en-US" b="1" dirty="0"/>
              <a:t>Wearable </a:t>
            </a:r>
            <a:r>
              <a:rPr lang="en-US" b="1" dirty="0" smtClean="0"/>
              <a:t>Technology</a:t>
            </a:r>
          </a:p>
          <a:p>
            <a:endParaRPr lang="en-US" b="1" dirty="0" smtClean="0"/>
          </a:p>
          <a:p>
            <a:pPr lvl="1"/>
            <a:r>
              <a:rPr lang="en-US" b="1" dirty="0" smtClean="0"/>
              <a:t>Fitness Trackers: </a:t>
            </a:r>
            <a:r>
              <a:rPr lang="en-US" dirty="0" smtClean="0"/>
              <a:t>Devices like Fitbit and Apple Watch track physical activity</a:t>
            </a:r>
            <a:br>
              <a:rPr lang="en-US" dirty="0" smtClean="0"/>
            </a:br>
            <a:r>
              <a:rPr lang="en-US" dirty="0" smtClean="0"/>
              <a:t>monitor heart rate, and provide insights into health and wellness metrics,</a:t>
            </a:r>
            <a:br>
              <a:rPr lang="en-US" dirty="0" smtClean="0"/>
            </a:br>
            <a:r>
              <a:rPr lang="en-US" dirty="0" smtClean="0"/>
              <a:t>encouraging users to stay active and maintain a healthy lifestyle.</a:t>
            </a:r>
          </a:p>
          <a:p>
            <a:pPr lvl="1"/>
            <a:endParaRPr lang="en-US" dirty="0" smtClean="0"/>
          </a:p>
          <a:p>
            <a:pPr lvl="1"/>
            <a:r>
              <a:rPr lang="en-US" b="1" dirty="0" smtClean="0"/>
              <a:t>Smart Clothing: </a:t>
            </a:r>
            <a:r>
              <a:rPr lang="en-US" dirty="0" smtClean="0"/>
              <a:t>Wearable garments embedded with sensors can monitor</a:t>
            </a:r>
            <a:br>
              <a:rPr lang="en-US" dirty="0" smtClean="0"/>
            </a:br>
            <a:r>
              <a:rPr lang="en-US" dirty="0" smtClean="0"/>
              <a:t>body temperature, posture, and movement, providing feedback and alerts to</a:t>
            </a:r>
            <a:br>
              <a:rPr lang="en-US" dirty="0" smtClean="0"/>
            </a:br>
            <a:r>
              <a:rPr lang="en-US" dirty="0" smtClean="0"/>
              <a:t>improve athletic performance or prevent injuries.</a:t>
            </a:r>
            <a:endParaRPr lang="en-US" dirty="0"/>
          </a:p>
        </p:txBody>
      </p:sp>
    </p:spTree>
    <p:extLst>
      <p:ext uri="{BB962C8B-B14F-4D97-AF65-F5344CB8AC3E}">
        <p14:creationId xmlns:p14="http://schemas.microsoft.com/office/powerpoint/2010/main" val="26422142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9269"/>
            <a:ext cx="10515600" cy="5497694"/>
          </a:xfrm>
        </p:spPr>
        <p:txBody>
          <a:bodyPr>
            <a:normAutofit/>
          </a:bodyPr>
          <a:lstStyle/>
          <a:p>
            <a:r>
              <a:rPr lang="en-US" b="1" dirty="0"/>
              <a:t>Healthcare</a:t>
            </a:r>
            <a:r>
              <a:rPr lang="en-US" b="1" dirty="0" smtClean="0"/>
              <a:t>:</a:t>
            </a:r>
          </a:p>
          <a:p>
            <a:endParaRPr lang="en-US" b="1" dirty="0" smtClean="0"/>
          </a:p>
          <a:p>
            <a:pPr lvl="1"/>
            <a:r>
              <a:rPr lang="en-US" b="1" dirty="0" smtClean="0"/>
              <a:t>Remote </a:t>
            </a:r>
            <a:r>
              <a:rPr lang="en-US" b="1" dirty="0"/>
              <a:t>Patient Monitoring: </a:t>
            </a:r>
            <a:r>
              <a:rPr lang="en-US" dirty="0" err="1"/>
              <a:t>IoT</a:t>
            </a:r>
            <a:r>
              <a:rPr lang="en-US" dirty="0"/>
              <a:t> devices like wearable health monitors and</a:t>
            </a:r>
            <a:br>
              <a:rPr lang="en-US" dirty="0"/>
            </a:br>
            <a:r>
              <a:rPr lang="en-US" dirty="0"/>
              <a:t>medical sensors enable healthcare providers to remotely monitor patients’ </a:t>
            </a:r>
            <a:r>
              <a:rPr lang="en-US" dirty="0" smtClean="0"/>
              <a:t>vital signs</a:t>
            </a:r>
            <a:r>
              <a:rPr lang="en-US" dirty="0"/>
              <a:t>, medication adherence, and disease progression, improving patient</a:t>
            </a:r>
            <a:br>
              <a:rPr lang="en-US" dirty="0"/>
            </a:br>
            <a:r>
              <a:rPr lang="en-US" dirty="0"/>
              <a:t>outcomes and reducing hospital readmissions</a:t>
            </a:r>
            <a:r>
              <a:rPr lang="en-US" dirty="0" smtClean="0"/>
              <a:t>.</a:t>
            </a:r>
          </a:p>
          <a:p>
            <a:pPr lvl="1"/>
            <a:endParaRPr lang="en-US" dirty="0" smtClean="0"/>
          </a:p>
          <a:p>
            <a:pPr lvl="1"/>
            <a:r>
              <a:rPr lang="en-US" b="1" dirty="0" smtClean="0"/>
              <a:t>Smart </a:t>
            </a:r>
            <a:r>
              <a:rPr lang="en-US" b="1" dirty="0"/>
              <a:t>Pill Dispensers: </a:t>
            </a:r>
            <a:r>
              <a:rPr lang="en-US" dirty="0"/>
              <a:t>Automated pill dispensers with </a:t>
            </a:r>
            <a:r>
              <a:rPr lang="en-US" dirty="0" err="1"/>
              <a:t>IoT</a:t>
            </a:r>
            <a:r>
              <a:rPr lang="en-US" dirty="0"/>
              <a:t> connectivity</a:t>
            </a:r>
            <a:br>
              <a:rPr lang="en-US" dirty="0"/>
            </a:br>
            <a:r>
              <a:rPr lang="en-US" dirty="0"/>
              <a:t>remind patients to take their medications on schedule, dispense the correct</a:t>
            </a:r>
            <a:br>
              <a:rPr lang="en-US" dirty="0"/>
            </a:br>
            <a:r>
              <a:rPr lang="en-US" dirty="0"/>
              <a:t>dosage, and notify caregivers in case of missed doses or medication errors.</a:t>
            </a:r>
            <a:endParaRPr lang="en-US" dirty="0"/>
          </a:p>
        </p:txBody>
      </p:sp>
    </p:spTree>
    <p:extLst>
      <p:ext uri="{BB962C8B-B14F-4D97-AF65-F5344CB8AC3E}">
        <p14:creationId xmlns:p14="http://schemas.microsoft.com/office/powerpoint/2010/main" val="29290337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9897"/>
            <a:ext cx="10515600" cy="5367066"/>
          </a:xfrm>
        </p:spPr>
        <p:txBody>
          <a:bodyPr>
            <a:normAutofit/>
          </a:bodyPr>
          <a:lstStyle/>
          <a:p>
            <a:r>
              <a:rPr lang="en-US" b="1" dirty="0"/>
              <a:t>Transportation</a:t>
            </a:r>
            <a:r>
              <a:rPr lang="en-US" b="1" dirty="0" smtClean="0"/>
              <a:t>:</a:t>
            </a:r>
          </a:p>
          <a:p>
            <a:endParaRPr lang="en-US" dirty="0" smtClean="0"/>
          </a:p>
          <a:p>
            <a:pPr lvl="1"/>
            <a:r>
              <a:rPr lang="en-US" dirty="0" smtClean="0"/>
              <a:t> </a:t>
            </a:r>
            <a:r>
              <a:rPr lang="en-US" b="1" dirty="0"/>
              <a:t>Connected Cars: </a:t>
            </a:r>
            <a:r>
              <a:rPr lang="en-US" dirty="0"/>
              <a:t>Modern vehicles are equipped with </a:t>
            </a:r>
            <a:r>
              <a:rPr lang="en-US" dirty="0" err="1"/>
              <a:t>IoT</a:t>
            </a:r>
            <a:r>
              <a:rPr lang="en-US" dirty="0"/>
              <a:t> technology for real-</a:t>
            </a:r>
            <a:br>
              <a:rPr lang="en-US" dirty="0"/>
            </a:br>
            <a:r>
              <a:rPr lang="en-US" dirty="0"/>
              <a:t>time vehicle diagnostics, navigation, and entertainment services. Features like</a:t>
            </a:r>
            <a:br>
              <a:rPr lang="en-US" dirty="0"/>
            </a:br>
            <a:r>
              <a:rPr lang="en-US" dirty="0"/>
              <a:t>automatic emergency braking, lane-keeping assistance, and adaptive cruise</a:t>
            </a:r>
            <a:br>
              <a:rPr lang="en-US" dirty="0"/>
            </a:br>
            <a:r>
              <a:rPr lang="en-US" dirty="0"/>
              <a:t>control enhance safety and driving experience</a:t>
            </a:r>
            <a:r>
              <a:rPr lang="en-US" dirty="0" smtClean="0"/>
              <a:t>.</a:t>
            </a:r>
          </a:p>
          <a:p>
            <a:pPr lvl="1"/>
            <a:endParaRPr lang="en-US" dirty="0" smtClean="0"/>
          </a:p>
          <a:p>
            <a:pPr lvl="1"/>
            <a:r>
              <a:rPr lang="en-US" b="1" dirty="0" smtClean="0"/>
              <a:t>Smart </a:t>
            </a:r>
            <a:r>
              <a:rPr lang="en-US" b="1" dirty="0"/>
              <a:t>Traffic Management: </a:t>
            </a:r>
            <a:r>
              <a:rPr lang="en-US" dirty="0" err="1"/>
              <a:t>IoT</a:t>
            </a:r>
            <a:r>
              <a:rPr lang="en-US" dirty="0"/>
              <a:t> sensors installed on roads and traffic</a:t>
            </a:r>
            <a:br>
              <a:rPr lang="en-US" dirty="0"/>
            </a:br>
            <a:r>
              <a:rPr lang="en-US" dirty="0"/>
              <a:t>signals collect data on traffic flow, congestion, and accidents, enabling</a:t>
            </a:r>
            <a:br>
              <a:rPr lang="en-US" dirty="0"/>
            </a:br>
            <a:r>
              <a:rPr lang="en-US" dirty="0"/>
              <a:t>authorities to optimize traffic patterns, reduce congestion, and improve road</a:t>
            </a:r>
            <a:br>
              <a:rPr lang="en-US" dirty="0"/>
            </a:br>
            <a:r>
              <a:rPr lang="en-US" dirty="0"/>
              <a:t>safety.</a:t>
            </a:r>
            <a:endParaRPr lang="en-US" dirty="0"/>
          </a:p>
        </p:txBody>
      </p:sp>
    </p:spTree>
    <p:extLst>
      <p:ext uri="{BB962C8B-B14F-4D97-AF65-F5344CB8AC3E}">
        <p14:creationId xmlns:p14="http://schemas.microsoft.com/office/powerpoint/2010/main" val="27135752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5394"/>
            <a:ext cx="10515600" cy="5471569"/>
          </a:xfrm>
        </p:spPr>
        <p:txBody>
          <a:bodyPr>
            <a:normAutofit/>
          </a:bodyPr>
          <a:lstStyle/>
          <a:p>
            <a:r>
              <a:rPr lang="en-US" b="1" dirty="0" smtClean="0"/>
              <a:t>Agriculture</a:t>
            </a:r>
          </a:p>
          <a:p>
            <a:endParaRPr lang="en-US" b="1" dirty="0" smtClean="0"/>
          </a:p>
          <a:p>
            <a:pPr lvl="1"/>
            <a:r>
              <a:rPr lang="en-US" b="1" dirty="0" smtClean="0"/>
              <a:t>Precision </a:t>
            </a:r>
            <a:r>
              <a:rPr lang="en-US" b="1" dirty="0"/>
              <a:t>Farming: </a:t>
            </a:r>
            <a:r>
              <a:rPr lang="en-US" dirty="0" err="1"/>
              <a:t>IoT</a:t>
            </a:r>
            <a:r>
              <a:rPr lang="en-US" dirty="0"/>
              <a:t> sensors deployed in agricultural fields monitor soil</a:t>
            </a:r>
            <a:br>
              <a:rPr lang="en-US" dirty="0"/>
            </a:br>
            <a:r>
              <a:rPr lang="en-US" dirty="0"/>
              <a:t>moisture, temperature, and nutrient levels, enabling farmers to optimize</a:t>
            </a:r>
            <a:br>
              <a:rPr lang="en-US" dirty="0"/>
            </a:br>
            <a:r>
              <a:rPr lang="en-US" dirty="0"/>
              <a:t>irrigation, fertilization, and crop yields while minimizing water usage and</a:t>
            </a:r>
            <a:br>
              <a:rPr lang="en-US" dirty="0"/>
            </a:br>
            <a:r>
              <a:rPr lang="en-US" dirty="0"/>
              <a:t>environmental impact</a:t>
            </a:r>
            <a:r>
              <a:rPr lang="en-US" dirty="0" smtClean="0"/>
              <a:t>.</a:t>
            </a:r>
          </a:p>
          <a:p>
            <a:pPr lvl="1"/>
            <a:endParaRPr lang="en-US" dirty="0" smtClean="0"/>
          </a:p>
          <a:p>
            <a:pPr lvl="1"/>
            <a:r>
              <a:rPr lang="en-US" b="1" dirty="0" smtClean="0"/>
              <a:t>Livestock </a:t>
            </a:r>
            <a:r>
              <a:rPr lang="en-US" b="1" dirty="0"/>
              <a:t>Monitoring: </a:t>
            </a:r>
            <a:r>
              <a:rPr lang="en-US" dirty="0" err="1"/>
              <a:t>IoT</a:t>
            </a:r>
            <a:r>
              <a:rPr lang="en-US" dirty="0"/>
              <a:t>-enabled livestock tags and sensors track animal</a:t>
            </a:r>
            <a:br>
              <a:rPr lang="en-US" dirty="0"/>
            </a:br>
            <a:r>
              <a:rPr lang="en-US" dirty="0"/>
              <a:t>health, behavior, and location, allowing farmers to detect illnesses, manage</a:t>
            </a:r>
            <a:br>
              <a:rPr lang="en-US" dirty="0"/>
            </a:br>
            <a:r>
              <a:rPr lang="en-US" dirty="0"/>
              <a:t>herds, and prevent losses more effectively.</a:t>
            </a:r>
            <a:endParaRPr lang="en-US" dirty="0"/>
          </a:p>
        </p:txBody>
      </p:sp>
    </p:spTree>
    <p:extLst>
      <p:ext uri="{BB962C8B-B14F-4D97-AF65-F5344CB8AC3E}">
        <p14:creationId xmlns:p14="http://schemas.microsoft.com/office/powerpoint/2010/main" val="4138324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520"/>
            <a:ext cx="10515600" cy="5445443"/>
          </a:xfrm>
        </p:spPr>
        <p:txBody>
          <a:bodyPr/>
          <a:lstStyle/>
          <a:p>
            <a:r>
              <a:rPr lang="en-US" dirty="0"/>
              <a:t>Smart </a:t>
            </a:r>
            <a:r>
              <a:rPr lang="en-US" dirty="0" smtClean="0"/>
              <a:t>Cities</a:t>
            </a:r>
          </a:p>
          <a:p>
            <a:endParaRPr lang="en-US" dirty="0" smtClean="0"/>
          </a:p>
          <a:p>
            <a:pPr lvl="1"/>
            <a:r>
              <a:rPr lang="en-US" dirty="0" smtClean="0"/>
              <a:t>Cities </a:t>
            </a:r>
            <a:r>
              <a:rPr lang="en-US" dirty="0"/>
              <a:t>are becoming smarter with the help of </a:t>
            </a:r>
            <a:r>
              <a:rPr lang="en-US" dirty="0" err="1"/>
              <a:t>IoT</a:t>
            </a:r>
            <a:r>
              <a:rPr lang="en-US" dirty="0"/>
              <a:t>. Traffic congestion can be</a:t>
            </a:r>
            <a:br>
              <a:rPr lang="en-US" dirty="0"/>
            </a:br>
            <a:r>
              <a:rPr lang="en-US" dirty="0"/>
              <a:t>monitored and managed in real-time using connected sensors, while smart</a:t>
            </a:r>
            <a:br>
              <a:rPr lang="en-US" dirty="0"/>
            </a:br>
            <a:r>
              <a:rPr lang="en-US" dirty="0"/>
              <a:t>parking systems can guide drivers to available spots. Additionally,</a:t>
            </a:r>
            <a:br>
              <a:rPr lang="en-US" dirty="0"/>
            </a:br>
            <a:r>
              <a:rPr lang="en-US" dirty="0"/>
              <a:t>Wireless, Mobile Computing, and Mobile Commerce CHAPTER 4 113</a:t>
            </a:r>
            <a:br>
              <a:rPr lang="en-US" dirty="0"/>
            </a:br>
            <a:r>
              <a:rPr lang="en-US" dirty="0"/>
              <a:t>environmental monitoring solutions can track air quality and noise pollution,</a:t>
            </a:r>
            <a:br>
              <a:rPr lang="en-US" dirty="0"/>
            </a:br>
            <a:r>
              <a:rPr lang="en-US" dirty="0"/>
              <a:t>enabling cities to implement proactive measures.</a:t>
            </a:r>
            <a:endParaRPr lang="en-US" dirty="0"/>
          </a:p>
        </p:txBody>
      </p:sp>
    </p:spTree>
    <p:extLst>
      <p:ext uri="{BB962C8B-B14F-4D97-AF65-F5344CB8AC3E}">
        <p14:creationId xmlns:p14="http://schemas.microsoft.com/office/powerpoint/2010/main" val="40457635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3954"/>
            <a:ext cx="10515600" cy="5563009"/>
          </a:xfrm>
        </p:spPr>
        <p:txBody>
          <a:bodyPr>
            <a:normAutofit/>
          </a:bodyPr>
          <a:lstStyle/>
          <a:p>
            <a:r>
              <a:rPr lang="en-US" b="1" dirty="0"/>
              <a:t>Connected </a:t>
            </a:r>
            <a:r>
              <a:rPr lang="en-US" b="1" dirty="0" smtClean="0"/>
              <a:t>Industries</a:t>
            </a:r>
          </a:p>
          <a:p>
            <a:pPr lvl="1"/>
            <a:r>
              <a:rPr lang="en-US" dirty="0" smtClean="0"/>
              <a:t>The </a:t>
            </a:r>
            <a:r>
              <a:rPr lang="en-US" dirty="0"/>
              <a:t>Industrial Internet of Things (</a:t>
            </a:r>
            <a:r>
              <a:rPr lang="en-US" dirty="0" err="1"/>
              <a:t>IIoT</a:t>
            </a:r>
            <a:r>
              <a:rPr lang="en-US" dirty="0"/>
              <a:t>) is revolutionizing manufacturing and</a:t>
            </a:r>
            <a:br>
              <a:rPr lang="en-US" dirty="0"/>
            </a:br>
            <a:r>
              <a:rPr lang="en-US" dirty="0"/>
              <a:t>other industrial processes. Factory equipment can be monitored remotely for</a:t>
            </a:r>
            <a:br>
              <a:rPr lang="en-US" dirty="0"/>
            </a:br>
            <a:r>
              <a:rPr lang="en-US" dirty="0"/>
              <a:t>predictive maintenance, preventing costly downtime. Sensors can track</a:t>
            </a:r>
            <a:br>
              <a:rPr lang="en-US" dirty="0"/>
            </a:br>
            <a:r>
              <a:rPr lang="en-US" dirty="0"/>
              <a:t>inventory levels and optimize supply chains, ensuring smooth operations</a:t>
            </a:r>
            <a:r>
              <a:rPr lang="en-US" dirty="0" smtClean="0"/>
              <a:t>.</a:t>
            </a:r>
          </a:p>
          <a:p>
            <a:endParaRPr lang="en-US" dirty="0"/>
          </a:p>
          <a:p>
            <a:r>
              <a:rPr lang="en-US" b="1" dirty="0" smtClean="0"/>
              <a:t>Retail </a:t>
            </a:r>
            <a:r>
              <a:rPr lang="en-US" b="1" dirty="0"/>
              <a:t>Revolution</a:t>
            </a:r>
            <a:r>
              <a:rPr lang="en-US" b="1" dirty="0" smtClean="0"/>
              <a:t>:</a:t>
            </a:r>
          </a:p>
          <a:p>
            <a:pPr lvl="1"/>
            <a:r>
              <a:rPr lang="en-US" dirty="0" smtClean="0"/>
              <a:t>The </a:t>
            </a:r>
            <a:r>
              <a:rPr lang="en-US" dirty="0"/>
              <a:t>retail industry is embracing </a:t>
            </a:r>
            <a:r>
              <a:rPr lang="en-US" dirty="0" err="1"/>
              <a:t>IoT</a:t>
            </a:r>
            <a:r>
              <a:rPr lang="en-US" dirty="0"/>
              <a:t> to enhance customer experience. Smart</a:t>
            </a:r>
            <a:br>
              <a:rPr lang="en-US" dirty="0"/>
            </a:br>
            <a:r>
              <a:rPr lang="en-US" dirty="0"/>
              <a:t>shelves can automatically track inventory levels and trigger restocking alerts,</a:t>
            </a:r>
            <a:br>
              <a:rPr lang="en-US" dirty="0"/>
            </a:br>
            <a:r>
              <a:rPr lang="en-US" dirty="0"/>
              <a:t>while personalized in-store marketing campaigns can be delivered based on a</a:t>
            </a:r>
            <a:br>
              <a:rPr lang="en-US" dirty="0"/>
            </a:br>
            <a:r>
              <a:rPr lang="en-US" dirty="0"/>
              <a:t>customer’s location and past purchase history.</a:t>
            </a:r>
            <a:endParaRPr lang="en-US" dirty="0"/>
          </a:p>
        </p:txBody>
      </p:sp>
    </p:spTree>
    <p:extLst>
      <p:ext uri="{BB962C8B-B14F-4D97-AF65-F5344CB8AC3E}">
        <p14:creationId xmlns:p14="http://schemas.microsoft.com/office/powerpoint/2010/main" val="26228987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6389"/>
            <a:ext cx="10515600" cy="6035040"/>
          </a:xfrm>
        </p:spPr>
        <p:txBody>
          <a:bodyPr>
            <a:normAutofit/>
          </a:bodyPr>
          <a:lstStyle/>
          <a:p>
            <a:r>
              <a:rPr lang="en-US" dirty="0"/>
              <a:t>While the benefits of </a:t>
            </a:r>
            <a:r>
              <a:rPr lang="en-US" dirty="0" err="1"/>
              <a:t>IoT</a:t>
            </a:r>
            <a:r>
              <a:rPr lang="en-US" dirty="0"/>
              <a:t> are undeniable, security concerns remain a significant challenge</a:t>
            </a:r>
            <a:r>
              <a:rPr lang="en-US" dirty="0" smtClean="0"/>
              <a:t>.</a:t>
            </a:r>
          </a:p>
          <a:p>
            <a:r>
              <a:rPr lang="en-US" dirty="0" smtClean="0"/>
              <a:t>Here </a:t>
            </a:r>
            <a:r>
              <a:rPr lang="en-US" dirty="0"/>
              <a:t>are some key areas to consider</a:t>
            </a:r>
            <a:r>
              <a:rPr lang="en-US" dirty="0" smtClean="0"/>
              <a:t>:</a:t>
            </a:r>
          </a:p>
          <a:p>
            <a:endParaRPr lang="en-US" dirty="0" smtClean="0"/>
          </a:p>
          <a:p>
            <a:pPr lvl="1"/>
            <a:r>
              <a:rPr lang="en-US" b="1" dirty="0" smtClean="0"/>
              <a:t>Device </a:t>
            </a:r>
            <a:r>
              <a:rPr lang="en-US" b="1" dirty="0"/>
              <a:t>Security: </a:t>
            </a:r>
            <a:r>
              <a:rPr lang="en-US" dirty="0"/>
              <a:t>Securing individual devices within the </a:t>
            </a:r>
            <a:r>
              <a:rPr lang="en-US" dirty="0" err="1"/>
              <a:t>IoT</a:t>
            </a:r>
            <a:r>
              <a:rPr lang="en-US" dirty="0"/>
              <a:t> network is</a:t>
            </a:r>
            <a:br>
              <a:rPr lang="en-US" dirty="0"/>
            </a:br>
            <a:r>
              <a:rPr lang="en-US" dirty="0"/>
              <a:t>crucial. Strong authentication measures and regular firmware updates are</a:t>
            </a:r>
            <a:br>
              <a:rPr lang="en-US" dirty="0"/>
            </a:br>
            <a:r>
              <a:rPr lang="en-US" dirty="0"/>
              <a:t>essential to safeguard them from cyberattacks</a:t>
            </a:r>
            <a:r>
              <a:rPr lang="en-US" dirty="0" smtClean="0"/>
              <a:t>.</a:t>
            </a:r>
          </a:p>
          <a:p>
            <a:pPr lvl="1"/>
            <a:endParaRPr lang="en-US" dirty="0" smtClean="0"/>
          </a:p>
          <a:p>
            <a:pPr lvl="1"/>
            <a:r>
              <a:rPr lang="en-US" b="1" dirty="0" smtClean="0"/>
              <a:t>Data </a:t>
            </a:r>
            <a:r>
              <a:rPr lang="en-US" b="1" dirty="0"/>
              <a:t>Security: </a:t>
            </a:r>
            <a:r>
              <a:rPr lang="en-US" dirty="0"/>
              <a:t>The vast amount of data collected by </a:t>
            </a:r>
            <a:r>
              <a:rPr lang="en-US" dirty="0" err="1"/>
              <a:t>IoT</a:t>
            </a:r>
            <a:r>
              <a:rPr lang="en-US" dirty="0"/>
              <a:t> devices raises privacy</a:t>
            </a:r>
            <a:br>
              <a:rPr lang="en-US" dirty="0"/>
            </a:br>
            <a:r>
              <a:rPr lang="en-US" dirty="0"/>
              <a:t>concerns. Robust data encryption practices and clear user consent protocols </a:t>
            </a:r>
            <a:r>
              <a:rPr lang="en-US" dirty="0" smtClean="0"/>
              <a:t>are essential </a:t>
            </a:r>
            <a:r>
              <a:rPr lang="en-US" dirty="0"/>
              <a:t>to protecting sensitive information</a:t>
            </a:r>
            <a:r>
              <a:rPr lang="en-US" dirty="0" smtClean="0"/>
              <a:t>.</a:t>
            </a:r>
          </a:p>
          <a:p>
            <a:pPr lvl="1"/>
            <a:endParaRPr lang="en-US" dirty="0" smtClean="0"/>
          </a:p>
          <a:p>
            <a:pPr lvl="1"/>
            <a:r>
              <a:rPr lang="en-US" b="1" dirty="0" smtClean="0"/>
              <a:t>Network </a:t>
            </a:r>
            <a:r>
              <a:rPr lang="en-US" b="1" dirty="0"/>
              <a:t>Security: </a:t>
            </a:r>
            <a:r>
              <a:rPr lang="en-US" dirty="0"/>
              <a:t>The interconnected nature of </a:t>
            </a:r>
            <a:r>
              <a:rPr lang="en-US" dirty="0" err="1"/>
              <a:t>IoT</a:t>
            </a:r>
            <a:r>
              <a:rPr lang="en-US" dirty="0"/>
              <a:t> systems creates</a:t>
            </a:r>
            <a:br>
              <a:rPr lang="en-US" dirty="0"/>
            </a:br>
            <a:r>
              <a:rPr lang="en-US" dirty="0"/>
              <a:t>vulnerabilities. Implementing robust network security measures and firewalls</a:t>
            </a:r>
            <a:br>
              <a:rPr lang="en-US" dirty="0"/>
            </a:br>
            <a:r>
              <a:rPr lang="en-US" dirty="0"/>
              <a:t>is critical to prevent unauthorized access and malicious activity.</a:t>
            </a:r>
            <a:endParaRPr lang="en-US" dirty="0"/>
          </a:p>
        </p:txBody>
      </p:sp>
    </p:spTree>
    <p:extLst>
      <p:ext uri="{BB962C8B-B14F-4D97-AF65-F5344CB8AC3E}">
        <p14:creationId xmlns:p14="http://schemas.microsoft.com/office/powerpoint/2010/main" val="11804524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4949"/>
            <a:ext cx="10515600" cy="6165668"/>
          </a:xfrm>
        </p:spPr>
        <p:txBody>
          <a:bodyPr>
            <a:normAutofit fontScale="85000" lnSpcReduction="10000"/>
          </a:bodyPr>
          <a:lstStyle/>
          <a:p>
            <a:r>
              <a:rPr lang="en-US" dirty="0"/>
              <a:t>The Internet of Things is transforming the way we interact with technology, </a:t>
            </a:r>
            <a:r>
              <a:rPr lang="en-US" dirty="0" smtClean="0"/>
              <a:t>connecting devices</a:t>
            </a:r>
            <a:r>
              <a:rPr lang="en-US" dirty="0"/>
              <a:t>, and empowering users with unprecedented convenience, efficiency, and insights</a:t>
            </a:r>
            <a:r>
              <a:rPr lang="en-US" dirty="0" smtClean="0"/>
              <a:t>.</a:t>
            </a:r>
          </a:p>
          <a:p>
            <a:r>
              <a:rPr lang="en-US" dirty="0" smtClean="0"/>
              <a:t>From </a:t>
            </a:r>
            <a:r>
              <a:rPr lang="en-US" dirty="0"/>
              <a:t>smart homes and wearable gadgets to healthcare, transportation, and </a:t>
            </a:r>
            <a:r>
              <a:rPr lang="en-US" dirty="0" smtClean="0"/>
              <a:t>agriculture, </a:t>
            </a:r>
            <a:r>
              <a:rPr lang="en-US" dirty="0" err="1" smtClean="0"/>
              <a:t>IoT</a:t>
            </a:r>
            <a:r>
              <a:rPr lang="en-US" dirty="0" smtClean="0"/>
              <a:t> </a:t>
            </a:r>
            <a:r>
              <a:rPr lang="en-US" dirty="0"/>
              <a:t>applications are reshaping industries and enhancing our quality of life. </a:t>
            </a:r>
            <a:endParaRPr lang="en-US" dirty="0" smtClean="0"/>
          </a:p>
          <a:p>
            <a:r>
              <a:rPr lang="en-US" dirty="0" smtClean="0"/>
              <a:t>By embracing </a:t>
            </a:r>
            <a:r>
              <a:rPr lang="en-US" dirty="0" err="1" smtClean="0"/>
              <a:t>IoT</a:t>
            </a:r>
            <a:r>
              <a:rPr lang="en-US" dirty="0" smtClean="0"/>
              <a:t> </a:t>
            </a:r>
            <a:r>
              <a:rPr lang="en-US" dirty="0"/>
              <a:t>technologies and innovations, we can unlock new possibilities for </a:t>
            </a:r>
            <a:r>
              <a:rPr lang="en-US" dirty="0" smtClean="0"/>
              <a:t>productivity, sustainability</a:t>
            </a:r>
            <a:r>
              <a:rPr lang="en-US" dirty="0"/>
              <a:t>, and connectivity in the digital age. </a:t>
            </a:r>
            <a:endParaRPr lang="en-US" dirty="0" smtClean="0"/>
          </a:p>
          <a:p>
            <a:r>
              <a:rPr lang="en-US" dirty="0" smtClean="0"/>
              <a:t>The </a:t>
            </a:r>
            <a:r>
              <a:rPr lang="en-US" dirty="0"/>
              <a:t>future of the Internet of </a:t>
            </a:r>
            <a:r>
              <a:rPr lang="en-US" dirty="0" smtClean="0"/>
              <a:t>Things promises </a:t>
            </a:r>
            <a:r>
              <a:rPr lang="en-US" dirty="0"/>
              <a:t>a world of even greater collaboration and integration. </a:t>
            </a:r>
            <a:endParaRPr lang="en-US" dirty="0" smtClean="0"/>
          </a:p>
          <a:p>
            <a:r>
              <a:rPr lang="en-US" dirty="0" smtClean="0"/>
              <a:t>AI </a:t>
            </a:r>
            <a:r>
              <a:rPr lang="en-US" dirty="0"/>
              <a:t>integration will </a:t>
            </a:r>
            <a:r>
              <a:rPr lang="en-US" dirty="0" smtClean="0"/>
              <a:t>further enhance </a:t>
            </a:r>
            <a:r>
              <a:rPr lang="en-US" dirty="0"/>
              <a:t>the capabilities of </a:t>
            </a:r>
            <a:r>
              <a:rPr lang="en-US" dirty="0" err="1"/>
              <a:t>IoT</a:t>
            </a:r>
            <a:r>
              <a:rPr lang="en-US" dirty="0"/>
              <a:t> devices. AI algorithms can analyze sensor data in </a:t>
            </a:r>
            <a:r>
              <a:rPr lang="en-US" dirty="0" smtClean="0"/>
              <a:t>real-time, enabling </a:t>
            </a:r>
            <a:r>
              <a:rPr lang="en-US" dirty="0"/>
              <a:t>devices to make intelligent decisions and automate tasks more effectively</a:t>
            </a:r>
            <a:r>
              <a:rPr lang="en-US" dirty="0" smtClean="0"/>
              <a:t>.</a:t>
            </a:r>
          </a:p>
          <a:p>
            <a:r>
              <a:rPr lang="en-US" dirty="0" smtClean="0"/>
              <a:t>Likewise</a:t>
            </a:r>
            <a:r>
              <a:rPr lang="en-US" dirty="0"/>
              <a:t>, </a:t>
            </a:r>
            <a:r>
              <a:rPr lang="en-US" dirty="0" err="1"/>
              <a:t>Blockchain</a:t>
            </a:r>
            <a:r>
              <a:rPr lang="en-US" dirty="0"/>
              <a:t>, known for its secure data storage capabilities, can be leveraged </a:t>
            </a:r>
            <a:r>
              <a:rPr lang="en-US" dirty="0" smtClean="0"/>
              <a:t>to enhance </a:t>
            </a:r>
            <a:r>
              <a:rPr lang="en-US" dirty="0"/>
              <a:t>data security and transparency within the </a:t>
            </a:r>
            <a:r>
              <a:rPr lang="en-US" dirty="0" err="1"/>
              <a:t>IoT</a:t>
            </a:r>
            <a:r>
              <a:rPr lang="en-US" dirty="0"/>
              <a:t> ecosystem. </a:t>
            </a:r>
            <a:endParaRPr lang="en-US" dirty="0" smtClean="0"/>
          </a:p>
          <a:p>
            <a:r>
              <a:rPr lang="en-US" dirty="0" smtClean="0"/>
              <a:t>Similarly, standardization </a:t>
            </a:r>
            <a:r>
              <a:rPr lang="en-US" dirty="0"/>
              <a:t>of communication protocols and data formats will ensure </a:t>
            </a:r>
            <a:r>
              <a:rPr lang="en-US" dirty="0" smtClean="0"/>
              <a:t>seamless interoperability </a:t>
            </a:r>
            <a:r>
              <a:rPr lang="en-US" dirty="0"/>
              <a:t>between devices from different manufacturers, creating a truly </a:t>
            </a:r>
            <a:r>
              <a:rPr lang="en-US" dirty="0" smtClean="0"/>
              <a:t>cohesive </a:t>
            </a:r>
            <a:r>
              <a:rPr lang="en-US" dirty="0" err="1" smtClean="0"/>
              <a:t>IoT</a:t>
            </a:r>
            <a:r>
              <a:rPr lang="en-US" dirty="0" smtClean="0"/>
              <a:t> </a:t>
            </a:r>
            <a:r>
              <a:rPr lang="en-US" dirty="0"/>
              <a:t>network.</a:t>
            </a:r>
            <a:endParaRPr lang="en-US" dirty="0"/>
          </a:p>
        </p:txBody>
      </p:sp>
    </p:spTree>
    <p:extLst>
      <p:ext uri="{BB962C8B-B14F-4D97-AF65-F5344CB8AC3E}">
        <p14:creationId xmlns:p14="http://schemas.microsoft.com/office/powerpoint/2010/main" val="3551467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7455</Words>
  <Application>Microsoft Office PowerPoint</Application>
  <PresentationFormat>Widescreen</PresentationFormat>
  <Paragraphs>449</Paragraphs>
  <Slides>80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80</vt:i4>
      </vt:variant>
    </vt:vector>
  </HeadingPairs>
  <TitlesOfParts>
    <vt:vector size="84" baseType="lpstr">
      <vt:lpstr>Arial</vt:lpstr>
      <vt:lpstr>Calibri</vt:lpstr>
      <vt:lpstr>Calibri Light</vt:lpstr>
      <vt:lpstr>Office Theme</vt:lpstr>
      <vt:lpstr>Wireless, Mobile Computing and Mobile Commerce</vt:lpstr>
      <vt:lpstr>Introduction</vt:lpstr>
      <vt:lpstr>PowerPoint Presentation</vt:lpstr>
      <vt:lpstr>PowerPoint Presentation</vt:lpstr>
      <vt:lpstr>PowerPoint Presentation</vt:lpstr>
      <vt:lpstr>PowerPoint Presentation</vt:lpstr>
      <vt:lpstr>Wireless Computer Networks and Internet Access</vt:lpstr>
      <vt:lpstr>PowerPoint Presentation</vt:lpstr>
      <vt:lpstr>PowerPoint Presentation</vt:lpstr>
      <vt:lpstr>PowerPoint Presentation</vt:lpstr>
      <vt:lpstr>PowerPoint Presentation</vt:lpstr>
      <vt:lpstr>PowerPoint Presentation</vt:lpstr>
      <vt:lpstr>PowerPoint Presentation</vt:lpstr>
      <vt:lpstr>Wireless Technologies</vt:lpstr>
      <vt:lpstr>PowerPoint Presentation</vt:lpstr>
      <vt:lpstr>PowerPoint Presentation</vt:lpstr>
      <vt:lpstr>PowerPoint Presentation</vt:lpstr>
      <vt:lpstr>NTC's ADSL service in Nepal has following key features:</vt:lpstr>
      <vt:lpstr>PowerPoint Presentation</vt:lpstr>
      <vt:lpstr>PowerPoint Presentation</vt:lpstr>
      <vt:lpstr>PowerPoint Presentation</vt:lpstr>
      <vt:lpstr>WIMAX</vt:lpstr>
      <vt:lpstr>PowerPoint Presentation</vt:lpstr>
      <vt:lpstr>PowerPoint Presentation</vt:lpstr>
      <vt:lpstr>PowerPoint Presentation</vt:lpstr>
      <vt:lpstr>PowerPoint Presentation</vt:lpstr>
      <vt:lpstr>Wi-Fi</vt:lpstr>
      <vt:lpstr>PowerPoint Presentation</vt:lpstr>
      <vt:lpstr>PowerPoint Presentation</vt:lpstr>
      <vt:lpstr>PowerPoint Presentation</vt:lpstr>
      <vt:lpstr>UMTS (3G)</vt:lpstr>
      <vt:lpstr>PowerPoint Presentation</vt:lpstr>
      <vt:lpstr>PowerPoint Presentation</vt:lpstr>
      <vt:lpstr>PowerPoint Presentation</vt:lpstr>
      <vt:lpstr>PowerPoint Presentation</vt:lpstr>
      <vt:lpstr>PowerPoint Presentation</vt:lpstr>
      <vt:lpstr>LTE (4G)</vt:lpstr>
      <vt:lpstr>PowerPoint Presentation</vt:lpstr>
      <vt:lpstr>PowerPoint Presentation</vt:lpstr>
      <vt:lpstr>PowerPoint Presentation</vt:lpstr>
      <vt:lpstr>PowerPoint Presentation</vt:lpstr>
      <vt:lpstr>5G NR</vt:lpstr>
      <vt:lpstr>Here’s an overview of 5G NR technology:</vt:lpstr>
      <vt:lpstr>PowerPoint Presentation</vt:lpstr>
      <vt:lpstr>PowerPoint Presentation</vt:lpstr>
      <vt:lpstr>PowerPoint Presentation</vt:lpstr>
      <vt:lpstr>Security Issues related to Wireless Communications</vt:lpstr>
      <vt:lpstr>PowerPoint Presentation</vt:lpstr>
      <vt:lpstr>PowerPoint Presentation</vt:lpstr>
      <vt:lpstr>PowerPoint Presentation</vt:lpstr>
      <vt:lpstr>PowerPoint Presentation</vt:lpstr>
      <vt:lpstr>Mobile Computing and Mobile Commerce</vt:lpstr>
      <vt:lpstr>PowerPoint Presentation</vt:lpstr>
      <vt:lpstr>Key factors driving the rise of mobile computing include: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Concerns and Challenges</vt:lpstr>
      <vt:lpstr>PowerPoint Presentation</vt:lpstr>
      <vt:lpstr>PowerPoint Presentation</vt:lpstr>
      <vt:lpstr>The Future of Mobile Computing and M-Commerce</vt:lpstr>
      <vt:lpstr>PowerPoint Presentation</vt:lpstr>
      <vt:lpstr>PowerPoint Presentation</vt:lpstr>
      <vt:lpstr>The Internet of Things (IoT)</vt:lpstr>
      <vt:lpstr>The key components of IoT include:</vt:lpstr>
      <vt:lpstr>PowerPoint Presentation</vt:lpstr>
      <vt:lpstr>To better understand how IoT impacts our daily lives, let’s explore some real-world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Mobile Computing and Mobile Commerce</dc:title>
  <dc:creator>SUDIL</dc:creator>
  <cp:lastModifiedBy>Sudil</cp:lastModifiedBy>
  <cp:revision>43</cp:revision>
  <dcterms:created xsi:type="dcterms:W3CDTF">2024-12-15T15:30:39Z</dcterms:created>
  <dcterms:modified xsi:type="dcterms:W3CDTF">2024-12-21T15:09:03Z</dcterms:modified>
</cp:coreProperties>
</file>
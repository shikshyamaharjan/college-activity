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3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2210EB3-4E88-47AC-9013-310BB24F93DA}"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388275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210EB3-4E88-47AC-9013-310BB24F93DA}"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257819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2210EB3-4E88-47AC-9013-310BB24F93DA}"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305226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210EB3-4E88-47AC-9013-310BB24F93DA}"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1196132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2210EB3-4E88-47AC-9013-310BB24F93DA}"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2644655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210EB3-4E88-47AC-9013-310BB24F93DA}" type="datetimeFigureOut">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2584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210EB3-4E88-47AC-9013-310BB24F93DA}" type="datetimeFigureOut">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2842238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210EB3-4E88-47AC-9013-310BB24F93DA}"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3073228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210EB3-4E88-47AC-9013-310BB24F93DA}"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3340276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210EB3-4E88-47AC-9013-310BB24F93DA}"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1540238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210EB3-4E88-47AC-9013-310BB24F93DA}"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2A72C-50A3-41BC-9531-A96121A9E7A7}" type="slidenum">
              <a:rPr lang="en-US" smtClean="0"/>
              <a:t>‹#›</a:t>
            </a:fld>
            <a:endParaRPr lang="en-US"/>
          </a:p>
        </p:txBody>
      </p:sp>
    </p:spTree>
    <p:extLst>
      <p:ext uri="{BB962C8B-B14F-4D97-AF65-F5344CB8AC3E}">
        <p14:creationId xmlns:p14="http://schemas.microsoft.com/office/powerpoint/2010/main" val="2197242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210EB3-4E88-47AC-9013-310BB24F93DA}" type="datetimeFigureOut">
              <a:rPr lang="en-US" smtClean="0"/>
              <a:t>8/12/2026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62A72C-50A3-41BC-9531-A96121A9E7A7}" type="slidenum">
              <a:rPr lang="en-US" smtClean="0"/>
              <a:t>‹#›</a:t>
            </a:fld>
            <a:endParaRPr lang="en-US"/>
          </a:p>
        </p:txBody>
      </p:sp>
    </p:spTree>
    <p:extLst>
      <p:ext uri="{BB962C8B-B14F-4D97-AF65-F5344CB8AC3E}">
        <p14:creationId xmlns:p14="http://schemas.microsoft.com/office/powerpoint/2010/main" val="2394457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Social Computing</a:t>
            </a:r>
          </a:p>
        </p:txBody>
      </p:sp>
      <p:sp>
        <p:nvSpPr>
          <p:cNvPr id="3" name="Subtitle 2"/>
          <p:cNvSpPr>
            <a:spLocks noGrp="1"/>
          </p:cNvSpPr>
          <p:nvPr>
            <p:ph type="subTitle" idx="1"/>
          </p:nvPr>
        </p:nvSpPr>
        <p:spPr/>
        <p:txBody>
          <a:bodyPr/>
          <a:lstStyle/>
          <a:p>
            <a:r>
              <a:rPr lang="en-US" b="1" dirty="0"/>
              <a:t>Unit -5</a:t>
            </a:r>
          </a:p>
        </p:txBody>
      </p:sp>
    </p:spTree>
    <p:extLst>
      <p:ext uri="{BB962C8B-B14F-4D97-AF65-F5344CB8AC3E}">
        <p14:creationId xmlns:p14="http://schemas.microsoft.com/office/powerpoint/2010/main" val="1256488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3740"/>
            <a:ext cx="10515600" cy="804455"/>
          </a:xfrm>
        </p:spPr>
        <p:txBody>
          <a:bodyPr/>
          <a:lstStyle/>
          <a:p>
            <a:r>
              <a:rPr lang="en-US" b="1" dirty="0"/>
              <a:t>Introduction</a:t>
            </a:r>
          </a:p>
        </p:txBody>
      </p:sp>
      <p:sp>
        <p:nvSpPr>
          <p:cNvPr id="3" name="Content Placeholder 2"/>
          <p:cNvSpPr>
            <a:spLocks noGrp="1"/>
          </p:cNvSpPr>
          <p:nvPr>
            <p:ph idx="1"/>
          </p:nvPr>
        </p:nvSpPr>
        <p:spPr>
          <a:xfrm>
            <a:off x="838200" y="1158948"/>
            <a:ext cx="10515600" cy="5539564"/>
          </a:xfrm>
        </p:spPr>
        <p:txBody>
          <a:bodyPr>
            <a:normAutofit fontScale="92500" lnSpcReduction="10000"/>
          </a:bodyPr>
          <a:lstStyle/>
          <a:p>
            <a:r>
              <a:rPr lang="en-US" dirty="0"/>
              <a:t>The way we interact, consume information, and even conduct business has been fundamentally reshaped by the rise of social computing. </a:t>
            </a:r>
          </a:p>
          <a:p>
            <a:r>
              <a:rPr lang="en-US" dirty="0"/>
              <a:t>This transformative phenomenon goes beyond simply connecting people online. </a:t>
            </a:r>
          </a:p>
          <a:p>
            <a:r>
              <a:rPr lang="en-US" dirty="0"/>
              <a:t>It's about harnessing the power of collective intelligence, fostering collaboration, and creating new forms of social interaction within a digital landscape. </a:t>
            </a:r>
          </a:p>
          <a:p>
            <a:r>
              <a:rPr lang="en-US" dirty="0"/>
              <a:t>Social computing is about the use of technology to facilitate social interaction and collaboration. </a:t>
            </a:r>
          </a:p>
          <a:p>
            <a:r>
              <a:rPr lang="en-US" dirty="0"/>
              <a:t>It encompasses a vast array of online platforms and tools that enable users to create and share content. </a:t>
            </a:r>
          </a:p>
          <a:p>
            <a:r>
              <a:rPr lang="en-US" dirty="0"/>
              <a:t>Blogs, social media platforms, and online forums allow users to share their thoughts, experiences, and creativity with a global audience. </a:t>
            </a:r>
          </a:p>
          <a:p>
            <a:r>
              <a:rPr lang="en-US" dirty="0"/>
              <a:t>Similarly, it connects and builds relationships. </a:t>
            </a:r>
          </a:p>
        </p:txBody>
      </p:sp>
    </p:spTree>
    <p:extLst>
      <p:ext uri="{BB962C8B-B14F-4D97-AF65-F5344CB8AC3E}">
        <p14:creationId xmlns:p14="http://schemas.microsoft.com/office/powerpoint/2010/main" val="2939722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6071191"/>
          </a:xfrm>
        </p:spPr>
        <p:txBody>
          <a:bodyPr>
            <a:normAutofit lnSpcReduction="10000"/>
          </a:bodyPr>
          <a:lstStyle/>
          <a:p>
            <a:r>
              <a:rPr lang="en-US" dirty="0"/>
              <a:t>Social networking sites like Facebook, X (formerly Twitter), </a:t>
            </a:r>
            <a:r>
              <a:rPr lang="en-US" dirty="0" err="1"/>
              <a:t>TikTok</a:t>
            </a:r>
            <a:r>
              <a:rPr lang="en-US" dirty="0"/>
              <a:t>, and Instagram connect people across geographical boundaries. </a:t>
            </a:r>
          </a:p>
          <a:p>
            <a:r>
              <a:rPr lang="en-US" dirty="0"/>
              <a:t>They allow users to share updates, photos, videos, and connect with friends, family and associates. </a:t>
            </a:r>
          </a:p>
          <a:p>
            <a:r>
              <a:rPr lang="en-US" dirty="0"/>
              <a:t>LinkedIn enable users to connect with friends, family, colleagues, and like-minded individuals. </a:t>
            </a:r>
          </a:p>
          <a:p>
            <a:r>
              <a:rPr lang="en-US" dirty="0"/>
              <a:t>Likewise, wikis, online document editing tools, and project management platforms facilitate collaboration on projects and the creation of shared knowledge resources. </a:t>
            </a:r>
          </a:p>
          <a:p>
            <a:r>
              <a:rPr lang="en-US" dirty="0"/>
              <a:t>Furthermore, it facilitates engaging in discourse and knowledge sharing. </a:t>
            </a:r>
          </a:p>
          <a:p>
            <a:r>
              <a:rPr lang="en-US" dirty="0"/>
              <a:t>Online forums, discussion boards, and social media groups provide platforms for exchanging ideas, debating topics, and sharing knowledge.</a:t>
            </a:r>
            <a:br>
              <a:rPr lang="en-US" dirty="0"/>
            </a:br>
            <a:endParaRPr lang="en-US" dirty="0"/>
          </a:p>
        </p:txBody>
      </p:sp>
    </p:spTree>
    <p:extLst>
      <p:ext uri="{BB962C8B-B14F-4D97-AF65-F5344CB8AC3E}">
        <p14:creationId xmlns:p14="http://schemas.microsoft.com/office/powerpoint/2010/main" val="3920551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0363"/>
            <a:ext cx="10515600" cy="5666600"/>
          </a:xfrm>
        </p:spPr>
        <p:txBody>
          <a:bodyPr>
            <a:normAutofit/>
          </a:bodyPr>
          <a:lstStyle/>
          <a:p>
            <a:r>
              <a:rPr lang="en-US" dirty="0"/>
              <a:t>The social computing environment is a </a:t>
            </a:r>
            <a:r>
              <a:rPr lang="en-US"/>
              <a:t>colorful patch work </a:t>
            </a:r>
            <a:r>
              <a:rPr lang="en-US" dirty="0"/>
              <a:t>of several platforms, each of which supports distinct modes of interaction and meets a particular set of demands. </a:t>
            </a:r>
          </a:p>
          <a:p>
            <a:r>
              <a:rPr lang="en-US" dirty="0"/>
              <a:t>Here are a few well-known instances of social media platforms:</a:t>
            </a:r>
          </a:p>
          <a:p>
            <a:r>
              <a:rPr lang="en-US" b="1" dirty="0"/>
              <a:t>Social Networking Sites: </a:t>
            </a:r>
          </a:p>
          <a:p>
            <a:pPr lvl="1"/>
            <a:r>
              <a:rPr lang="en-US" dirty="0"/>
              <a:t>Platforms like Facebook, X (formerly Twitter), </a:t>
            </a:r>
            <a:r>
              <a:rPr lang="en-US" dirty="0" err="1"/>
              <a:t>TikTok</a:t>
            </a:r>
            <a:r>
              <a:rPr lang="en-US" dirty="0"/>
              <a:t>, and Instagram connect people across geographical boundaries. </a:t>
            </a:r>
          </a:p>
          <a:p>
            <a:pPr lvl="1"/>
            <a:r>
              <a:rPr lang="en-US" dirty="0"/>
              <a:t>They allow users to share updates, photos, videos, and connect with friends, family and acquaintances.</a:t>
            </a:r>
          </a:p>
          <a:p>
            <a:r>
              <a:rPr lang="en-US" b="1" dirty="0"/>
              <a:t>Microblogging: </a:t>
            </a:r>
          </a:p>
          <a:p>
            <a:pPr lvl="1"/>
            <a:r>
              <a:rPr lang="en-US" dirty="0"/>
              <a:t>Platforms like X (formerly Twitter) enable users to share short, real-time updates in the form of "tweets." </a:t>
            </a:r>
          </a:p>
          <a:p>
            <a:pPr lvl="1"/>
            <a:r>
              <a:rPr lang="en-US" dirty="0"/>
              <a:t>This fosters information dissemination, breaking news events, and public discourse on trending topics.</a:t>
            </a:r>
          </a:p>
        </p:txBody>
      </p:sp>
    </p:spTree>
    <p:extLst>
      <p:ext uri="{BB962C8B-B14F-4D97-AF65-F5344CB8AC3E}">
        <p14:creationId xmlns:p14="http://schemas.microsoft.com/office/powerpoint/2010/main" val="1792107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6103088"/>
          </a:xfrm>
        </p:spPr>
        <p:txBody>
          <a:bodyPr>
            <a:normAutofit lnSpcReduction="10000"/>
          </a:bodyPr>
          <a:lstStyle/>
          <a:p>
            <a:r>
              <a:rPr lang="en-US" b="1" dirty="0"/>
              <a:t>Media Sharing Platforms: </a:t>
            </a:r>
          </a:p>
          <a:p>
            <a:pPr lvl="1"/>
            <a:r>
              <a:rPr lang="en-US" dirty="0"/>
              <a:t>Platforms like YouTube and Instagram allow users to share photos, videos, and other multimedia content. </a:t>
            </a:r>
          </a:p>
          <a:p>
            <a:pPr lvl="1"/>
            <a:r>
              <a:rPr lang="en-US" dirty="0"/>
              <a:t>This enables content creators to reach a global audience and fosters user-generated content.</a:t>
            </a:r>
          </a:p>
          <a:p>
            <a:r>
              <a:rPr lang="en-US" b="1" dirty="0"/>
              <a:t>Blogging and Online Publishing: </a:t>
            </a:r>
          </a:p>
          <a:p>
            <a:pPr lvl="1"/>
            <a:r>
              <a:rPr lang="en-US" dirty="0"/>
              <a:t>Blogs and online publishing platforms empower individuals and organizations to share their knowledge, perspectives and expertise with a wider audience.</a:t>
            </a:r>
          </a:p>
          <a:p>
            <a:r>
              <a:rPr lang="en-US" b="1" dirty="0"/>
              <a:t>Online Forums and Communities: </a:t>
            </a:r>
          </a:p>
          <a:p>
            <a:pPr lvl="1"/>
            <a:r>
              <a:rPr lang="en-US" dirty="0"/>
              <a:t>Discussion boards and online communities provide spaces for users with shared interests to discuss topics, exchange ideas, and build communities around specific themes.</a:t>
            </a:r>
          </a:p>
          <a:p>
            <a:r>
              <a:rPr lang="en-US" b="1" dirty="0"/>
              <a:t>Collaborative Tools and Wikis: </a:t>
            </a:r>
          </a:p>
          <a:p>
            <a:pPr lvl="1"/>
            <a:r>
              <a:rPr lang="en-US" dirty="0"/>
              <a:t>Platforms like Google Docs and Wikipedia allow multiple users to collaborate on creating and editing documents and knowledge bases. </a:t>
            </a:r>
          </a:p>
          <a:p>
            <a:pPr lvl="1"/>
            <a:r>
              <a:rPr lang="en-US" dirty="0"/>
              <a:t>This fosters co-creation and knowledge sharing across diverse groups.</a:t>
            </a:r>
          </a:p>
        </p:txBody>
      </p:sp>
    </p:spTree>
    <p:extLst>
      <p:ext uri="{BB962C8B-B14F-4D97-AF65-F5344CB8AC3E}">
        <p14:creationId xmlns:p14="http://schemas.microsoft.com/office/powerpoint/2010/main" val="30088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1869"/>
            <a:ext cx="10515600" cy="5305093"/>
          </a:xfrm>
        </p:spPr>
        <p:txBody>
          <a:bodyPr>
            <a:normAutofit/>
          </a:bodyPr>
          <a:lstStyle/>
          <a:p>
            <a:r>
              <a:rPr lang="en-US" dirty="0"/>
              <a:t>The rise of social computing has undoubtedly transformed our social landscape. </a:t>
            </a:r>
          </a:p>
          <a:p>
            <a:r>
              <a:rPr lang="en-US" dirty="0"/>
              <a:t>Here's a closer look at its multilayered impact.</a:t>
            </a:r>
          </a:p>
          <a:p>
            <a:r>
              <a:rPr lang="en-US" b="1" dirty="0"/>
              <a:t>Enhanced Communication and Connection: </a:t>
            </a:r>
          </a:p>
          <a:p>
            <a:pPr lvl="1"/>
            <a:r>
              <a:rPr lang="en-US" dirty="0"/>
              <a:t>Social computing platforms enable us to connect with people across geographical boundaries, fostering relationships and building communities.</a:t>
            </a:r>
          </a:p>
          <a:p>
            <a:r>
              <a:rPr lang="en-US" b="1" dirty="0"/>
              <a:t>Democratization of Information: </a:t>
            </a:r>
          </a:p>
          <a:p>
            <a:pPr lvl="1"/>
            <a:r>
              <a:rPr lang="en-US" dirty="0"/>
              <a:t>Anyone with an internet connection can now become a publisher, sharing information and ideas with a global audience.</a:t>
            </a:r>
          </a:p>
        </p:txBody>
      </p:sp>
    </p:spTree>
    <p:extLst>
      <p:ext uri="{BB962C8B-B14F-4D97-AF65-F5344CB8AC3E}">
        <p14:creationId xmlns:p14="http://schemas.microsoft.com/office/powerpoint/2010/main" val="1652466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95153"/>
            <a:ext cx="10515600" cy="5081810"/>
          </a:xfrm>
        </p:spPr>
        <p:txBody>
          <a:bodyPr>
            <a:normAutofit/>
          </a:bodyPr>
          <a:lstStyle/>
          <a:p>
            <a:r>
              <a:rPr lang="en-US" b="1" dirty="0"/>
              <a:t>Collaboration and Innovation: </a:t>
            </a:r>
          </a:p>
          <a:p>
            <a:pPr lvl="1"/>
            <a:r>
              <a:rPr lang="en-US" dirty="0"/>
              <a:t>Social computing tools empower people to collaborate on projects, share knowledge, and foster innovation across diverse fields.</a:t>
            </a:r>
          </a:p>
          <a:p>
            <a:r>
              <a:rPr lang="en-US" b="1" dirty="0"/>
              <a:t>Empowerment and Social Movements: </a:t>
            </a:r>
          </a:p>
          <a:p>
            <a:pPr lvl="1"/>
            <a:r>
              <a:rPr lang="en-US" dirty="0"/>
              <a:t>Social media platforms have become powerful tools for social movements, enabling collective action and promoting social change.</a:t>
            </a:r>
          </a:p>
          <a:p>
            <a:r>
              <a:rPr lang="en-US" b="1" dirty="0"/>
              <a:t>Economic Opportunities: </a:t>
            </a:r>
          </a:p>
          <a:p>
            <a:pPr lvl="1"/>
            <a:r>
              <a:rPr lang="en-US" dirty="0"/>
              <a:t>The rise of the social web has created new economic opportunities for individuals and businesses through online marketing, e-commerce platforms, and the creator economy.</a:t>
            </a:r>
          </a:p>
        </p:txBody>
      </p:sp>
    </p:spTree>
    <p:extLst>
      <p:ext uri="{BB962C8B-B14F-4D97-AF65-F5344CB8AC3E}">
        <p14:creationId xmlns:p14="http://schemas.microsoft.com/office/powerpoint/2010/main" val="4094440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1991"/>
            <a:ext cx="10515600" cy="5134972"/>
          </a:xfrm>
        </p:spPr>
        <p:txBody>
          <a:bodyPr/>
          <a:lstStyle/>
          <a:p>
            <a:r>
              <a:rPr lang="en-US" dirty="0"/>
              <a:t>Even though social computing has a huge positive impact, there are drawbacks as well:</a:t>
            </a:r>
          </a:p>
          <a:p>
            <a:r>
              <a:rPr lang="en-US" b="1" dirty="0"/>
              <a:t>Privacy Concerns: </a:t>
            </a:r>
          </a:p>
          <a:p>
            <a:pPr lvl="1"/>
            <a:r>
              <a:rPr lang="en-US" dirty="0"/>
              <a:t>Sharing personal information online raises privacy concerns, with data breaches and targeted advertising being major issues.</a:t>
            </a:r>
          </a:p>
          <a:p>
            <a:r>
              <a:rPr lang="en-US" b="1" dirty="0"/>
              <a:t>Misinformation and Disinformation: </a:t>
            </a:r>
          </a:p>
          <a:p>
            <a:pPr lvl="1"/>
            <a:r>
              <a:rPr lang="en-US" dirty="0"/>
              <a:t>The ease of sharing information online creates challenges in curbing the spread of misinformation and "fake news."</a:t>
            </a:r>
          </a:p>
        </p:txBody>
      </p:sp>
    </p:spTree>
    <p:extLst>
      <p:ext uri="{BB962C8B-B14F-4D97-AF65-F5344CB8AC3E}">
        <p14:creationId xmlns:p14="http://schemas.microsoft.com/office/powerpoint/2010/main" val="4066692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038" y="754912"/>
            <a:ext cx="10515600" cy="5741028"/>
          </a:xfrm>
        </p:spPr>
        <p:txBody>
          <a:bodyPr>
            <a:normAutofit lnSpcReduction="10000"/>
          </a:bodyPr>
          <a:lstStyle/>
          <a:p>
            <a:r>
              <a:rPr lang="en-US" b="1" dirty="0"/>
              <a:t>Echo Chambers and Polarization: </a:t>
            </a:r>
          </a:p>
          <a:p>
            <a:pPr lvl="1"/>
            <a:r>
              <a:rPr lang="en-US" dirty="0"/>
              <a:t>Social media algorithms can create echo chambers, where users are primarily exposed to content that confirms their existing beliefs, leading to social polarization. </a:t>
            </a:r>
          </a:p>
          <a:p>
            <a:pPr lvl="1"/>
            <a:r>
              <a:rPr lang="en-US" dirty="0"/>
              <a:t>An echo chamber is an environment where a person only encounters information or opinions that reflect and reinforce their own. </a:t>
            </a:r>
          </a:p>
          <a:p>
            <a:pPr lvl="1"/>
            <a:r>
              <a:rPr lang="en-US" dirty="0"/>
              <a:t>Echo chambers can create misinformation and distort a person's perspective, so they have difficulty considering opposing viewpoints and discussing complicated topics.</a:t>
            </a:r>
          </a:p>
          <a:p>
            <a:r>
              <a:rPr lang="en-US" b="1" dirty="0"/>
              <a:t>Cyberbullying and Online Abuse: </a:t>
            </a:r>
          </a:p>
          <a:p>
            <a:pPr lvl="1"/>
            <a:r>
              <a:rPr lang="en-US" dirty="0"/>
              <a:t>Social media platforms can be hotbeds for cyberbullying and online abuse, leading to negative mental health impacts on users.</a:t>
            </a:r>
          </a:p>
          <a:p>
            <a:r>
              <a:rPr lang="en-US" b="1" dirty="0"/>
              <a:t>Digital Divide: </a:t>
            </a:r>
          </a:p>
          <a:p>
            <a:pPr lvl="1"/>
            <a:r>
              <a:rPr lang="en-US" dirty="0"/>
              <a:t>Unequal access to technology and the internet creates a digital divide, where some segments of society are excluded from the benefits of social computing.</a:t>
            </a:r>
          </a:p>
        </p:txBody>
      </p:sp>
    </p:spTree>
    <p:extLst>
      <p:ext uri="{BB962C8B-B14F-4D97-AF65-F5344CB8AC3E}">
        <p14:creationId xmlns:p14="http://schemas.microsoft.com/office/powerpoint/2010/main" val="1485780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6302" y="871870"/>
            <a:ext cx="10515600" cy="5655968"/>
          </a:xfrm>
        </p:spPr>
        <p:txBody>
          <a:bodyPr>
            <a:normAutofit fontScale="92500" lnSpcReduction="10000"/>
          </a:bodyPr>
          <a:lstStyle/>
          <a:p>
            <a:r>
              <a:rPr lang="en-US" dirty="0"/>
              <a:t>As technology continues to evolve, the future of social computing promises exciting possibilities. </a:t>
            </a:r>
          </a:p>
          <a:p>
            <a:r>
              <a:rPr lang="en-US" dirty="0"/>
              <a:t>The concept of a </a:t>
            </a:r>
            <a:r>
              <a:rPr lang="en-US" dirty="0" err="1"/>
              <a:t>metaverse</a:t>
            </a:r>
            <a:r>
              <a:rPr lang="en-US" dirty="0"/>
              <a:t> — a persistent, immersive virtual world where</a:t>
            </a:r>
            <a:br>
              <a:rPr lang="en-US" dirty="0"/>
            </a:br>
            <a:r>
              <a:rPr lang="en-US" dirty="0"/>
              <a:t>users can interact and collaborate — could revolutionize social interaction and online experiences. </a:t>
            </a:r>
          </a:p>
          <a:p>
            <a:r>
              <a:rPr lang="en-US" dirty="0"/>
              <a:t>Imagine attending virtual concerts, collaborating on projects in shared</a:t>
            </a:r>
            <a:br>
              <a:rPr lang="en-US" dirty="0"/>
            </a:br>
            <a:r>
              <a:rPr lang="en-US" dirty="0"/>
              <a:t>workspaces, or even socializing with friends in a virtual environment. </a:t>
            </a:r>
          </a:p>
          <a:p>
            <a:r>
              <a:rPr lang="en-US" dirty="0"/>
              <a:t>Likewise, AI can personalize user experiences on social platforms, curate content recommendations, and potentially even moderate online discussions to reduce negativity and promote healthy discourse. </a:t>
            </a:r>
          </a:p>
          <a:p>
            <a:r>
              <a:rPr lang="en-US" dirty="0"/>
              <a:t>Similarly, the future might see a shift towards more decentralized social</a:t>
            </a:r>
            <a:br>
              <a:rPr lang="en-US" dirty="0"/>
            </a:br>
            <a:r>
              <a:rPr lang="en-US" dirty="0"/>
              <a:t>networks, where users have greater control over their data and privacy. </a:t>
            </a:r>
          </a:p>
          <a:p>
            <a:r>
              <a:rPr lang="en-US" dirty="0" err="1"/>
              <a:t>Blockchain</a:t>
            </a:r>
            <a:r>
              <a:rPr lang="en-US" dirty="0"/>
              <a:t> technology could play a role in securing user data and enabling data ownership.</a:t>
            </a:r>
          </a:p>
        </p:txBody>
      </p:sp>
    </p:spTree>
    <p:extLst>
      <p:ext uri="{BB962C8B-B14F-4D97-AF65-F5344CB8AC3E}">
        <p14:creationId xmlns:p14="http://schemas.microsoft.com/office/powerpoint/2010/main" val="1680895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1750"/>
            <a:ext cx="10515600" cy="5475214"/>
          </a:xfrm>
        </p:spPr>
        <p:txBody>
          <a:bodyPr>
            <a:normAutofit lnSpcReduction="10000"/>
          </a:bodyPr>
          <a:lstStyle/>
          <a:p>
            <a:r>
              <a:rPr lang="en-US" dirty="0"/>
              <a:t>Unquestionably, social computing is now influencing our environment. </a:t>
            </a:r>
          </a:p>
          <a:p>
            <a:r>
              <a:rPr lang="en-US" dirty="0"/>
              <a:t>We can build a society that is more informed, inclusive, and connected by utilizing its potential for communication, teamwork, and knowledge exchange. </a:t>
            </a:r>
          </a:p>
          <a:p>
            <a:r>
              <a:rPr lang="en-US" dirty="0"/>
              <a:t>But overcoming the obstacles posed by social media calls for constant work in the areas of ethical behavior, user education, and responsible development. </a:t>
            </a:r>
          </a:p>
          <a:p>
            <a:r>
              <a:rPr lang="en-US" dirty="0"/>
              <a:t>Achieving a balance between promoting innovation and improves our social experiences and making sure that everyone can use the internet safely and positively is key to the future of social computing. </a:t>
            </a:r>
          </a:p>
          <a:p>
            <a:r>
              <a:rPr lang="en-US" dirty="0"/>
              <a:t>We can establish a future where social computing enables us to connect, cooperate, and make the world a better place by</a:t>
            </a:r>
            <a:br>
              <a:rPr lang="en-US" dirty="0"/>
            </a:br>
            <a:r>
              <a:rPr lang="en-US" dirty="0"/>
              <a:t>working together as responsible users and developers.</a:t>
            </a:r>
          </a:p>
        </p:txBody>
      </p:sp>
    </p:spTree>
    <p:extLst>
      <p:ext uri="{BB962C8B-B14F-4D97-AF65-F5344CB8AC3E}">
        <p14:creationId xmlns:p14="http://schemas.microsoft.com/office/powerpoint/2010/main" val="2482237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107"/>
            <a:ext cx="10515600" cy="868252"/>
          </a:xfrm>
        </p:spPr>
        <p:txBody>
          <a:bodyPr/>
          <a:lstStyle/>
          <a:p>
            <a:r>
              <a:rPr lang="en-US" b="1" dirty="0"/>
              <a:t>Web 2.0</a:t>
            </a:r>
          </a:p>
        </p:txBody>
      </p:sp>
      <p:sp>
        <p:nvSpPr>
          <p:cNvPr id="3" name="Content Placeholder 2"/>
          <p:cNvSpPr>
            <a:spLocks noGrp="1"/>
          </p:cNvSpPr>
          <p:nvPr>
            <p:ph idx="1"/>
          </p:nvPr>
        </p:nvSpPr>
        <p:spPr>
          <a:xfrm>
            <a:off x="838200" y="1169580"/>
            <a:ext cx="10515600" cy="5337545"/>
          </a:xfrm>
        </p:spPr>
        <p:txBody>
          <a:bodyPr>
            <a:normAutofit fontScale="92500" lnSpcReduction="10000"/>
          </a:bodyPr>
          <a:lstStyle/>
          <a:p>
            <a:r>
              <a:rPr lang="en-US" dirty="0"/>
              <a:t>The internet we use today is vastly different from the one that existed just a couple of decades ago. </a:t>
            </a:r>
          </a:p>
          <a:p>
            <a:r>
              <a:rPr lang="en-US" dirty="0"/>
              <a:t>In the evolution of the internet, Web 2.0 marks a significant milestone. </a:t>
            </a:r>
          </a:p>
          <a:p>
            <a:r>
              <a:rPr lang="en-US" dirty="0"/>
              <a:t>It represents a shift from static web pages to dynamic, user-generated content-driven platforms that emphasize collaboration, interactivity, and community building. </a:t>
            </a:r>
          </a:p>
          <a:p>
            <a:r>
              <a:rPr lang="en-US" dirty="0"/>
              <a:t>It includes a wide range of technologies, principles, and applications that have transformed the way we interact with the internet. </a:t>
            </a:r>
          </a:p>
          <a:p>
            <a:r>
              <a:rPr lang="en-US" dirty="0"/>
              <a:t>Web 2.0 emerged as a response to the limitations of the early web, which primarily consisted of static HTML pages and lacked the interactivity and user engagement seen in modern websites. </a:t>
            </a:r>
          </a:p>
          <a:p>
            <a:r>
              <a:rPr lang="en-US" dirty="0"/>
              <a:t>Web 2.0 doesn't represent a specific technological upgrade. </a:t>
            </a:r>
          </a:p>
          <a:p>
            <a:r>
              <a:rPr lang="en-US" dirty="0"/>
              <a:t>Instead, it describes a fundamental change in how we interact with the internet.</a:t>
            </a:r>
          </a:p>
        </p:txBody>
      </p:sp>
    </p:spTree>
    <p:extLst>
      <p:ext uri="{BB962C8B-B14F-4D97-AF65-F5344CB8AC3E}">
        <p14:creationId xmlns:p14="http://schemas.microsoft.com/office/powerpoint/2010/main" val="1002370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6177"/>
            <a:ext cx="10515600" cy="5400786"/>
          </a:xfrm>
        </p:spPr>
        <p:txBody>
          <a:bodyPr/>
          <a:lstStyle/>
          <a:p>
            <a:r>
              <a:rPr lang="en-US" dirty="0"/>
              <a:t>Web 2.0 represents a paradigm shift in how the internet is used and perceived. </a:t>
            </a:r>
          </a:p>
          <a:p>
            <a:r>
              <a:rPr lang="en-US" dirty="0"/>
              <a:t>Instead of passive consumers of information, users became active participants, contributing content, sharing ideas, and collaborating with others in online communities. </a:t>
            </a:r>
          </a:p>
          <a:p>
            <a:r>
              <a:rPr lang="en-US" dirty="0"/>
              <a:t>This shift was facilitated by advancements in technology, such as broadband internet access, AJAX (Asynchronous JavaScript and XML), and the widespread adoption of social media platforms.</a:t>
            </a:r>
          </a:p>
        </p:txBody>
      </p:sp>
    </p:spTree>
    <p:extLst>
      <p:ext uri="{BB962C8B-B14F-4D97-AF65-F5344CB8AC3E}">
        <p14:creationId xmlns:p14="http://schemas.microsoft.com/office/powerpoint/2010/main" val="718691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172"/>
            <a:ext cx="10515600" cy="783191"/>
          </a:xfrm>
        </p:spPr>
        <p:txBody>
          <a:bodyPr/>
          <a:lstStyle/>
          <a:p>
            <a:r>
              <a:rPr lang="en-US" b="1" dirty="0"/>
              <a:t>Key characteristics of Web 2.0</a:t>
            </a:r>
          </a:p>
        </p:txBody>
      </p:sp>
      <p:sp>
        <p:nvSpPr>
          <p:cNvPr id="3" name="Content Placeholder 2"/>
          <p:cNvSpPr>
            <a:spLocks noGrp="1"/>
          </p:cNvSpPr>
          <p:nvPr>
            <p:ph idx="1"/>
          </p:nvPr>
        </p:nvSpPr>
        <p:spPr>
          <a:xfrm>
            <a:off x="838200" y="1222749"/>
            <a:ext cx="10515600" cy="5443866"/>
          </a:xfrm>
        </p:spPr>
        <p:txBody>
          <a:bodyPr>
            <a:normAutofit fontScale="92500" lnSpcReduction="10000"/>
          </a:bodyPr>
          <a:lstStyle/>
          <a:p>
            <a:r>
              <a:rPr lang="en-US" b="1" dirty="0"/>
              <a:t>User-Generated Content: </a:t>
            </a:r>
          </a:p>
          <a:p>
            <a:pPr lvl="1"/>
            <a:r>
              <a:rPr lang="en-US" dirty="0"/>
              <a:t>One of the defining features of Web 2.0 is the emphasis on user-generated content. </a:t>
            </a:r>
          </a:p>
          <a:p>
            <a:pPr lvl="1"/>
            <a:r>
              <a:rPr lang="en-US" dirty="0"/>
              <a:t>It empowers users to create and share their own content. </a:t>
            </a:r>
          </a:p>
          <a:p>
            <a:pPr lvl="1"/>
            <a:r>
              <a:rPr lang="en-US" dirty="0"/>
              <a:t>Platforms such as social media, wikis, and blogging sites allow users to create, share, and interact with content in real-time. </a:t>
            </a:r>
          </a:p>
          <a:p>
            <a:pPr lvl="1"/>
            <a:r>
              <a:rPr lang="en-US" dirty="0"/>
              <a:t>This can range from blog posts, photos on Facebook &amp; Instagram, and videos on</a:t>
            </a:r>
            <a:br>
              <a:rPr lang="en-US" dirty="0"/>
            </a:br>
            <a:r>
              <a:rPr lang="en-US" dirty="0"/>
              <a:t>YouTube or </a:t>
            </a:r>
            <a:r>
              <a:rPr lang="en-US" dirty="0" err="1"/>
              <a:t>TikTok</a:t>
            </a:r>
            <a:r>
              <a:rPr lang="en-US" dirty="0"/>
              <a:t> to social media updates and reviews on platforms like Yelp.</a:t>
            </a:r>
          </a:p>
          <a:p>
            <a:r>
              <a:rPr lang="en-US" b="1" dirty="0"/>
              <a:t>Social Interaction and Collaboration: </a:t>
            </a:r>
          </a:p>
          <a:p>
            <a:pPr lvl="1"/>
            <a:r>
              <a:rPr lang="en-US" dirty="0"/>
              <a:t>Social networking lies at the heart of Web 2.0, enabling users to connect with friends, family, and like-minded individuals across the globe. </a:t>
            </a:r>
          </a:p>
          <a:p>
            <a:pPr lvl="1"/>
            <a:r>
              <a:rPr lang="en-US" dirty="0"/>
              <a:t>Platforms like Facebook, Instagram, LinkedIn, and Snapchat have become integral parts of daily life for billions of people worldwide. </a:t>
            </a:r>
          </a:p>
          <a:p>
            <a:pPr lvl="1"/>
            <a:r>
              <a:rPr lang="en-US" dirty="0"/>
              <a:t>Wikis, like Wikipedia, where users can collectively edit and contribute to content, are another hallmark of this era. </a:t>
            </a:r>
          </a:p>
          <a:p>
            <a:pPr lvl="1"/>
            <a:r>
              <a:rPr lang="en-US" dirty="0"/>
              <a:t>Web 2.0 fosters a sense of community by enabling users to connect, share ideas, and collaborate on projects.</a:t>
            </a:r>
          </a:p>
        </p:txBody>
      </p:sp>
    </p:spTree>
    <p:extLst>
      <p:ext uri="{BB962C8B-B14F-4D97-AF65-F5344CB8AC3E}">
        <p14:creationId xmlns:p14="http://schemas.microsoft.com/office/powerpoint/2010/main" val="177417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6453"/>
            <a:ext cx="10515600" cy="6581548"/>
          </a:xfrm>
        </p:spPr>
        <p:txBody>
          <a:bodyPr>
            <a:normAutofit fontScale="92500" lnSpcReduction="10000"/>
          </a:bodyPr>
          <a:lstStyle/>
          <a:p>
            <a:r>
              <a:rPr lang="en-US" b="1" dirty="0"/>
              <a:t>Interactivity: </a:t>
            </a:r>
          </a:p>
          <a:p>
            <a:pPr lvl="1"/>
            <a:r>
              <a:rPr lang="en-US" dirty="0"/>
              <a:t>Web 2.0 sites prioritize interactivity, enabling users to engage with content in meaningful ways. </a:t>
            </a:r>
          </a:p>
          <a:p>
            <a:pPr lvl="1"/>
            <a:r>
              <a:rPr lang="en-US" dirty="0"/>
              <a:t>This includes features like comments, likes, shares, and ratings, which foster communication and collaboration among users.</a:t>
            </a:r>
          </a:p>
          <a:p>
            <a:r>
              <a:rPr lang="en-US" b="1" dirty="0"/>
              <a:t>Focus on Usability: </a:t>
            </a:r>
          </a:p>
          <a:p>
            <a:pPr lvl="1"/>
            <a:r>
              <a:rPr lang="en-US" dirty="0"/>
              <a:t>Web 2.0 applications prioritize ease of use. </a:t>
            </a:r>
          </a:p>
          <a:p>
            <a:pPr lvl="1"/>
            <a:r>
              <a:rPr lang="en-US" dirty="0"/>
              <a:t>Interfaces are designed to be intuitive and user-friendly, allowing anyone to participate in the online world, regardless of technical expertise.</a:t>
            </a:r>
          </a:p>
          <a:p>
            <a:r>
              <a:rPr lang="en-US" b="1" dirty="0"/>
              <a:t>Interoperability: </a:t>
            </a:r>
          </a:p>
          <a:p>
            <a:pPr lvl="1"/>
            <a:r>
              <a:rPr lang="en-US" dirty="0"/>
              <a:t>Web 2.0 applications and services are often designed to work seamlessly with each other. </a:t>
            </a:r>
          </a:p>
          <a:p>
            <a:pPr lvl="1"/>
            <a:r>
              <a:rPr lang="en-US" dirty="0"/>
              <a:t>This allows users to share data and information across platforms, creating a more interconnected web experience.</a:t>
            </a:r>
          </a:p>
          <a:p>
            <a:r>
              <a:rPr lang="en-US" b="1" dirty="0"/>
              <a:t>Rich Multimedia: </a:t>
            </a:r>
          </a:p>
          <a:p>
            <a:pPr lvl="1"/>
            <a:r>
              <a:rPr lang="en-US" dirty="0"/>
              <a:t>Web 2.0 platforms leverage rich multimedia content, including images, videos, and audio, to enhance user experience and engagement. </a:t>
            </a:r>
          </a:p>
          <a:p>
            <a:pPr lvl="1"/>
            <a:r>
              <a:rPr lang="en-US" dirty="0"/>
              <a:t>Streaming services like YouTube and music platforms like Spotify exemplify this trend.</a:t>
            </a:r>
          </a:p>
        </p:txBody>
      </p:sp>
    </p:spTree>
    <p:extLst>
      <p:ext uri="{BB962C8B-B14F-4D97-AF65-F5344CB8AC3E}">
        <p14:creationId xmlns:p14="http://schemas.microsoft.com/office/powerpoint/2010/main" val="2261361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893" y="382781"/>
            <a:ext cx="11036595" cy="6475219"/>
          </a:xfrm>
        </p:spPr>
        <p:txBody>
          <a:bodyPr>
            <a:normAutofit fontScale="92500" lnSpcReduction="20000"/>
          </a:bodyPr>
          <a:lstStyle/>
          <a:p>
            <a:r>
              <a:rPr lang="en-US" b="1" dirty="0"/>
              <a:t>Collaborative Editing: </a:t>
            </a:r>
          </a:p>
          <a:p>
            <a:pPr lvl="1"/>
            <a:r>
              <a:rPr lang="en-US" dirty="0"/>
              <a:t>Web 2.0 introduced collaborative editing tools that allow multiple users to work together on documents, spreadsheets, and presentations in real-time. </a:t>
            </a:r>
          </a:p>
          <a:p>
            <a:pPr lvl="1"/>
            <a:r>
              <a:rPr lang="en-US" dirty="0"/>
              <a:t>Google Docs, for example, enables seamless collaboration and version control among team members.</a:t>
            </a:r>
          </a:p>
          <a:p>
            <a:r>
              <a:rPr lang="en-US" b="1" dirty="0"/>
              <a:t>Rise of Cloud Computing: </a:t>
            </a:r>
          </a:p>
          <a:p>
            <a:pPr lvl="1"/>
            <a:r>
              <a:rPr lang="en-US" dirty="0"/>
              <a:t>Web 2.0 coincides with the growth of cloud-based services. </a:t>
            </a:r>
          </a:p>
          <a:p>
            <a:pPr lvl="1"/>
            <a:r>
              <a:rPr lang="en-US" dirty="0"/>
              <a:t>This means data and applications are stored on remote servers, accessible from any device with an internet connection. </a:t>
            </a:r>
          </a:p>
          <a:p>
            <a:pPr lvl="1"/>
            <a:r>
              <a:rPr lang="en-US" dirty="0"/>
              <a:t>This paved the way for services like Google Drive and Dropbox.</a:t>
            </a:r>
          </a:p>
          <a:p>
            <a:r>
              <a:rPr lang="en-US" b="1" dirty="0"/>
              <a:t>Personalization: </a:t>
            </a:r>
          </a:p>
          <a:p>
            <a:pPr lvl="1"/>
            <a:r>
              <a:rPr lang="en-US" dirty="0"/>
              <a:t>Web 2.0 platforms leverage data analytics and machine learning algorithms to personalize content based on user preferences, behavior, and demographics. </a:t>
            </a:r>
          </a:p>
          <a:p>
            <a:pPr lvl="1"/>
            <a:r>
              <a:rPr lang="en-US" dirty="0"/>
              <a:t>This personalization enhances user engagement and retention by delivering relevant content tailored to individual interests.</a:t>
            </a:r>
          </a:p>
          <a:p>
            <a:r>
              <a:rPr lang="en-US" b="1" dirty="0"/>
              <a:t>APIs and Mashups: </a:t>
            </a:r>
          </a:p>
          <a:p>
            <a:pPr lvl="1"/>
            <a:r>
              <a:rPr lang="en-US" dirty="0"/>
              <a:t>Application Programming Interfaces (APIs) play a crucial role in Web 2.0 by enabling developers to create mashups—integrated web applications that combine data and functionality from multiple sources.</a:t>
            </a:r>
          </a:p>
          <a:p>
            <a:pPr lvl="1"/>
            <a:r>
              <a:rPr lang="en-US" dirty="0"/>
              <a:t>Examples include weather widgets, mapping services like Google Maps, social media aggregation tools, etc.</a:t>
            </a:r>
          </a:p>
        </p:txBody>
      </p:sp>
    </p:spTree>
    <p:extLst>
      <p:ext uri="{BB962C8B-B14F-4D97-AF65-F5344CB8AC3E}">
        <p14:creationId xmlns:p14="http://schemas.microsoft.com/office/powerpoint/2010/main" val="699991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2721"/>
            <a:ext cx="10515600" cy="719396"/>
          </a:xfrm>
        </p:spPr>
        <p:txBody>
          <a:bodyPr/>
          <a:lstStyle/>
          <a:p>
            <a:r>
              <a:rPr lang="en-US" b="1" dirty="0"/>
              <a:t>Examples</a:t>
            </a:r>
          </a:p>
        </p:txBody>
      </p:sp>
      <p:sp>
        <p:nvSpPr>
          <p:cNvPr id="3" name="Content Placeholder 2"/>
          <p:cNvSpPr>
            <a:spLocks noGrp="1"/>
          </p:cNvSpPr>
          <p:nvPr>
            <p:ph idx="1"/>
          </p:nvPr>
        </p:nvSpPr>
        <p:spPr>
          <a:xfrm>
            <a:off x="838200" y="1754374"/>
            <a:ext cx="10515600" cy="4911689"/>
          </a:xfrm>
        </p:spPr>
        <p:txBody>
          <a:bodyPr/>
          <a:lstStyle/>
          <a:p>
            <a:r>
              <a:rPr lang="en-US" dirty="0"/>
              <a:t>Web 2.0 has fundamentally transformed how we access and interact with information online. </a:t>
            </a:r>
          </a:p>
          <a:p>
            <a:r>
              <a:rPr lang="en-US" dirty="0"/>
              <a:t>Here are some of the most prominent examples:</a:t>
            </a:r>
          </a:p>
          <a:p>
            <a:r>
              <a:rPr lang="en-US" b="1" dirty="0"/>
              <a:t>Social Media: </a:t>
            </a:r>
          </a:p>
          <a:p>
            <a:pPr lvl="1"/>
            <a:r>
              <a:rPr lang="en-US" dirty="0"/>
              <a:t>Platforms like Facebook, X (formerly Twitter), Instagram, and</a:t>
            </a:r>
            <a:br>
              <a:rPr lang="en-US" dirty="0"/>
            </a:br>
            <a:r>
              <a:rPr lang="en-US" dirty="0"/>
              <a:t>LinkedIn are prime examples of Web 2.0. </a:t>
            </a:r>
          </a:p>
          <a:p>
            <a:pPr lvl="1"/>
            <a:r>
              <a:rPr lang="en-US" dirty="0"/>
              <a:t>They allow users to connect with friends, family, and colleagues, share updates, and engage in online discussions.</a:t>
            </a:r>
          </a:p>
        </p:txBody>
      </p:sp>
    </p:spTree>
    <p:extLst>
      <p:ext uri="{BB962C8B-B14F-4D97-AF65-F5344CB8AC3E}">
        <p14:creationId xmlns:p14="http://schemas.microsoft.com/office/powerpoint/2010/main" val="2787912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6358270"/>
          </a:xfrm>
        </p:spPr>
        <p:txBody>
          <a:bodyPr>
            <a:normAutofit fontScale="92500" lnSpcReduction="10000"/>
          </a:bodyPr>
          <a:lstStyle/>
          <a:p>
            <a:r>
              <a:rPr lang="en-US" b="1" dirty="0"/>
              <a:t>Blogging and Microblogging: </a:t>
            </a:r>
          </a:p>
          <a:p>
            <a:pPr lvl="1"/>
            <a:r>
              <a:rPr lang="en-US" dirty="0"/>
              <a:t>Blogging platforms like WordPress and Blogger empower individuals to share their thoughts, experiences, and expertise with a global audience. </a:t>
            </a:r>
          </a:p>
          <a:p>
            <a:pPr lvl="1"/>
            <a:r>
              <a:rPr lang="en-US" dirty="0"/>
              <a:t>Microblogging platforms like Twitter facilitate shorter, real-time updates and communication.</a:t>
            </a:r>
          </a:p>
          <a:p>
            <a:r>
              <a:rPr lang="en-US" b="1" dirty="0"/>
              <a:t>Video Sharing: </a:t>
            </a:r>
          </a:p>
          <a:p>
            <a:pPr lvl="1"/>
            <a:r>
              <a:rPr lang="en-US" dirty="0"/>
              <a:t>YouTube revolutionized how we consume and share videos. </a:t>
            </a:r>
          </a:p>
          <a:p>
            <a:pPr lvl="1"/>
            <a:r>
              <a:rPr lang="en-US" dirty="0"/>
              <a:t>It allows anyone to upload and share videos, creating a platform for entertainment, education, and self-expression.</a:t>
            </a:r>
          </a:p>
          <a:p>
            <a:r>
              <a:rPr lang="en-US" b="1" dirty="0"/>
              <a:t>Social News and Bookmarking: </a:t>
            </a:r>
          </a:p>
          <a:p>
            <a:pPr lvl="1"/>
            <a:r>
              <a:rPr lang="en-US" dirty="0"/>
              <a:t>Platforms like </a:t>
            </a:r>
            <a:r>
              <a:rPr lang="en-US" dirty="0" err="1"/>
              <a:t>Reddit</a:t>
            </a:r>
            <a:r>
              <a:rPr lang="en-US" dirty="0"/>
              <a:t> and Pinterest allow users to curate and share interesting content they find online. </a:t>
            </a:r>
          </a:p>
          <a:p>
            <a:pPr lvl="1"/>
            <a:r>
              <a:rPr lang="en-US" dirty="0"/>
              <a:t>This fosters a sense of community and helps users discover new information and</a:t>
            </a:r>
            <a:br>
              <a:rPr lang="en-US" dirty="0"/>
            </a:br>
            <a:r>
              <a:rPr lang="en-US" dirty="0"/>
              <a:t>perspectives.</a:t>
            </a:r>
          </a:p>
          <a:p>
            <a:r>
              <a:rPr lang="en-US" b="1" dirty="0"/>
              <a:t>Online Collaboration Tools: </a:t>
            </a:r>
          </a:p>
          <a:p>
            <a:pPr lvl="1"/>
            <a:r>
              <a:rPr lang="en-US" dirty="0"/>
              <a:t>Web 2.0 introduced tools like Google Docs and Sheets, which enable real-time collaboration on documents and spreadsheets.</a:t>
            </a:r>
          </a:p>
          <a:p>
            <a:pPr lvl="1"/>
            <a:r>
              <a:rPr lang="en-US" dirty="0"/>
              <a:t>This transformed how teams work together remotely.</a:t>
            </a:r>
          </a:p>
        </p:txBody>
      </p:sp>
    </p:spTree>
    <p:extLst>
      <p:ext uri="{BB962C8B-B14F-4D97-AF65-F5344CB8AC3E}">
        <p14:creationId xmlns:p14="http://schemas.microsoft.com/office/powerpoint/2010/main" val="1980922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107"/>
            <a:ext cx="10515600" cy="910782"/>
          </a:xfrm>
        </p:spPr>
        <p:txBody>
          <a:bodyPr/>
          <a:lstStyle/>
          <a:p>
            <a:r>
              <a:rPr lang="en-US" b="1" dirty="0"/>
              <a:t>The Impact of Web 2.0</a:t>
            </a:r>
          </a:p>
        </p:txBody>
      </p:sp>
      <p:sp>
        <p:nvSpPr>
          <p:cNvPr id="3" name="Content Placeholder 2"/>
          <p:cNvSpPr>
            <a:spLocks noGrp="1"/>
          </p:cNvSpPr>
          <p:nvPr>
            <p:ph idx="1"/>
          </p:nvPr>
        </p:nvSpPr>
        <p:spPr>
          <a:xfrm>
            <a:off x="838200" y="1158948"/>
            <a:ext cx="10515600" cy="5699051"/>
          </a:xfrm>
        </p:spPr>
        <p:txBody>
          <a:bodyPr>
            <a:normAutofit lnSpcReduction="10000"/>
          </a:bodyPr>
          <a:lstStyle/>
          <a:p>
            <a:r>
              <a:rPr lang="en-US" dirty="0"/>
              <a:t>The rise of Web 2.0 has had a profound impact on society. </a:t>
            </a:r>
          </a:p>
          <a:p>
            <a:r>
              <a:rPr lang="en-US" dirty="0"/>
              <a:t>Here are some key aspects:</a:t>
            </a:r>
          </a:p>
          <a:p>
            <a:r>
              <a:rPr lang="en-US" dirty="0"/>
              <a:t> </a:t>
            </a:r>
            <a:r>
              <a:rPr lang="en-US" b="1" dirty="0"/>
              <a:t>Democratization of Information: </a:t>
            </a:r>
          </a:p>
          <a:p>
            <a:pPr lvl="1"/>
            <a:r>
              <a:rPr lang="en-US" dirty="0"/>
              <a:t>Web 2.0 empowered individuals to become content creators, not just consumers. This has led to a more diverse and pluralistic online landscape.</a:t>
            </a:r>
          </a:p>
          <a:p>
            <a:r>
              <a:rPr lang="en-US" b="1" dirty="0"/>
              <a:t>Rise of the Citizen Journalist: </a:t>
            </a:r>
          </a:p>
          <a:p>
            <a:pPr lvl="1"/>
            <a:r>
              <a:rPr lang="en-US" dirty="0"/>
              <a:t>Anyone with a smartphone can now document and share news events, challenging traditional media narratives.</a:t>
            </a:r>
          </a:p>
          <a:p>
            <a:r>
              <a:rPr lang="en-US" b="1" dirty="0"/>
              <a:t>Growth of E-commerce: </a:t>
            </a:r>
          </a:p>
          <a:p>
            <a:pPr lvl="1"/>
            <a:r>
              <a:rPr lang="en-US" dirty="0"/>
              <a:t>Web 2.0 features like user reviews and online marketplaces like Amazon have revolutionized how we shop online.</a:t>
            </a:r>
          </a:p>
          <a:p>
            <a:r>
              <a:rPr lang="en-US" b="1" dirty="0"/>
              <a:t>Social Change and Movements: </a:t>
            </a:r>
          </a:p>
          <a:p>
            <a:pPr lvl="1"/>
            <a:r>
              <a:rPr lang="en-US" dirty="0"/>
              <a:t>Web 2.0 tools have been instrumental in organizing social movements and raising awareness about important issues.</a:t>
            </a:r>
          </a:p>
        </p:txBody>
      </p:sp>
    </p:spTree>
    <p:extLst>
      <p:ext uri="{BB962C8B-B14F-4D97-AF65-F5344CB8AC3E}">
        <p14:creationId xmlns:p14="http://schemas.microsoft.com/office/powerpoint/2010/main" val="1182040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8707"/>
            <a:ext cx="10515600" cy="5358256"/>
          </a:xfrm>
        </p:spPr>
        <p:txBody>
          <a:bodyPr>
            <a:normAutofit/>
          </a:bodyPr>
          <a:lstStyle/>
          <a:p>
            <a:r>
              <a:rPr lang="en-US" dirty="0"/>
              <a:t>Businesses have harnessed the power of Web 2.0 to completely transform how they operate and connect with customers. </a:t>
            </a:r>
          </a:p>
          <a:p>
            <a:r>
              <a:rPr lang="en-US" dirty="0"/>
              <a:t>Social media platforms provide businesses with a direct line of communication with their target audience. </a:t>
            </a:r>
          </a:p>
          <a:p>
            <a:r>
              <a:rPr lang="en-US" dirty="0"/>
              <a:t>Companies can use these platforms to promote products, share updates, and engage in conversations with customers, fostering brand loyalty and building a community. </a:t>
            </a:r>
          </a:p>
          <a:p>
            <a:r>
              <a:rPr lang="en-US" dirty="0"/>
              <a:t>Similarly, Web 2.0 tools allow businesses to gather valuable feedback and data about their customers. </a:t>
            </a:r>
          </a:p>
          <a:p>
            <a:r>
              <a:rPr lang="en-US" dirty="0"/>
              <a:t>Social media analytics, online reviews, and customer forums provide insights into customer preferences, buying habits, and brand perception. </a:t>
            </a:r>
          </a:p>
        </p:txBody>
      </p:sp>
    </p:spTree>
    <p:extLst>
      <p:ext uri="{BB962C8B-B14F-4D97-AF65-F5344CB8AC3E}">
        <p14:creationId xmlns:p14="http://schemas.microsoft.com/office/powerpoint/2010/main" val="3128657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5033"/>
            <a:ext cx="10515600" cy="5251930"/>
          </a:xfrm>
        </p:spPr>
        <p:txBody>
          <a:bodyPr>
            <a:normAutofit/>
          </a:bodyPr>
          <a:lstStyle/>
          <a:p>
            <a:r>
              <a:rPr lang="en-US" dirty="0"/>
              <a:t>Likewise, Web 2.0 tools like cloud-based project management platforms and video conferencing software enable better collaboration among teams, even if they’re geographically dispersed. </a:t>
            </a:r>
          </a:p>
          <a:p>
            <a:r>
              <a:rPr lang="en-US" dirty="0"/>
              <a:t>This fosters innovation and streamlines workflows. </a:t>
            </a:r>
          </a:p>
          <a:p>
            <a:r>
              <a:rPr lang="en-US" dirty="0"/>
              <a:t>Furthermore, Web 2.0 offers businesses cost-effective marketing opportunities compared to traditional advertising methods. </a:t>
            </a:r>
          </a:p>
          <a:p>
            <a:r>
              <a:rPr lang="en-US" dirty="0"/>
              <a:t>Social media marketing, content marketing, and influencer marketing</a:t>
            </a:r>
            <a:br>
              <a:rPr lang="en-US" dirty="0"/>
            </a:br>
            <a:r>
              <a:rPr lang="en-US" dirty="0"/>
              <a:t>leverage user-generated content and online communities to reach a wider audience at a lower cost.</a:t>
            </a:r>
          </a:p>
          <a:p>
            <a:endParaRPr lang="en-US" dirty="0"/>
          </a:p>
        </p:txBody>
      </p:sp>
    </p:spTree>
    <p:extLst>
      <p:ext uri="{BB962C8B-B14F-4D97-AF65-F5344CB8AC3E}">
        <p14:creationId xmlns:p14="http://schemas.microsoft.com/office/powerpoint/2010/main" val="2165961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Fundamentals of Social Computing in Business</a:t>
            </a:r>
          </a:p>
        </p:txBody>
      </p:sp>
      <p:sp>
        <p:nvSpPr>
          <p:cNvPr id="3" name="Content Placeholder 2"/>
          <p:cNvSpPr>
            <a:spLocks noGrp="1"/>
          </p:cNvSpPr>
          <p:nvPr>
            <p:ph idx="1"/>
          </p:nvPr>
        </p:nvSpPr>
        <p:spPr/>
        <p:txBody>
          <a:bodyPr/>
          <a:lstStyle/>
          <a:p>
            <a:r>
              <a:rPr lang="en-US" dirty="0"/>
              <a:t>The business landscape is no longer confined to traditional models of communication and marketing. </a:t>
            </a:r>
          </a:p>
          <a:p>
            <a:r>
              <a:rPr lang="en-US" dirty="0"/>
              <a:t>The rise of social computing has helped in a new era of interaction,</a:t>
            </a:r>
            <a:br>
              <a:rPr lang="en-US" dirty="0"/>
            </a:br>
            <a:r>
              <a:rPr lang="en-US" dirty="0"/>
              <a:t>collaboration, and customer engagement. </a:t>
            </a:r>
          </a:p>
          <a:p>
            <a:r>
              <a:rPr lang="en-US" dirty="0"/>
              <a:t>By leveraging the power of online communities and social media platforms, businesses can build stronger relationships with customers, foster brand loyalty, and gain valuable insights to inform strategic decisions.</a:t>
            </a:r>
          </a:p>
        </p:txBody>
      </p:sp>
    </p:spTree>
    <p:extLst>
      <p:ext uri="{BB962C8B-B14F-4D97-AF65-F5344CB8AC3E}">
        <p14:creationId xmlns:p14="http://schemas.microsoft.com/office/powerpoint/2010/main" val="1288155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850"/>
            <a:ext cx="10515600" cy="5730949"/>
          </a:xfrm>
        </p:spPr>
        <p:txBody>
          <a:bodyPr>
            <a:normAutofit lnSpcReduction="10000"/>
          </a:bodyPr>
          <a:lstStyle/>
          <a:p>
            <a:r>
              <a:rPr lang="en-US" dirty="0"/>
              <a:t>Social computing, the intersection of social behavior and computational systems, has emerged as a powerful tool for businesses to connect with customers, partners, and employees in the digital realm. </a:t>
            </a:r>
          </a:p>
          <a:p>
            <a:r>
              <a:rPr lang="en-US" dirty="0"/>
              <a:t>Social computing encompasses a range of technologies, platforms, and strategies that facilitate interaction, collaboration, and communication in online environments. </a:t>
            </a:r>
          </a:p>
          <a:p>
            <a:r>
              <a:rPr lang="en-US" dirty="0"/>
              <a:t>At its core, social computing leverages the principles of social psychology and human behavior to design and implement computational systems that  enable individuals to connect, share information, and collaborate with others in virtual spaces. </a:t>
            </a:r>
          </a:p>
          <a:p>
            <a:r>
              <a:rPr lang="en-US" dirty="0"/>
              <a:t>Key concepts in social computing include social networking, online communities, crowd obtaining, social media analytics, and collaborative filtering.</a:t>
            </a:r>
          </a:p>
        </p:txBody>
      </p:sp>
    </p:spTree>
    <p:extLst>
      <p:ext uri="{BB962C8B-B14F-4D97-AF65-F5344CB8AC3E}">
        <p14:creationId xmlns:p14="http://schemas.microsoft.com/office/powerpoint/2010/main" val="2867841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6692"/>
            <a:ext cx="10515600" cy="5869172"/>
          </a:xfrm>
        </p:spPr>
        <p:txBody>
          <a:bodyPr>
            <a:normAutofit fontScale="92500" lnSpcReduction="20000"/>
          </a:bodyPr>
          <a:lstStyle/>
          <a:p>
            <a:r>
              <a:rPr lang="en-US" dirty="0"/>
              <a:t>Social computing in business is not simply about having a Facebook page or Instagram profile or posting occasional tweets. </a:t>
            </a:r>
          </a:p>
          <a:p>
            <a:r>
              <a:rPr lang="en-US" dirty="0"/>
              <a:t>It’s a strategic approach built on core principles that redefine how businesses connect with their stakeholders: </a:t>
            </a:r>
          </a:p>
          <a:p>
            <a:r>
              <a:rPr lang="en-US" dirty="0"/>
              <a:t>Social computing encourages social interaction, which is a two-way communication between businesses and their audience. Businesses can actively listen to customer feedback, address concerns, and build</a:t>
            </a:r>
            <a:br>
              <a:rPr lang="en-US" dirty="0"/>
            </a:br>
            <a:r>
              <a:rPr lang="en-US" dirty="0"/>
              <a:t>trust through genuine interactions. </a:t>
            </a:r>
          </a:p>
          <a:p>
            <a:r>
              <a:rPr lang="en-US" dirty="0"/>
              <a:t>Likewise, Social platforms foster the creation of online communities around brands or industries. </a:t>
            </a:r>
          </a:p>
          <a:p>
            <a:r>
              <a:rPr lang="en-US" dirty="0"/>
              <a:t>Businesses can leverage these communities to gather customer insights, co-create content, and generate brand support. </a:t>
            </a:r>
          </a:p>
          <a:p>
            <a:r>
              <a:rPr lang="en-US" dirty="0"/>
              <a:t>Equally, social computing empowers customers to become brand ambassadors. </a:t>
            </a:r>
          </a:p>
          <a:p>
            <a:r>
              <a:rPr lang="en-US" dirty="0"/>
              <a:t>Businesses can encourage user-generated content like product reviews, photos, and social media mentions, leveraging the power of authenticity and social proof. </a:t>
            </a:r>
          </a:p>
        </p:txBody>
      </p:sp>
    </p:spTree>
    <p:extLst>
      <p:ext uri="{BB962C8B-B14F-4D97-AF65-F5344CB8AC3E}">
        <p14:creationId xmlns:p14="http://schemas.microsoft.com/office/powerpoint/2010/main" val="720040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normAutofit lnSpcReduction="10000"/>
          </a:bodyPr>
          <a:lstStyle/>
          <a:p>
            <a:r>
              <a:rPr lang="en-US" dirty="0"/>
              <a:t>Similarly, customers these days expect transparency from brands.</a:t>
            </a:r>
          </a:p>
          <a:p>
            <a:r>
              <a:rPr lang="en-US" dirty="0"/>
              <a:t> Social media platforms provide an avenue for businesses to share their values, mission, and behind-the-scenes glimpses, fostering a sense of</a:t>
            </a:r>
            <a:br>
              <a:rPr lang="en-US" dirty="0"/>
            </a:br>
            <a:r>
              <a:rPr lang="en-US" dirty="0"/>
              <a:t>authenticity and connection. </a:t>
            </a:r>
          </a:p>
          <a:p>
            <a:r>
              <a:rPr lang="en-US" dirty="0"/>
              <a:t>Correspondingly, social media platforms generate a wealth of data on customer sentiment, brand perception, and market trends. </a:t>
            </a:r>
          </a:p>
          <a:p>
            <a:r>
              <a:rPr lang="en-US" dirty="0"/>
              <a:t>Businesses can utilize social analytics tools to gain valuable insights that inform marketing strategies, product development, and customer service initiatives.</a:t>
            </a:r>
          </a:p>
          <a:p>
            <a:r>
              <a:rPr lang="en-US" dirty="0"/>
              <a:t>Social computing offers a diverse toolbox for businesses to achieve various strategic goals. </a:t>
            </a:r>
          </a:p>
          <a:p>
            <a:br>
              <a:rPr lang="en-US" dirty="0"/>
            </a:br>
            <a:endParaRPr lang="en-US" dirty="0"/>
          </a:p>
        </p:txBody>
      </p:sp>
    </p:spTree>
    <p:extLst>
      <p:ext uri="{BB962C8B-B14F-4D97-AF65-F5344CB8AC3E}">
        <p14:creationId xmlns:p14="http://schemas.microsoft.com/office/powerpoint/2010/main" val="3448805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7833"/>
            <a:ext cx="10515600" cy="6060558"/>
          </a:xfrm>
        </p:spPr>
        <p:txBody>
          <a:bodyPr>
            <a:normAutofit/>
          </a:bodyPr>
          <a:lstStyle/>
          <a:p>
            <a:r>
              <a:rPr lang="en-US" dirty="0"/>
              <a:t>Some of the prominent applications of Social Computing in business are explained here.</a:t>
            </a:r>
          </a:p>
          <a:p>
            <a:r>
              <a:rPr lang="en-US" b="1" dirty="0"/>
              <a:t>Customer Engagement and Relationship Management: </a:t>
            </a:r>
          </a:p>
          <a:p>
            <a:pPr lvl="1"/>
            <a:r>
              <a:rPr lang="en-US" dirty="0"/>
              <a:t>Social computing platforms enable businesses to engage with customers in real-time, respond to inquiries, and gather feedback to improve products and services. </a:t>
            </a:r>
          </a:p>
          <a:p>
            <a:pPr lvl="1"/>
            <a:r>
              <a:rPr lang="en-US" dirty="0"/>
              <a:t>Social media channels serve as valuable touch points for building relationships, fostering brand loyalty, and driving customer support.</a:t>
            </a:r>
          </a:p>
          <a:p>
            <a:r>
              <a:rPr lang="en-US" b="1" dirty="0"/>
              <a:t>Marketing and Branding: </a:t>
            </a:r>
          </a:p>
          <a:p>
            <a:pPr lvl="1"/>
            <a:r>
              <a:rPr lang="en-US" dirty="0"/>
              <a:t>Social computing facilitates targeted marketing campaigns, influencer partnerships, and user-generated content initiatives to raise brand awareness, attract new customers, and drive conversions. </a:t>
            </a:r>
          </a:p>
          <a:p>
            <a:pPr lvl="1"/>
            <a:r>
              <a:rPr lang="en-US" dirty="0"/>
              <a:t>Social media analytics tools provide insights into audience demographics, preferences, and engagement metrics to inform marketing strategies. </a:t>
            </a:r>
          </a:p>
        </p:txBody>
      </p:sp>
    </p:spTree>
    <p:extLst>
      <p:ext uri="{BB962C8B-B14F-4D97-AF65-F5344CB8AC3E}">
        <p14:creationId xmlns:p14="http://schemas.microsoft.com/office/powerpoint/2010/main" val="1096891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7435"/>
            <a:ext cx="10515600" cy="5890439"/>
          </a:xfrm>
        </p:spPr>
        <p:txBody>
          <a:bodyPr>
            <a:normAutofit fontScale="85000" lnSpcReduction="20000"/>
          </a:bodyPr>
          <a:lstStyle/>
          <a:p>
            <a:r>
              <a:rPr lang="en-US" b="1" dirty="0"/>
              <a:t>Employee Collaboration and Knowledge Sharing: </a:t>
            </a:r>
          </a:p>
          <a:p>
            <a:r>
              <a:rPr lang="en-US" dirty="0"/>
              <a:t>Internal social computing platforms, such as enterprise social networks and collaboration tools, promote teamwork, knowledge sharing, and innovation within organizations. </a:t>
            </a:r>
          </a:p>
          <a:p>
            <a:r>
              <a:rPr lang="en-US" dirty="0"/>
              <a:t>Employees can collaborate on projects, share best practices, and access relevant information to enhance productivity and decision-making.</a:t>
            </a:r>
          </a:p>
          <a:p>
            <a:r>
              <a:rPr lang="en-US" b="1" dirty="0"/>
              <a:t>Crowd sourcing and Idea Generation: </a:t>
            </a:r>
          </a:p>
          <a:p>
            <a:r>
              <a:rPr lang="en-US" dirty="0"/>
              <a:t>Social computing enables businesses to crowdsource ideas, solutions, and feedback from customers, employees, and external stakeholders. </a:t>
            </a:r>
          </a:p>
          <a:p>
            <a:r>
              <a:rPr lang="en-US" dirty="0"/>
              <a:t>Crowdsourcing initiatives can involve innovation challenges, ideation contests, and open innovation platforms to harness collective intelligence and drive problem-solving.</a:t>
            </a:r>
          </a:p>
          <a:p>
            <a:r>
              <a:rPr lang="en-US" b="1" dirty="0"/>
              <a:t>Reputation Management and Crisis Communication: </a:t>
            </a:r>
          </a:p>
          <a:p>
            <a:r>
              <a:rPr lang="en-US" dirty="0"/>
              <a:t>Social computing tools monitor online conversations, sentiment, and mentions of the brand to manage reputation and address potential crises. </a:t>
            </a:r>
          </a:p>
          <a:p>
            <a:r>
              <a:rPr lang="en-US" dirty="0"/>
              <a:t>Social media listening tools enable businesses to proactively respond to customer complaints, mitigate negative feedback, and preserve brand reputation.</a:t>
            </a:r>
            <a:br>
              <a:rPr lang="en-US" dirty="0"/>
            </a:br>
            <a:endParaRPr lang="en-US" dirty="0"/>
          </a:p>
        </p:txBody>
      </p:sp>
    </p:spTree>
    <p:extLst>
      <p:ext uri="{BB962C8B-B14F-4D97-AF65-F5344CB8AC3E}">
        <p14:creationId xmlns:p14="http://schemas.microsoft.com/office/powerpoint/2010/main" val="4235801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5932968"/>
          </a:xfrm>
        </p:spPr>
        <p:txBody>
          <a:bodyPr>
            <a:normAutofit/>
          </a:bodyPr>
          <a:lstStyle/>
          <a:p>
            <a:r>
              <a:rPr lang="en-US" dirty="0"/>
              <a:t>Social Computing has numerous benefits in Business. </a:t>
            </a:r>
          </a:p>
          <a:p>
            <a:r>
              <a:rPr lang="en-US" dirty="0"/>
              <a:t>Some of them are discussed below:</a:t>
            </a:r>
          </a:p>
          <a:p>
            <a:r>
              <a:rPr lang="en-US" b="1" dirty="0"/>
              <a:t>Enhanced Customer Engagement: </a:t>
            </a:r>
          </a:p>
          <a:p>
            <a:pPr lvl="1"/>
            <a:r>
              <a:rPr lang="en-US" dirty="0"/>
              <a:t>Social computing fosters meaningful interactions and relationships with customers, leading to increased loyalty, support, and customer lifetime value.</a:t>
            </a:r>
          </a:p>
          <a:p>
            <a:pPr lvl="1"/>
            <a:endParaRPr lang="en-US" dirty="0"/>
          </a:p>
          <a:p>
            <a:r>
              <a:rPr lang="en-US" b="1" dirty="0"/>
              <a:t>Improved Brand Awareness and Visibility: </a:t>
            </a:r>
          </a:p>
          <a:p>
            <a:pPr lvl="1"/>
            <a:r>
              <a:rPr lang="en-US" dirty="0"/>
              <a:t>Social media platforms increase brand reach and visibility, allowing businesses to showcase products services, and brand personality to a global audience.</a:t>
            </a:r>
          </a:p>
          <a:p>
            <a:pPr lvl="1"/>
            <a:r>
              <a:rPr lang="en-US" dirty="0"/>
              <a:t>Social media provides a powerful platform to build brand awareness, promote products and services, and engage directly with potential customers. </a:t>
            </a:r>
          </a:p>
          <a:p>
            <a:pPr lvl="1"/>
            <a:r>
              <a:rPr lang="en-US" dirty="0"/>
              <a:t>Businesses can leverage targeted advertising, influencer marketing, and engaging content to reach their target audience effectively.</a:t>
            </a:r>
          </a:p>
        </p:txBody>
      </p:sp>
    </p:spTree>
    <p:extLst>
      <p:ext uri="{BB962C8B-B14F-4D97-AF65-F5344CB8AC3E}">
        <p14:creationId xmlns:p14="http://schemas.microsoft.com/office/powerpoint/2010/main" val="3046502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9982"/>
            <a:ext cx="10515600" cy="5422604"/>
          </a:xfrm>
        </p:spPr>
        <p:txBody>
          <a:bodyPr>
            <a:normAutofit/>
          </a:bodyPr>
          <a:lstStyle/>
          <a:p>
            <a:r>
              <a:rPr lang="en-US" b="1" dirty="0"/>
              <a:t>Greater Market Insights and Competitive Intelligence: </a:t>
            </a:r>
          </a:p>
          <a:p>
            <a:pPr lvl="1"/>
            <a:r>
              <a:rPr lang="en-US" dirty="0"/>
              <a:t>Social media analytics provide valuable insights into market trends, competitor activities, and consumer behavior, empowering businesses to make informed decisions and stay ahead of the competition.</a:t>
            </a:r>
          </a:p>
          <a:p>
            <a:pPr lvl="1"/>
            <a:r>
              <a:rPr lang="en-US" dirty="0"/>
              <a:t>Social media offers a window into customer sentiment and industry trends. Businesses can monitor brand mentions, analyze competitor strategies, and identify emerging market opportunities through social listening tools.</a:t>
            </a:r>
          </a:p>
          <a:p>
            <a:endParaRPr lang="en-US" dirty="0"/>
          </a:p>
          <a:p>
            <a:r>
              <a:rPr lang="en-US" b="1" dirty="0"/>
              <a:t>Social Recruiting: </a:t>
            </a:r>
          </a:p>
          <a:p>
            <a:pPr lvl="1"/>
            <a:r>
              <a:rPr lang="en-US" dirty="0"/>
              <a:t>Social networking sites like LinkedIn can be used to attract and recruit top talent. Companies can build employer branding, showcase company culture, and connect with potential employees.</a:t>
            </a:r>
          </a:p>
        </p:txBody>
      </p:sp>
    </p:spTree>
    <p:extLst>
      <p:ext uri="{BB962C8B-B14F-4D97-AF65-F5344CB8AC3E}">
        <p14:creationId xmlns:p14="http://schemas.microsoft.com/office/powerpoint/2010/main" val="3579493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8707"/>
            <a:ext cx="10515600" cy="5358256"/>
          </a:xfrm>
        </p:spPr>
        <p:txBody>
          <a:bodyPr/>
          <a:lstStyle/>
          <a:p>
            <a:r>
              <a:rPr lang="en-US" b="1" dirty="0"/>
              <a:t>Increased Employee Collaboration and Productivity: </a:t>
            </a:r>
          </a:p>
          <a:p>
            <a:pPr lvl="1"/>
            <a:r>
              <a:rPr lang="en-US" dirty="0"/>
              <a:t>Internal social computing platforms facilitate communication, collaboration, and knowledge sharing among employees, leading to improved teamwork, innovation, and productivity.</a:t>
            </a:r>
          </a:p>
          <a:p>
            <a:endParaRPr lang="en-US" dirty="0"/>
          </a:p>
          <a:p>
            <a:r>
              <a:rPr lang="en-US" b="1" dirty="0"/>
              <a:t>Agility and Adaptability: </a:t>
            </a:r>
          </a:p>
          <a:p>
            <a:pPr lvl="1"/>
            <a:r>
              <a:rPr lang="en-US" dirty="0"/>
              <a:t>Social computing enables businesses to adapt quickly to changing market dynamics, customer preferences and industry trends, allowing them to innovate, pivot, and stay relevant in a fast-changing business environment.</a:t>
            </a:r>
          </a:p>
        </p:txBody>
      </p:sp>
    </p:spTree>
    <p:extLst>
      <p:ext uri="{BB962C8B-B14F-4D97-AF65-F5344CB8AC3E}">
        <p14:creationId xmlns:p14="http://schemas.microsoft.com/office/powerpoint/2010/main" val="2268680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6166884"/>
          </a:xfrm>
        </p:spPr>
        <p:txBody>
          <a:bodyPr>
            <a:normAutofit lnSpcReduction="10000"/>
          </a:bodyPr>
          <a:lstStyle/>
          <a:p>
            <a:r>
              <a:rPr lang="en-US" dirty="0"/>
              <a:t>While the benefits of social computing are undeniable, navigating the social landscape comes with challenges:</a:t>
            </a:r>
          </a:p>
          <a:p>
            <a:r>
              <a:rPr lang="en-US" b="1" dirty="0"/>
              <a:t>Resource Allocation: </a:t>
            </a:r>
          </a:p>
          <a:p>
            <a:pPr lvl="1"/>
            <a:r>
              <a:rPr lang="en-US" dirty="0"/>
              <a:t>Building and maintaining a successful social media presence requires dedicated staff, budget allocation, and a well-defined strategy.</a:t>
            </a:r>
          </a:p>
          <a:p>
            <a:r>
              <a:rPr lang="en-US" b="1" dirty="0"/>
              <a:t>Negative Publicity: </a:t>
            </a:r>
          </a:p>
          <a:p>
            <a:pPr lvl="1"/>
            <a:r>
              <a:rPr lang="en-US" dirty="0"/>
              <a:t>Social media platforms can be breeding grounds for criticism. </a:t>
            </a:r>
          </a:p>
          <a:p>
            <a:pPr lvl="1"/>
            <a:r>
              <a:rPr lang="en-US" dirty="0"/>
              <a:t>Businesses need to be prepared to handle negative feedback and effectively manage their online reputation.</a:t>
            </a:r>
          </a:p>
          <a:p>
            <a:r>
              <a:rPr lang="en-US" b="1" dirty="0"/>
              <a:t>Time Commitment: </a:t>
            </a:r>
          </a:p>
          <a:p>
            <a:pPr lvl="1"/>
            <a:r>
              <a:rPr lang="en-US" dirty="0"/>
              <a:t>Engaging on social media requires consistent effort. </a:t>
            </a:r>
          </a:p>
          <a:p>
            <a:pPr lvl="1"/>
            <a:r>
              <a:rPr lang="en-US" dirty="0"/>
              <a:t>Businesses need to dedicate time to creating engaging content, responding to comments, and monitoring online conversations.</a:t>
            </a:r>
          </a:p>
          <a:p>
            <a:r>
              <a:rPr lang="en-US" b="1" dirty="0"/>
              <a:t>Data Privacy Concerns: </a:t>
            </a:r>
          </a:p>
          <a:p>
            <a:pPr lvl="1"/>
            <a:r>
              <a:rPr lang="en-US" dirty="0"/>
              <a:t>Businesses need to be mindful of data privacy regulations and implement best practices to protect customer data collected on social media platforms.</a:t>
            </a:r>
          </a:p>
        </p:txBody>
      </p:sp>
    </p:spTree>
    <p:extLst>
      <p:ext uri="{BB962C8B-B14F-4D97-AF65-F5344CB8AC3E}">
        <p14:creationId xmlns:p14="http://schemas.microsoft.com/office/powerpoint/2010/main" val="1945930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6028660"/>
          </a:xfrm>
        </p:spPr>
        <p:txBody>
          <a:bodyPr>
            <a:normAutofit/>
          </a:bodyPr>
          <a:lstStyle/>
          <a:p>
            <a:r>
              <a:rPr lang="en-US" dirty="0"/>
              <a:t>To successfully implement social computing, the business needs to find out the best ways. </a:t>
            </a:r>
          </a:p>
          <a:p>
            <a:r>
              <a:rPr lang="en-US" dirty="0"/>
              <a:t>The possible best practices are discussed here.</a:t>
            </a:r>
          </a:p>
          <a:p>
            <a:r>
              <a:rPr lang="en-US" b="1" dirty="0"/>
              <a:t>Define Clear goals, objectives, and metrics: </a:t>
            </a:r>
          </a:p>
          <a:p>
            <a:pPr lvl="1"/>
            <a:r>
              <a:rPr lang="en-US" dirty="0"/>
              <a:t>Business should establish clear goals, objectives, and key performance indicators (KPIs) for social computing initiatives to measure success and ROI. </a:t>
            </a:r>
          </a:p>
          <a:p>
            <a:pPr lvl="1"/>
            <a:r>
              <a:rPr lang="en-US" dirty="0"/>
              <a:t>Define your objectives for social media engagement such as do you aim to increase brand awareness, improve customer service, or generate leads?</a:t>
            </a:r>
          </a:p>
          <a:p>
            <a:r>
              <a:rPr lang="en-US" b="1" dirty="0"/>
              <a:t>Know Your Audience: </a:t>
            </a:r>
          </a:p>
          <a:p>
            <a:pPr lvl="1"/>
            <a:r>
              <a:rPr lang="en-US" dirty="0"/>
              <a:t>Research your target audience and understand their demographics, interests, and preferred social media platforms.</a:t>
            </a:r>
          </a:p>
          <a:p>
            <a:r>
              <a:rPr lang="en-US" b="1" dirty="0"/>
              <a:t>Choose the Right Platforms: </a:t>
            </a:r>
          </a:p>
          <a:p>
            <a:pPr lvl="1"/>
            <a:r>
              <a:rPr lang="en-US" dirty="0"/>
              <a:t>Don't spread yourself too thin. Focus on the platforms where your target audience is most active.</a:t>
            </a:r>
          </a:p>
        </p:txBody>
      </p:sp>
    </p:spTree>
    <p:extLst>
      <p:ext uri="{BB962C8B-B14F-4D97-AF65-F5344CB8AC3E}">
        <p14:creationId xmlns:p14="http://schemas.microsoft.com/office/powerpoint/2010/main" val="16914138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7319"/>
            <a:ext cx="10515600" cy="5858539"/>
          </a:xfrm>
        </p:spPr>
        <p:txBody>
          <a:bodyPr>
            <a:normAutofit/>
          </a:bodyPr>
          <a:lstStyle/>
          <a:p>
            <a:r>
              <a:rPr lang="en-US" b="1" dirty="0"/>
              <a:t>Listen and Engage: </a:t>
            </a:r>
          </a:p>
          <a:p>
            <a:pPr lvl="1"/>
            <a:r>
              <a:rPr lang="en-US" dirty="0"/>
              <a:t>Business should actively listen to customer feedback and engage with customers authentically to build trust and credibility.</a:t>
            </a:r>
          </a:p>
          <a:p>
            <a:r>
              <a:rPr lang="en-US" b="1" dirty="0"/>
              <a:t>Develop a Content Strategy: </a:t>
            </a:r>
          </a:p>
          <a:p>
            <a:pPr lvl="1"/>
            <a:r>
              <a:rPr lang="en-US" dirty="0"/>
              <a:t>Create engaging content that resonates with your audience. </a:t>
            </a:r>
          </a:p>
          <a:p>
            <a:pPr lvl="1"/>
            <a:r>
              <a:rPr lang="en-US" dirty="0"/>
              <a:t>This could include blog posts, infographics, videos, user-generated content, and live streams.</a:t>
            </a:r>
          </a:p>
          <a:p>
            <a:r>
              <a:rPr lang="en-US" b="1" dirty="0"/>
              <a:t>Provide Value-Added Content: </a:t>
            </a:r>
          </a:p>
          <a:p>
            <a:pPr lvl="1"/>
            <a:r>
              <a:rPr lang="en-US" dirty="0"/>
              <a:t>Business should create and share valuable content that educates, entertains, or inspires your audience to drive engagement and build brand authority.</a:t>
            </a:r>
          </a:p>
          <a:p>
            <a:r>
              <a:rPr lang="en-US" b="1" dirty="0"/>
              <a:t>Be Consistent and Authentic: </a:t>
            </a:r>
          </a:p>
          <a:p>
            <a:pPr lvl="1"/>
            <a:r>
              <a:rPr lang="en-US" dirty="0"/>
              <a:t>Maintain a consistent brand voice and post regularly to stay top-of-mind with your audience. </a:t>
            </a:r>
          </a:p>
          <a:p>
            <a:pPr lvl="1"/>
            <a:r>
              <a:rPr lang="en-US" dirty="0"/>
              <a:t>Be authentic and transparent in your communications.</a:t>
            </a:r>
          </a:p>
        </p:txBody>
      </p:sp>
    </p:spTree>
    <p:extLst>
      <p:ext uri="{BB962C8B-B14F-4D97-AF65-F5344CB8AC3E}">
        <p14:creationId xmlns:p14="http://schemas.microsoft.com/office/powerpoint/2010/main" val="3730240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3014"/>
            <a:ext cx="10515600" cy="5816009"/>
          </a:xfrm>
        </p:spPr>
        <p:txBody>
          <a:bodyPr>
            <a:normAutofit/>
          </a:bodyPr>
          <a:lstStyle/>
          <a:p>
            <a:r>
              <a:rPr lang="en-US" b="1" dirty="0"/>
              <a:t>Invest in Community Management: </a:t>
            </a:r>
          </a:p>
          <a:p>
            <a:pPr lvl="1"/>
            <a:r>
              <a:rPr lang="en-US" dirty="0"/>
              <a:t>Train a dedicated team to manage your social media presence. </a:t>
            </a:r>
          </a:p>
          <a:p>
            <a:pPr lvl="1"/>
            <a:r>
              <a:rPr lang="en-US" dirty="0"/>
              <a:t>This includes responding to comments, addressing customer concerns, and fostering a positive online community.</a:t>
            </a:r>
          </a:p>
          <a:p>
            <a:r>
              <a:rPr lang="en-US" b="1" dirty="0"/>
              <a:t>Foster Community and Collaboration: </a:t>
            </a:r>
          </a:p>
          <a:p>
            <a:pPr lvl="1"/>
            <a:r>
              <a:rPr lang="en-US" dirty="0"/>
              <a:t>Business should cultivate online communities, forums, or groups where customers and employees can connect, share ideas, and support each other.</a:t>
            </a:r>
          </a:p>
          <a:p>
            <a:r>
              <a:rPr lang="en-US" b="1" dirty="0"/>
              <a:t>Monitor and Measure Performance: </a:t>
            </a:r>
          </a:p>
          <a:p>
            <a:pPr lvl="1"/>
            <a:r>
              <a:rPr lang="en-US" dirty="0"/>
              <a:t>Business should use social media analytics tools to track performance, analyze trends, and identify areas for improvement in social computing efforts. </a:t>
            </a:r>
          </a:p>
          <a:p>
            <a:pPr lvl="1"/>
            <a:r>
              <a:rPr lang="en-US" dirty="0"/>
              <a:t>Track social media performance using analytics tools. </a:t>
            </a:r>
          </a:p>
          <a:p>
            <a:pPr lvl="1"/>
            <a:r>
              <a:rPr lang="en-US" dirty="0"/>
              <a:t>Measure key metrics like engagement, reach, and conversions. </a:t>
            </a:r>
          </a:p>
          <a:p>
            <a:pPr lvl="1"/>
            <a:r>
              <a:rPr lang="en-US" dirty="0"/>
              <a:t>Use these insights to refine your strategy and optimize your content for better results.</a:t>
            </a:r>
          </a:p>
        </p:txBody>
      </p:sp>
    </p:spTree>
    <p:extLst>
      <p:ext uri="{BB962C8B-B14F-4D97-AF65-F5344CB8AC3E}">
        <p14:creationId xmlns:p14="http://schemas.microsoft.com/office/powerpoint/2010/main" val="1368530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01479"/>
            <a:ext cx="10515600" cy="4975484"/>
          </a:xfrm>
        </p:spPr>
        <p:txBody>
          <a:bodyPr/>
          <a:lstStyle/>
          <a:p>
            <a:r>
              <a:rPr lang="en-US" b="1" dirty="0"/>
              <a:t>Embrace Paid Advertising (if necessary): </a:t>
            </a:r>
          </a:p>
          <a:p>
            <a:pPr lvl="1"/>
            <a:r>
              <a:rPr lang="en-US" dirty="0"/>
              <a:t>Consider allocating a budget for targeted social media advertising to reach a wider audience and boost the effectiveness of your organic reach.</a:t>
            </a:r>
          </a:p>
          <a:p>
            <a:endParaRPr lang="en-US" dirty="0"/>
          </a:p>
          <a:p>
            <a:r>
              <a:rPr lang="en-US" b="1" dirty="0"/>
              <a:t>Stay Updated with Trends: </a:t>
            </a:r>
          </a:p>
          <a:p>
            <a:pPr lvl="1"/>
            <a:r>
              <a:rPr lang="en-US" dirty="0"/>
              <a:t>Stay informed about the latest social media trends and adapt your strategy accordingly</a:t>
            </a:r>
            <a:r>
              <a:rPr lang="en-US"/>
              <a:t>. </a:t>
            </a:r>
          </a:p>
          <a:p>
            <a:pPr lvl="1"/>
            <a:r>
              <a:rPr lang="en-US"/>
              <a:t>New </a:t>
            </a:r>
            <a:r>
              <a:rPr lang="en-US" dirty="0"/>
              <a:t>platforms and features emerge constantly, so be prepared to adjust and experiment.</a:t>
            </a:r>
          </a:p>
        </p:txBody>
      </p:sp>
    </p:spTree>
    <p:extLst>
      <p:ext uri="{BB962C8B-B14F-4D97-AF65-F5344CB8AC3E}">
        <p14:creationId xmlns:p14="http://schemas.microsoft.com/office/powerpoint/2010/main" val="129055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lstStyle/>
          <a:p>
            <a:r>
              <a:rPr lang="en-US" dirty="0"/>
              <a:t>Social computing has become a crucial component of company strategy, allowing companies to interact, communicate, and work together with stakeholders, employees, and customers. </a:t>
            </a:r>
          </a:p>
          <a:p>
            <a:r>
              <a:rPr lang="en-US" dirty="0"/>
              <a:t>In today’s connected world, businesses may use technology to foster relationships, branch creativity, and achieve sustainable success by adopting the principles of social computing. </a:t>
            </a:r>
          </a:p>
          <a:p>
            <a:r>
              <a:rPr lang="en-US" dirty="0"/>
              <a:t>Through careful planning, smart implementation, and a customer-focused mindset, enterprises can fully leverage the potential of social computing to accomplish their objectives and prosper in a violently competitive market.</a:t>
            </a:r>
          </a:p>
        </p:txBody>
      </p:sp>
    </p:spTree>
    <p:extLst>
      <p:ext uri="{BB962C8B-B14F-4D97-AF65-F5344CB8AC3E}">
        <p14:creationId xmlns:p14="http://schemas.microsoft.com/office/powerpoint/2010/main" val="1382505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Social Computing in Shopping</a:t>
            </a:r>
          </a:p>
        </p:txBody>
      </p:sp>
      <p:sp>
        <p:nvSpPr>
          <p:cNvPr id="3" name="Content Placeholder 2"/>
          <p:cNvSpPr>
            <a:spLocks noGrp="1"/>
          </p:cNvSpPr>
          <p:nvPr>
            <p:ph idx="1"/>
          </p:nvPr>
        </p:nvSpPr>
        <p:spPr/>
        <p:txBody>
          <a:bodyPr/>
          <a:lstStyle/>
          <a:p>
            <a:r>
              <a:rPr lang="en-US" dirty="0"/>
              <a:t>Social computing has significantly transformed the shopping experience, revolutionizing how consumers discover, evaluate, and purchase products and services. </a:t>
            </a:r>
          </a:p>
          <a:p>
            <a:r>
              <a:rPr lang="en-US" dirty="0"/>
              <a:t>With the explosion of social media platforms, online reviews, and recommendation systems, social computing has become deeply ingrained in the shopping journey, influencing consumer behavior, and shaping purchasing decisions.</a:t>
            </a:r>
          </a:p>
        </p:txBody>
      </p:sp>
    </p:spTree>
    <p:extLst>
      <p:ext uri="{BB962C8B-B14F-4D97-AF65-F5344CB8AC3E}">
        <p14:creationId xmlns:p14="http://schemas.microsoft.com/office/powerpoint/2010/main" val="2862824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05786"/>
            <a:ext cx="10515600" cy="5071177"/>
          </a:xfrm>
        </p:spPr>
        <p:txBody>
          <a:bodyPr/>
          <a:lstStyle/>
          <a:p>
            <a:r>
              <a:rPr lang="en-US" dirty="0"/>
              <a:t>One of the key aspects of social computing in shopping is social commerce, which integrates social media features into e-commerce platforms to facilitate product discovery, peer recommendations, and social interactions. </a:t>
            </a:r>
          </a:p>
          <a:p>
            <a:r>
              <a:rPr lang="en-US" dirty="0"/>
              <a:t>Social commerce platforms enable users to explore products, read reviews, and engage with brands and fellow shoppers within their social networks. </a:t>
            </a:r>
          </a:p>
          <a:p>
            <a:r>
              <a:rPr lang="en-US" dirty="0"/>
              <a:t>For example, platforms like Instagram and Pinterest have introduced features such as shoppable posts and product tagging, allowing users to purchase products directly from their feeds.</a:t>
            </a:r>
          </a:p>
        </p:txBody>
      </p:sp>
    </p:spTree>
    <p:extLst>
      <p:ext uri="{BB962C8B-B14F-4D97-AF65-F5344CB8AC3E}">
        <p14:creationId xmlns:p14="http://schemas.microsoft.com/office/powerpoint/2010/main" val="2269071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1358"/>
            <a:ext cx="10515600" cy="5145605"/>
          </a:xfrm>
        </p:spPr>
        <p:txBody>
          <a:bodyPr/>
          <a:lstStyle/>
          <a:p>
            <a:r>
              <a:rPr lang="en-US" dirty="0"/>
              <a:t>Moreover, social computing has transformed the way consumers research products and make purchase decisions. </a:t>
            </a:r>
          </a:p>
          <a:p>
            <a:r>
              <a:rPr lang="en-US" dirty="0"/>
              <a:t>Instead of relying solely on traditional advertising or brand messaging, consumers now turn to social media and online reviews to seek authentic recommendations and opinions from peers and influencers. </a:t>
            </a:r>
          </a:p>
          <a:p>
            <a:r>
              <a:rPr lang="en-US" dirty="0"/>
              <a:t>User-generated content, such as product reviews, unboxing videos, and influencer endorsements, plays a crucial role in shaping consumer perceptions and influencing purchase intent.</a:t>
            </a:r>
          </a:p>
        </p:txBody>
      </p:sp>
    </p:spTree>
    <p:extLst>
      <p:ext uri="{BB962C8B-B14F-4D97-AF65-F5344CB8AC3E}">
        <p14:creationId xmlns:p14="http://schemas.microsoft.com/office/powerpoint/2010/main" val="26203414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0093"/>
            <a:ext cx="10515600" cy="5166870"/>
          </a:xfrm>
        </p:spPr>
        <p:txBody>
          <a:bodyPr/>
          <a:lstStyle/>
          <a:p>
            <a:r>
              <a:rPr lang="en-US" dirty="0"/>
              <a:t>Furthermore, social computing has empowered consumers to become active participants in the shopping process, enabling them to share their shopping experiences, preferences, and recommendations with their social networks. </a:t>
            </a:r>
          </a:p>
          <a:p>
            <a:r>
              <a:rPr lang="en-US" dirty="0"/>
              <a:t>Social shopping communities and forums provide platforms for users to exchange product recommendations, share shopping tips, and seek advice from fellow shoppers. </a:t>
            </a:r>
          </a:p>
          <a:p>
            <a:r>
              <a:rPr lang="en-US" dirty="0"/>
              <a:t>As a result, shopping has become more collaborative, social, and interactive, blurring the lines between online and offline retail experiences.</a:t>
            </a:r>
          </a:p>
        </p:txBody>
      </p:sp>
    </p:spTree>
    <p:extLst>
      <p:ext uri="{BB962C8B-B14F-4D97-AF65-F5344CB8AC3E}">
        <p14:creationId xmlns:p14="http://schemas.microsoft.com/office/powerpoint/2010/main" val="563472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3135"/>
            <a:ext cx="10515600" cy="5283828"/>
          </a:xfrm>
        </p:spPr>
        <p:txBody>
          <a:bodyPr/>
          <a:lstStyle/>
          <a:p>
            <a:r>
              <a:rPr lang="en-US" dirty="0"/>
              <a:t>In essence, social computing has transformed shopping from a solitary activity to a social experience, enabling consumers to connect, engage, and interact with brands, products, and peers in real-time. </a:t>
            </a:r>
          </a:p>
          <a:p>
            <a:r>
              <a:rPr lang="en-US" dirty="0"/>
              <a:t>By leveraging social media, user-generated content, and peer recommendations, businesses can enhance customer engagement, drive brand loyalty, and capitalize on the power of social influence to drive sales and foster meaningful connections with their target audience.</a:t>
            </a:r>
          </a:p>
        </p:txBody>
      </p:sp>
    </p:spTree>
    <p:extLst>
      <p:ext uri="{BB962C8B-B14F-4D97-AF65-F5344CB8AC3E}">
        <p14:creationId xmlns:p14="http://schemas.microsoft.com/office/powerpoint/2010/main" val="2196631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Social Computing in Marketing</a:t>
            </a:r>
          </a:p>
        </p:txBody>
      </p:sp>
      <p:sp>
        <p:nvSpPr>
          <p:cNvPr id="3" name="Content Placeholder 2"/>
          <p:cNvSpPr>
            <a:spLocks noGrp="1"/>
          </p:cNvSpPr>
          <p:nvPr>
            <p:ph idx="1"/>
          </p:nvPr>
        </p:nvSpPr>
        <p:spPr/>
        <p:txBody>
          <a:bodyPr/>
          <a:lstStyle/>
          <a:p>
            <a:r>
              <a:rPr lang="en-US" dirty="0"/>
              <a:t>Social computing has also revolutionized the landscape of marketing, in an era of exceptional connectivity, engagement, and interaction between brands and consumers.</a:t>
            </a:r>
          </a:p>
          <a:p>
            <a:r>
              <a:rPr lang="en-US" dirty="0"/>
              <a:t>Through the integration of social media platforms, online communities, and user-generated content, social computing has fundamentally transformed the way businesses communicate, promote, and engage with their target audience.</a:t>
            </a:r>
          </a:p>
        </p:txBody>
      </p:sp>
    </p:spTree>
    <p:extLst>
      <p:ext uri="{BB962C8B-B14F-4D97-AF65-F5344CB8AC3E}">
        <p14:creationId xmlns:p14="http://schemas.microsoft.com/office/powerpoint/2010/main" val="1491565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1991"/>
            <a:ext cx="10515600" cy="5134972"/>
          </a:xfrm>
        </p:spPr>
        <p:txBody>
          <a:bodyPr>
            <a:normAutofit/>
          </a:bodyPr>
          <a:lstStyle/>
          <a:p>
            <a:r>
              <a:rPr lang="en-US" dirty="0"/>
              <a:t>One of the key aspects of social computing in marketing is social media marketing, which leverages social media platforms such as Facebook, Instagram, X (formerly Twitter), and LinkedIn to reach and engage with customers. </a:t>
            </a:r>
          </a:p>
          <a:p>
            <a:r>
              <a:rPr lang="en-US" dirty="0"/>
              <a:t>Social media provides businesses with a powerful channel to showcase their products, share content, and connect with customers on a personal level. </a:t>
            </a:r>
          </a:p>
          <a:p>
            <a:r>
              <a:rPr lang="en-US" dirty="0"/>
              <a:t>Brands can create compelling content, run targeted advertising</a:t>
            </a:r>
            <a:br>
              <a:rPr lang="en-US" dirty="0"/>
            </a:br>
            <a:r>
              <a:rPr lang="en-US" dirty="0"/>
              <a:t>campaigns, and interact with customers in real-time to build brand awareness, drive website traffic, and foster customer loyalty.</a:t>
            </a:r>
          </a:p>
        </p:txBody>
      </p:sp>
    </p:spTree>
    <p:extLst>
      <p:ext uri="{BB962C8B-B14F-4D97-AF65-F5344CB8AC3E}">
        <p14:creationId xmlns:p14="http://schemas.microsoft.com/office/powerpoint/2010/main" val="18976380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5033"/>
            <a:ext cx="10515600" cy="5251930"/>
          </a:xfrm>
        </p:spPr>
        <p:txBody>
          <a:bodyPr/>
          <a:lstStyle/>
          <a:p>
            <a:r>
              <a:rPr lang="en-US" dirty="0"/>
              <a:t>Moreover, social computing has democratized content creation and distribution, enabling consumers to become active participants in the marketing process. </a:t>
            </a:r>
          </a:p>
          <a:p>
            <a:r>
              <a:rPr lang="en-US" dirty="0"/>
              <a:t>User-generated content, such as product reviews, photos, and videos shared by customers, plays a pivotal role in shaping brand perception and influencing purchase decisions. </a:t>
            </a:r>
          </a:p>
          <a:p>
            <a:r>
              <a:rPr lang="en-US" dirty="0"/>
              <a:t>Businesses can harness the power of user-generated content to amplify their marketing efforts, leverage social proof, and build trust and credibility with their audience.</a:t>
            </a:r>
          </a:p>
        </p:txBody>
      </p:sp>
    </p:spTree>
    <p:extLst>
      <p:ext uri="{BB962C8B-B14F-4D97-AF65-F5344CB8AC3E}">
        <p14:creationId xmlns:p14="http://schemas.microsoft.com/office/powerpoint/2010/main" val="2767791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340"/>
            <a:ext cx="10515600" cy="5347623"/>
          </a:xfrm>
        </p:spPr>
        <p:txBody>
          <a:bodyPr>
            <a:normAutofit/>
          </a:bodyPr>
          <a:lstStyle/>
          <a:p>
            <a:r>
              <a:rPr lang="en-US" dirty="0"/>
              <a:t>Likewise, social computing has transformed the way businesses collect, analyze, and leverage customer data for marketing purposes. </a:t>
            </a:r>
          </a:p>
          <a:p>
            <a:r>
              <a:rPr lang="en-US" dirty="0"/>
              <a:t>Social media analytics tools provide businesses with valuable insights into customer demographics, preferences, and behaviors, enabling them to tailor their marketing strategies and messages to resonate with their target audience. </a:t>
            </a:r>
          </a:p>
          <a:p>
            <a:r>
              <a:rPr lang="en-US" dirty="0"/>
              <a:t>By harnessing the power of data-driven insights, businesses can optimize their marketing campaigns, personalize customer experiences, and drive measurable results.</a:t>
            </a:r>
          </a:p>
        </p:txBody>
      </p:sp>
    </p:spTree>
    <p:extLst>
      <p:ext uri="{BB962C8B-B14F-4D97-AF65-F5344CB8AC3E}">
        <p14:creationId xmlns:p14="http://schemas.microsoft.com/office/powerpoint/2010/main" val="95010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Social computing in Customer Relationship Management</a:t>
            </a:r>
          </a:p>
        </p:txBody>
      </p:sp>
      <p:sp>
        <p:nvSpPr>
          <p:cNvPr id="3" name="Content Placeholder 2"/>
          <p:cNvSpPr>
            <a:spLocks noGrp="1"/>
          </p:cNvSpPr>
          <p:nvPr>
            <p:ph idx="1"/>
          </p:nvPr>
        </p:nvSpPr>
        <p:spPr/>
        <p:txBody>
          <a:bodyPr/>
          <a:lstStyle/>
          <a:p>
            <a:r>
              <a:rPr lang="en-US" dirty="0"/>
              <a:t>Social computing has transformed the way businesses engage with their customers, hence revolutionizing </a:t>
            </a:r>
            <a:r>
              <a:rPr lang="en-US" b="1" dirty="0"/>
              <a:t>Customer Relationship Management (CRM). </a:t>
            </a:r>
          </a:p>
          <a:p>
            <a:r>
              <a:rPr lang="en-US" dirty="0"/>
              <a:t>The days of impersonal phone calls and one-way email blasts are long gone. </a:t>
            </a:r>
          </a:p>
          <a:p>
            <a:r>
              <a:rPr lang="en-US" dirty="0"/>
              <a:t>Through direct communication made possible by social media platforms, CRM is becoming more participatory and focused on the needs of the client.</a:t>
            </a:r>
          </a:p>
        </p:txBody>
      </p:sp>
    </p:spTree>
    <p:extLst>
      <p:ext uri="{BB962C8B-B14F-4D97-AF65-F5344CB8AC3E}">
        <p14:creationId xmlns:p14="http://schemas.microsoft.com/office/powerpoint/2010/main" val="28941317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6565"/>
            <a:ext cx="10515600" cy="6188151"/>
          </a:xfrm>
        </p:spPr>
        <p:txBody>
          <a:bodyPr>
            <a:normAutofit/>
          </a:bodyPr>
          <a:lstStyle/>
          <a:p>
            <a:pPr lvl="0"/>
            <a:r>
              <a:rPr lang="en-US" dirty="0"/>
              <a:t>Social computing enhances CRM in the following ways:</a:t>
            </a:r>
          </a:p>
          <a:p>
            <a:r>
              <a:rPr lang="en-US" b="1" dirty="0"/>
              <a:t>Two-Way Communication: </a:t>
            </a:r>
          </a:p>
          <a:p>
            <a:pPr lvl="1"/>
            <a:r>
              <a:rPr lang="en-US" dirty="0"/>
              <a:t>Social media platforms allow businesses to have real-time conversations with customers. </a:t>
            </a:r>
          </a:p>
          <a:p>
            <a:pPr lvl="1"/>
            <a:r>
              <a:rPr lang="en-US" dirty="0"/>
              <a:t>Businesses can address customer inquiries promptly, resolve issues publicly, and gather valuable feedback directly from their audience. </a:t>
            </a:r>
          </a:p>
          <a:p>
            <a:pPr lvl="1"/>
            <a:r>
              <a:rPr lang="en-US" dirty="0"/>
              <a:t>This fosters trust and transparency, leading to stronger customer relationships.</a:t>
            </a:r>
          </a:p>
          <a:p>
            <a:r>
              <a:rPr lang="en-US" b="1" dirty="0"/>
              <a:t>Social Listening: </a:t>
            </a:r>
          </a:p>
          <a:p>
            <a:pPr lvl="1"/>
            <a:r>
              <a:rPr lang="en-US" dirty="0"/>
              <a:t>Social media platforms are a goldmine of customer sentiment. </a:t>
            </a:r>
          </a:p>
          <a:p>
            <a:pPr lvl="1"/>
            <a:r>
              <a:rPr lang="en-US" dirty="0"/>
              <a:t>Businesses can utilize social listening tools to track brand mentions, analyze customer feedback, and understand customer needs and preferences. </a:t>
            </a:r>
          </a:p>
          <a:p>
            <a:pPr lvl="1"/>
            <a:r>
              <a:rPr lang="en-US" dirty="0"/>
              <a:t>These insights can then be used to improve products and services, personalize marketing campaigns, and tailor customer service initiatives.</a:t>
            </a:r>
            <a:br>
              <a:rPr lang="en-US" dirty="0"/>
            </a:br>
            <a:endParaRPr lang="en-US" dirty="0"/>
          </a:p>
        </p:txBody>
      </p:sp>
    </p:spTree>
    <p:extLst>
      <p:ext uri="{BB962C8B-B14F-4D97-AF65-F5344CB8AC3E}">
        <p14:creationId xmlns:p14="http://schemas.microsoft.com/office/powerpoint/2010/main" val="2573363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9465" y="861237"/>
            <a:ext cx="10515600" cy="5146159"/>
          </a:xfrm>
        </p:spPr>
        <p:txBody>
          <a:bodyPr>
            <a:normAutofit/>
          </a:bodyPr>
          <a:lstStyle/>
          <a:p>
            <a:r>
              <a:rPr lang="en-US" b="1" dirty="0"/>
              <a:t>Building Customer Communities: </a:t>
            </a:r>
          </a:p>
          <a:p>
            <a:pPr lvl="1"/>
            <a:r>
              <a:rPr lang="en-US" dirty="0"/>
              <a:t>Social media can be used to create online communities around brands. </a:t>
            </a:r>
          </a:p>
          <a:p>
            <a:pPr lvl="1"/>
            <a:r>
              <a:rPr lang="en-US" dirty="0"/>
              <a:t>These communities provide a platform for customers to connect with each other, share experiences, and offer peer-to-peer support. </a:t>
            </a:r>
          </a:p>
          <a:p>
            <a:pPr lvl="1"/>
            <a:r>
              <a:rPr lang="en-US" dirty="0"/>
              <a:t>This fosters a sense of belonging and brand loyalty, as customers feel valued and part of a larger community.</a:t>
            </a:r>
          </a:p>
          <a:p>
            <a:r>
              <a:rPr lang="en-US" b="1" dirty="0"/>
              <a:t>Personalized Customer Service: </a:t>
            </a:r>
          </a:p>
          <a:p>
            <a:pPr lvl="1"/>
            <a:r>
              <a:rPr lang="en-US" dirty="0"/>
              <a:t>Social media allows businesses to provide personalized customer service.</a:t>
            </a:r>
          </a:p>
          <a:p>
            <a:pPr lvl="1"/>
            <a:r>
              <a:rPr lang="en-US" dirty="0"/>
              <a:t>By interacting with customers on their preferred platform, businesses can offer targeted solutions and demonstrate a genuine interest in resolving issues. </a:t>
            </a:r>
          </a:p>
          <a:p>
            <a:pPr lvl="1"/>
            <a:r>
              <a:rPr lang="en-US" dirty="0"/>
              <a:t>This personalized approach enhances customer satisfaction and loyalty.</a:t>
            </a:r>
          </a:p>
        </p:txBody>
      </p:sp>
    </p:spTree>
    <p:extLst>
      <p:ext uri="{BB962C8B-B14F-4D97-AF65-F5344CB8AC3E}">
        <p14:creationId xmlns:p14="http://schemas.microsoft.com/office/powerpoint/2010/main" val="2661861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4280"/>
            <a:ext cx="10515600" cy="5432684"/>
          </a:xfrm>
        </p:spPr>
        <p:txBody>
          <a:bodyPr/>
          <a:lstStyle/>
          <a:p>
            <a:r>
              <a:rPr lang="en-US" b="1" dirty="0"/>
              <a:t>Social Advocacy: </a:t>
            </a:r>
          </a:p>
          <a:p>
            <a:pPr lvl="1"/>
            <a:r>
              <a:rPr lang="en-US" dirty="0"/>
              <a:t>Happy customers are more likely to become brand advocates on social media. </a:t>
            </a:r>
          </a:p>
          <a:p>
            <a:pPr lvl="1"/>
            <a:r>
              <a:rPr lang="en-US" dirty="0"/>
              <a:t>Businesses can encourage user-generated content like positive reviews, product recommendations, and social media mentions. </a:t>
            </a:r>
          </a:p>
          <a:p>
            <a:pPr lvl="1"/>
            <a:r>
              <a:rPr lang="en-US" dirty="0"/>
              <a:t>This authentic form of marketing fosters trust among potential customers and boosts brand credibility.</a:t>
            </a:r>
          </a:p>
          <a:p>
            <a:r>
              <a:rPr lang="en-US" dirty="0"/>
              <a:t>Social computing, when integrated effectively with CRM strategies, can create a win-win situation for both businesses and customers.</a:t>
            </a:r>
          </a:p>
          <a:p>
            <a:r>
              <a:rPr lang="en-US" dirty="0"/>
              <a:t>Businesses can build stronger relationships, improve customer satisfaction, and achieve their strategic goals, while customers benefit from a more personalized and interactive experience.</a:t>
            </a:r>
          </a:p>
        </p:txBody>
      </p:sp>
    </p:spTree>
    <p:extLst>
      <p:ext uri="{BB962C8B-B14F-4D97-AF65-F5344CB8AC3E}">
        <p14:creationId xmlns:p14="http://schemas.microsoft.com/office/powerpoint/2010/main" val="25521795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Social computing in Human Resource Management</a:t>
            </a:r>
          </a:p>
        </p:txBody>
      </p:sp>
      <p:sp>
        <p:nvSpPr>
          <p:cNvPr id="3" name="Content Placeholder 2"/>
          <p:cNvSpPr>
            <a:spLocks noGrp="1"/>
          </p:cNvSpPr>
          <p:nvPr>
            <p:ph idx="1"/>
          </p:nvPr>
        </p:nvSpPr>
        <p:spPr/>
        <p:txBody>
          <a:bodyPr/>
          <a:lstStyle/>
          <a:p>
            <a:r>
              <a:rPr lang="en-US" dirty="0"/>
              <a:t>Social computing has significantly reshaped the landscape of </a:t>
            </a:r>
            <a:r>
              <a:rPr lang="en-US" b="1" dirty="0"/>
              <a:t>Human Resource Management (HRM)</a:t>
            </a:r>
            <a:r>
              <a:rPr lang="en-US" dirty="0"/>
              <a:t> by introducing new avenues for recruitment, employee engagement, and knowledge sharing. </a:t>
            </a:r>
          </a:p>
          <a:p>
            <a:r>
              <a:rPr lang="en-US" dirty="0"/>
              <a:t>It has revolutionized the way organizations recruit, engage, and manage their workforce. </a:t>
            </a:r>
          </a:p>
          <a:p>
            <a:r>
              <a:rPr lang="en-US" dirty="0"/>
              <a:t>By leveraging social media platforms, online collaboration tools, and digital communication channels, HR professionals can enhance employee engagement, streamline recruitment processes, and foster a culture of collaboration and innovation within the organization</a:t>
            </a:r>
          </a:p>
        </p:txBody>
      </p:sp>
    </p:spTree>
    <p:extLst>
      <p:ext uri="{BB962C8B-B14F-4D97-AF65-F5344CB8AC3E}">
        <p14:creationId xmlns:p14="http://schemas.microsoft.com/office/powerpoint/2010/main" val="2573262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0241"/>
            <a:ext cx="10515600" cy="6390167"/>
          </a:xfrm>
        </p:spPr>
        <p:txBody>
          <a:bodyPr>
            <a:normAutofit/>
          </a:bodyPr>
          <a:lstStyle/>
          <a:p>
            <a:r>
              <a:rPr lang="en-US" dirty="0"/>
              <a:t>Here's a look at how social networking sites is changing the landscape of human resources management:</a:t>
            </a:r>
          </a:p>
          <a:p>
            <a:r>
              <a:rPr lang="en-US" b="1" dirty="0"/>
              <a:t>Enhanced Recruitment Strategies: </a:t>
            </a:r>
          </a:p>
          <a:p>
            <a:pPr lvl="1"/>
            <a:r>
              <a:rPr lang="en-US" dirty="0"/>
              <a:t>Social media platforms like LinkedIn and professional networking sites have become valuable tools for talent acquisition. </a:t>
            </a:r>
          </a:p>
          <a:p>
            <a:pPr lvl="1"/>
            <a:r>
              <a:rPr lang="en-US" dirty="0"/>
              <a:t>Recruiters can source potential candidates, screen resumes, and connect with passive job seekers who might not be actively searching for new opportunities. </a:t>
            </a:r>
          </a:p>
          <a:p>
            <a:pPr lvl="1"/>
            <a:r>
              <a:rPr lang="en-US" dirty="0"/>
              <a:t>Social media also allows companies to showcase their company culture and employer brand, attracting top talent in a competitive market.</a:t>
            </a:r>
          </a:p>
          <a:p>
            <a:r>
              <a:rPr lang="en-US" b="1" dirty="0"/>
              <a:t>Improved Employee Engagement: </a:t>
            </a:r>
          </a:p>
          <a:p>
            <a:pPr lvl="1"/>
            <a:r>
              <a:rPr lang="en-US" dirty="0"/>
              <a:t>Social media can foster a more connected and engaged workforce. Internal communication platforms and collaborative tools like wikis and online forums facilitate knowledge sharing, project collaboration, and team building. </a:t>
            </a:r>
          </a:p>
          <a:p>
            <a:pPr lvl="1"/>
            <a:r>
              <a:rPr lang="en-US" dirty="0"/>
              <a:t>Employees can connect with colleagues across departments, share ideas, and feel more invested in the company’s success.</a:t>
            </a:r>
          </a:p>
          <a:p>
            <a:endParaRPr lang="en-US" dirty="0"/>
          </a:p>
        </p:txBody>
      </p:sp>
    </p:spTree>
    <p:extLst>
      <p:ext uri="{BB962C8B-B14F-4D97-AF65-F5344CB8AC3E}">
        <p14:creationId xmlns:p14="http://schemas.microsoft.com/office/powerpoint/2010/main" val="12534526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8074"/>
            <a:ext cx="10515600" cy="5656521"/>
          </a:xfrm>
        </p:spPr>
        <p:txBody>
          <a:bodyPr/>
          <a:lstStyle/>
          <a:p>
            <a:r>
              <a:rPr lang="en-US" b="1" dirty="0"/>
              <a:t>iii. Streamlined Onboarding and Training: </a:t>
            </a:r>
          </a:p>
          <a:p>
            <a:pPr lvl="1"/>
            <a:r>
              <a:rPr lang="en-US" dirty="0"/>
              <a:t>Social platforms can be used to create interactive onboarding programs for new hires. </a:t>
            </a:r>
          </a:p>
          <a:p>
            <a:pPr lvl="1"/>
            <a:r>
              <a:rPr lang="en-US" dirty="0"/>
              <a:t>New employees can access company information, training materials, and connect with colleagues through online communities, making the onboarding process smoother and more efficient.</a:t>
            </a:r>
          </a:p>
          <a:p>
            <a:r>
              <a:rPr lang="en-US" b="1" dirty="0"/>
              <a:t>Performance Management and Feedback: </a:t>
            </a:r>
          </a:p>
          <a:p>
            <a:pPr lvl="1"/>
            <a:r>
              <a:rPr lang="en-US" dirty="0"/>
              <a:t>Social media tools can be used to provide ongoing feedback and performance reviews. </a:t>
            </a:r>
          </a:p>
          <a:p>
            <a:pPr lvl="1"/>
            <a:r>
              <a:rPr lang="en-US" dirty="0"/>
              <a:t>Peer-to-peer recognition platforms and collaborative documents can foster a culture of continuous improvement and transparent performance evaluation.</a:t>
            </a:r>
          </a:p>
        </p:txBody>
      </p:sp>
    </p:spTree>
    <p:extLst>
      <p:ext uri="{BB962C8B-B14F-4D97-AF65-F5344CB8AC3E}">
        <p14:creationId xmlns:p14="http://schemas.microsoft.com/office/powerpoint/2010/main" val="16851670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7321"/>
            <a:ext cx="10515600" cy="5549642"/>
          </a:xfrm>
        </p:spPr>
        <p:txBody>
          <a:bodyPr>
            <a:normAutofit fontScale="92500"/>
          </a:bodyPr>
          <a:lstStyle/>
          <a:p>
            <a:r>
              <a:rPr lang="en-US" dirty="0"/>
              <a:t>Employer Branding and Employer Advocacy: </a:t>
            </a:r>
          </a:p>
          <a:p>
            <a:pPr lvl="1"/>
            <a:r>
              <a:rPr lang="en-US" dirty="0"/>
              <a:t>Social media platforms provide a platform for companies to showcase their company culture, values, and employee testimonials. </a:t>
            </a:r>
          </a:p>
          <a:p>
            <a:pPr lvl="1"/>
            <a:r>
              <a:rPr lang="en-US" dirty="0"/>
              <a:t>Engaged employees can become brand ambassadors on social media, sharing positive experiences and attracting potential candidates who resonate with the company’s culture.</a:t>
            </a:r>
          </a:p>
          <a:p>
            <a:endParaRPr lang="en-US" dirty="0"/>
          </a:p>
          <a:p>
            <a:r>
              <a:rPr lang="en-US" dirty="0"/>
              <a:t>One of the primary applications of social computing in HRM is recruitment and talent acquisition. </a:t>
            </a:r>
          </a:p>
          <a:p>
            <a:r>
              <a:rPr lang="en-US" dirty="0"/>
              <a:t>Social media platforms such as LinkedIn, Facebook etc. provide HR professionals with powerful tools to identify, attract, and engage top talent. </a:t>
            </a:r>
          </a:p>
          <a:p>
            <a:r>
              <a:rPr lang="en-US" dirty="0"/>
              <a:t>By leveraging social networking sites, HR departments can reach a broader pool of candidates, tap into passive job seekers, and build relationships with potential candidates through targeted messaging and content sharing.</a:t>
            </a:r>
          </a:p>
        </p:txBody>
      </p:sp>
    </p:spTree>
    <p:extLst>
      <p:ext uri="{BB962C8B-B14F-4D97-AF65-F5344CB8AC3E}">
        <p14:creationId xmlns:p14="http://schemas.microsoft.com/office/powerpoint/2010/main" val="2263890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0093"/>
            <a:ext cx="10515600" cy="5166870"/>
          </a:xfrm>
        </p:spPr>
        <p:txBody>
          <a:bodyPr/>
          <a:lstStyle/>
          <a:p>
            <a:r>
              <a:rPr lang="en-US" dirty="0"/>
              <a:t>Moreover, social computing facilitates employee engagement and communication within the organization. Internal social networking platforms, such as Slack, and Microsoft Teams enable employees to connect, collaborate, and share knowledge in real-time. </a:t>
            </a:r>
          </a:p>
          <a:p>
            <a:r>
              <a:rPr lang="en-US" dirty="0"/>
              <a:t>These platforms serve as virtual places where employees can exchange ideas, seek feedback, and build relationships across departments and geographic locations, fostering a sense of community and belonging within the organization.</a:t>
            </a:r>
          </a:p>
        </p:txBody>
      </p:sp>
    </p:spTree>
    <p:extLst>
      <p:ext uri="{BB962C8B-B14F-4D97-AF65-F5344CB8AC3E}">
        <p14:creationId xmlns:p14="http://schemas.microsoft.com/office/powerpoint/2010/main" val="41368436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lstStyle/>
          <a:p>
            <a:r>
              <a:rPr lang="en-US" dirty="0"/>
              <a:t>Additionally, social computing enables HR departments to gather feedback and measure employee sentiment through employee feedback tools, pulse surveys, and social listening platforms. </a:t>
            </a:r>
          </a:p>
          <a:p>
            <a:r>
              <a:rPr lang="en-US" dirty="0"/>
              <a:t>By actively listening to employee feedback and monitoring online conversations, HR professionals can identify areas of concern, address employee grievances, and implement initiatives to improve employee satisfaction and retention.</a:t>
            </a:r>
          </a:p>
        </p:txBody>
      </p:sp>
    </p:spTree>
    <p:extLst>
      <p:ext uri="{BB962C8B-B14F-4D97-AF65-F5344CB8AC3E}">
        <p14:creationId xmlns:p14="http://schemas.microsoft.com/office/powerpoint/2010/main" val="19098940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lstStyle/>
          <a:p>
            <a:r>
              <a:rPr lang="en-US" dirty="0"/>
              <a:t>Furthermore, social computing plays a crucial role in employer branding and employee advocacy. </a:t>
            </a:r>
          </a:p>
          <a:p>
            <a:r>
              <a:rPr lang="en-US" dirty="0"/>
              <a:t>HR departments can leverage social media platforms to showcase company culture, highlight employee testimonials, and promote employer brand values to attract top talent. </a:t>
            </a:r>
          </a:p>
          <a:p>
            <a:r>
              <a:rPr lang="en-US" dirty="0"/>
              <a:t>Employees can also serve as brand ambassadors by sharing company news, job openings, and industry insights with their social networks, amplifying the organization's reach and visibility in the digital space.</a:t>
            </a:r>
          </a:p>
        </p:txBody>
      </p:sp>
    </p:spTree>
    <p:extLst>
      <p:ext uri="{BB962C8B-B14F-4D97-AF65-F5344CB8AC3E}">
        <p14:creationId xmlns:p14="http://schemas.microsoft.com/office/powerpoint/2010/main" val="854421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5694</Words>
  <Application>Microsoft Office PowerPoint</Application>
  <PresentationFormat>Widescreen</PresentationFormat>
  <Paragraphs>346</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Social Computing</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 2.0</vt:lpstr>
      <vt:lpstr>PowerPoint Presentation</vt:lpstr>
      <vt:lpstr>Key characteristics of Web 2.0</vt:lpstr>
      <vt:lpstr>PowerPoint Presentation</vt:lpstr>
      <vt:lpstr>PowerPoint Presentation</vt:lpstr>
      <vt:lpstr>Examples</vt:lpstr>
      <vt:lpstr>PowerPoint Presentation</vt:lpstr>
      <vt:lpstr>The Impact of Web 2.0</vt:lpstr>
      <vt:lpstr>PowerPoint Presentation</vt:lpstr>
      <vt:lpstr>PowerPoint Presentation</vt:lpstr>
      <vt:lpstr>Fundamentals of Social Computing in Business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Social Computing in Shopping</vt:lpstr>
      <vt:lpstr>PowerPoint Presentation</vt:lpstr>
      <vt:lpstr>PowerPoint Presentation</vt:lpstr>
      <vt:lpstr>PowerPoint Presentation</vt:lpstr>
      <vt:lpstr>PowerPoint Presentation</vt:lpstr>
      <vt:lpstr>Social Computing in Marketing</vt:lpstr>
      <vt:lpstr>PowerPoint Presentation</vt:lpstr>
      <vt:lpstr>PowerPoint Presentation</vt:lpstr>
      <vt:lpstr>PowerPoint Presentation</vt:lpstr>
      <vt:lpstr>Social computing in Customer Relationship Management</vt:lpstr>
      <vt:lpstr>PowerPoint Presentation</vt:lpstr>
      <vt:lpstr>PowerPoint Presentation</vt:lpstr>
      <vt:lpstr>PowerPoint Presentation</vt:lpstr>
      <vt:lpstr>Social computing in Human Resource Management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Computing</dc:title>
  <dc:creator>SUDIL</dc:creator>
  <cp:lastModifiedBy>Sudil</cp:lastModifiedBy>
  <cp:revision>55</cp:revision>
  <dcterms:created xsi:type="dcterms:W3CDTF">2024-12-24T14:21:20Z</dcterms:created>
  <dcterms:modified xsi:type="dcterms:W3CDTF">2026-08-12T07:17:51Z</dcterms:modified>
</cp:coreProperties>
</file>
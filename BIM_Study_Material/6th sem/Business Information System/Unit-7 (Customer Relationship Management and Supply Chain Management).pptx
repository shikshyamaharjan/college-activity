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82" d="100"/>
          <a:sy n="82" d="100"/>
        </p:scale>
        <p:origin x="48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D122A3C-3192-4F7C-8932-B58D70EE8D73}" type="datetimeFigureOut">
              <a:rPr lang="en-US" smtClean="0"/>
              <a:t>8/1/2025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DEFF9D-8B73-4915-B555-772AEBECDC8C}" type="slidenum">
              <a:rPr lang="en-US" smtClean="0"/>
              <a:t>‹#›</a:t>
            </a:fld>
            <a:endParaRPr lang="en-US"/>
          </a:p>
        </p:txBody>
      </p:sp>
    </p:spTree>
    <p:extLst>
      <p:ext uri="{BB962C8B-B14F-4D97-AF65-F5344CB8AC3E}">
        <p14:creationId xmlns:p14="http://schemas.microsoft.com/office/powerpoint/2010/main" val="26011213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D122A3C-3192-4F7C-8932-B58D70EE8D73}" type="datetimeFigureOut">
              <a:rPr lang="en-US" smtClean="0"/>
              <a:t>8/1/2025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DEFF9D-8B73-4915-B555-772AEBECDC8C}" type="slidenum">
              <a:rPr lang="en-US" smtClean="0"/>
              <a:t>‹#›</a:t>
            </a:fld>
            <a:endParaRPr lang="en-US"/>
          </a:p>
        </p:txBody>
      </p:sp>
    </p:spTree>
    <p:extLst>
      <p:ext uri="{BB962C8B-B14F-4D97-AF65-F5344CB8AC3E}">
        <p14:creationId xmlns:p14="http://schemas.microsoft.com/office/powerpoint/2010/main" val="1353915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D122A3C-3192-4F7C-8932-B58D70EE8D73}" type="datetimeFigureOut">
              <a:rPr lang="en-US" smtClean="0"/>
              <a:t>8/1/2025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DEFF9D-8B73-4915-B555-772AEBECDC8C}" type="slidenum">
              <a:rPr lang="en-US" smtClean="0"/>
              <a:t>‹#›</a:t>
            </a:fld>
            <a:endParaRPr lang="en-US"/>
          </a:p>
        </p:txBody>
      </p:sp>
    </p:spTree>
    <p:extLst>
      <p:ext uri="{BB962C8B-B14F-4D97-AF65-F5344CB8AC3E}">
        <p14:creationId xmlns:p14="http://schemas.microsoft.com/office/powerpoint/2010/main" val="2088599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D122A3C-3192-4F7C-8932-B58D70EE8D73}" type="datetimeFigureOut">
              <a:rPr lang="en-US" smtClean="0"/>
              <a:t>8/1/2025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DEFF9D-8B73-4915-B555-772AEBECDC8C}" type="slidenum">
              <a:rPr lang="en-US" smtClean="0"/>
              <a:t>‹#›</a:t>
            </a:fld>
            <a:endParaRPr lang="en-US"/>
          </a:p>
        </p:txBody>
      </p:sp>
    </p:spTree>
    <p:extLst>
      <p:ext uri="{BB962C8B-B14F-4D97-AF65-F5344CB8AC3E}">
        <p14:creationId xmlns:p14="http://schemas.microsoft.com/office/powerpoint/2010/main" val="39299317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D122A3C-3192-4F7C-8932-B58D70EE8D73}" type="datetimeFigureOut">
              <a:rPr lang="en-US" smtClean="0"/>
              <a:t>8/1/2025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DDEFF9D-8B73-4915-B555-772AEBECDC8C}" type="slidenum">
              <a:rPr lang="en-US" smtClean="0"/>
              <a:t>‹#›</a:t>
            </a:fld>
            <a:endParaRPr lang="en-US"/>
          </a:p>
        </p:txBody>
      </p:sp>
    </p:spTree>
    <p:extLst>
      <p:ext uri="{BB962C8B-B14F-4D97-AF65-F5344CB8AC3E}">
        <p14:creationId xmlns:p14="http://schemas.microsoft.com/office/powerpoint/2010/main" val="4271456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D122A3C-3192-4F7C-8932-B58D70EE8D73}" type="datetimeFigureOut">
              <a:rPr lang="en-US" smtClean="0"/>
              <a:t>8/1/2025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DDEFF9D-8B73-4915-B555-772AEBECDC8C}" type="slidenum">
              <a:rPr lang="en-US" smtClean="0"/>
              <a:t>‹#›</a:t>
            </a:fld>
            <a:endParaRPr lang="en-US"/>
          </a:p>
        </p:txBody>
      </p:sp>
    </p:spTree>
    <p:extLst>
      <p:ext uri="{BB962C8B-B14F-4D97-AF65-F5344CB8AC3E}">
        <p14:creationId xmlns:p14="http://schemas.microsoft.com/office/powerpoint/2010/main" val="31123506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122A3C-3192-4F7C-8932-B58D70EE8D73}" type="datetimeFigureOut">
              <a:rPr lang="en-US" smtClean="0"/>
              <a:t>8/1/2025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DDEFF9D-8B73-4915-B555-772AEBECDC8C}" type="slidenum">
              <a:rPr lang="en-US" smtClean="0"/>
              <a:t>‹#›</a:t>
            </a:fld>
            <a:endParaRPr lang="en-US"/>
          </a:p>
        </p:txBody>
      </p:sp>
    </p:spTree>
    <p:extLst>
      <p:ext uri="{BB962C8B-B14F-4D97-AF65-F5344CB8AC3E}">
        <p14:creationId xmlns:p14="http://schemas.microsoft.com/office/powerpoint/2010/main" val="4074145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D122A3C-3192-4F7C-8932-B58D70EE8D73}" type="datetimeFigureOut">
              <a:rPr lang="en-US" smtClean="0"/>
              <a:t>8/1/2025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DEFF9D-8B73-4915-B555-772AEBECDC8C}" type="slidenum">
              <a:rPr lang="en-US" smtClean="0"/>
              <a:t>‹#›</a:t>
            </a:fld>
            <a:endParaRPr lang="en-US"/>
          </a:p>
        </p:txBody>
      </p:sp>
    </p:spTree>
    <p:extLst>
      <p:ext uri="{BB962C8B-B14F-4D97-AF65-F5344CB8AC3E}">
        <p14:creationId xmlns:p14="http://schemas.microsoft.com/office/powerpoint/2010/main" val="315818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D122A3C-3192-4F7C-8932-B58D70EE8D73}" type="datetimeFigureOut">
              <a:rPr lang="en-US" smtClean="0"/>
              <a:t>8/1/2025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DEFF9D-8B73-4915-B555-772AEBECDC8C}" type="slidenum">
              <a:rPr lang="en-US" smtClean="0"/>
              <a:t>‹#›</a:t>
            </a:fld>
            <a:endParaRPr lang="en-US"/>
          </a:p>
        </p:txBody>
      </p:sp>
    </p:spTree>
    <p:extLst>
      <p:ext uri="{BB962C8B-B14F-4D97-AF65-F5344CB8AC3E}">
        <p14:creationId xmlns:p14="http://schemas.microsoft.com/office/powerpoint/2010/main" val="30948846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D122A3C-3192-4F7C-8932-B58D70EE8D73}" type="datetimeFigureOut">
              <a:rPr lang="en-US" smtClean="0"/>
              <a:t>8/1/2025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DEFF9D-8B73-4915-B555-772AEBECDC8C}" type="slidenum">
              <a:rPr lang="en-US" smtClean="0"/>
              <a:t>‹#›</a:t>
            </a:fld>
            <a:endParaRPr lang="en-US"/>
          </a:p>
        </p:txBody>
      </p:sp>
    </p:spTree>
    <p:extLst>
      <p:ext uri="{BB962C8B-B14F-4D97-AF65-F5344CB8AC3E}">
        <p14:creationId xmlns:p14="http://schemas.microsoft.com/office/powerpoint/2010/main" val="19710802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D122A3C-3192-4F7C-8932-B58D70EE8D73}" type="datetimeFigureOut">
              <a:rPr lang="en-US" smtClean="0"/>
              <a:t>8/1/2025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DEFF9D-8B73-4915-B555-772AEBECDC8C}" type="slidenum">
              <a:rPr lang="en-US" smtClean="0"/>
              <a:t>‹#›</a:t>
            </a:fld>
            <a:endParaRPr lang="en-US"/>
          </a:p>
        </p:txBody>
      </p:sp>
    </p:spTree>
    <p:extLst>
      <p:ext uri="{BB962C8B-B14F-4D97-AF65-F5344CB8AC3E}">
        <p14:creationId xmlns:p14="http://schemas.microsoft.com/office/powerpoint/2010/main" val="3975341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122A3C-3192-4F7C-8932-B58D70EE8D73}" type="datetimeFigureOut">
              <a:rPr lang="en-US" smtClean="0"/>
              <a:t>8/1/2025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DEFF9D-8B73-4915-B555-772AEBECDC8C}" type="slidenum">
              <a:rPr lang="en-US" smtClean="0"/>
              <a:t>‹#›</a:t>
            </a:fld>
            <a:endParaRPr lang="en-US"/>
          </a:p>
        </p:txBody>
      </p:sp>
    </p:spTree>
    <p:extLst>
      <p:ext uri="{BB962C8B-B14F-4D97-AF65-F5344CB8AC3E}">
        <p14:creationId xmlns:p14="http://schemas.microsoft.com/office/powerpoint/2010/main" val="4019063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52624" y="1122363"/>
            <a:ext cx="10086753" cy="2387600"/>
          </a:xfrm>
        </p:spPr>
        <p:txBody>
          <a:bodyPr>
            <a:normAutofit fontScale="90000"/>
          </a:bodyPr>
          <a:lstStyle/>
          <a:p>
            <a:r>
              <a:rPr lang="en-US" b="1" dirty="0"/>
              <a:t>Customer Relationship Management and Supply Chain Management</a:t>
            </a:r>
          </a:p>
        </p:txBody>
      </p:sp>
      <p:sp>
        <p:nvSpPr>
          <p:cNvPr id="3" name="Subtitle 2"/>
          <p:cNvSpPr>
            <a:spLocks noGrp="1"/>
          </p:cNvSpPr>
          <p:nvPr>
            <p:ph type="subTitle" idx="1"/>
          </p:nvPr>
        </p:nvSpPr>
        <p:spPr/>
        <p:txBody>
          <a:bodyPr/>
          <a:lstStyle/>
          <a:p>
            <a:r>
              <a:rPr lang="en-US" dirty="0"/>
              <a:t>Unit-7</a:t>
            </a:r>
          </a:p>
        </p:txBody>
      </p:sp>
    </p:spTree>
    <p:extLst>
      <p:ext uri="{BB962C8B-B14F-4D97-AF65-F5344CB8AC3E}">
        <p14:creationId xmlns:p14="http://schemas.microsoft.com/office/powerpoint/2010/main" val="163267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3733"/>
            <a:ext cx="10515600" cy="793824"/>
          </a:xfrm>
        </p:spPr>
        <p:txBody>
          <a:bodyPr/>
          <a:lstStyle/>
          <a:p>
            <a:r>
              <a:rPr lang="en-US" b="1" dirty="0"/>
              <a:t>Introduction</a:t>
            </a:r>
          </a:p>
        </p:txBody>
      </p:sp>
      <p:sp>
        <p:nvSpPr>
          <p:cNvPr id="3" name="Content Placeholder 2"/>
          <p:cNvSpPr>
            <a:spLocks noGrp="1"/>
          </p:cNvSpPr>
          <p:nvPr>
            <p:ph idx="1"/>
          </p:nvPr>
        </p:nvSpPr>
        <p:spPr>
          <a:xfrm>
            <a:off x="838200" y="1041991"/>
            <a:ext cx="10515600" cy="5348176"/>
          </a:xfrm>
        </p:spPr>
        <p:txBody>
          <a:bodyPr/>
          <a:lstStyle/>
          <a:p>
            <a:r>
              <a:rPr lang="en-US" b="1" dirty="0"/>
              <a:t>Customer</a:t>
            </a:r>
            <a:r>
              <a:rPr lang="en-US" dirty="0"/>
              <a:t> </a:t>
            </a:r>
            <a:r>
              <a:rPr lang="en-US" b="1" dirty="0"/>
              <a:t>Relationship</a:t>
            </a:r>
            <a:r>
              <a:rPr lang="en-US" dirty="0"/>
              <a:t> </a:t>
            </a:r>
            <a:r>
              <a:rPr lang="en-US" b="1" dirty="0"/>
              <a:t>Management (CRM) </a:t>
            </a:r>
            <a:r>
              <a:rPr lang="en-US" dirty="0"/>
              <a:t>and </a:t>
            </a:r>
            <a:r>
              <a:rPr lang="en-US" b="1" dirty="0"/>
              <a:t>Supply Chain Management (SCM)</a:t>
            </a:r>
            <a:r>
              <a:rPr lang="en-US" dirty="0"/>
              <a:t> are crucial business functions that work together to optimize a company’s operations and customer experience. </a:t>
            </a:r>
          </a:p>
          <a:p>
            <a:r>
              <a:rPr lang="en-US" b="1" dirty="0"/>
              <a:t>CRM</a:t>
            </a:r>
            <a:r>
              <a:rPr lang="en-US" dirty="0"/>
              <a:t> focuses on fostering strong relationships with customers throughout their entire journey, from initial awareness to purchase and beyond. </a:t>
            </a:r>
          </a:p>
          <a:p>
            <a:r>
              <a:rPr lang="en-US" dirty="0"/>
              <a:t>It utilizes tools and strategies to attract new customers, fostering existing relationships, increase retention, and ultimately boost the customer’s lifetime value to the business. </a:t>
            </a:r>
          </a:p>
          <a:p>
            <a:r>
              <a:rPr lang="en-US" dirty="0"/>
              <a:t>By providing insightful data on customer behavior and preferences, CRM empowers businesses to make data-driven decisions that enhance customer service, satisfaction, and sales efforts.</a:t>
            </a:r>
          </a:p>
        </p:txBody>
      </p:sp>
    </p:spTree>
    <p:extLst>
      <p:ext uri="{BB962C8B-B14F-4D97-AF65-F5344CB8AC3E}">
        <p14:creationId xmlns:p14="http://schemas.microsoft.com/office/powerpoint/2010/main" val="2520026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31628"/>
            <a:ext cx="10515600" cy="5645335"/>
          </a:xfrm>
        </p:spPr>
        <p:txBody>
          <a:bodyPr>
            <a:normAutofit fontScale="92500"/>
          </a:bodyPr>
          <a:lstStyle/>
          <a:p>
            <a:r>
              <a:rPr lang="en-US" dirty="0"/>
              <a:t>On the other hand, </a:t>
            </a:r>
            <a:r>
              <a:rPr lang="en-US" b="1" dirty="0"/>
              <a:t>Supply Chain Management (SCM) </a:t>
            </a:r>
            <a:r>
              <a:rPr lang="en-US" dirty="0"/>
              <a:t>tackles the efficient flow of goods and services, ensuring a seamless journey from raw materials to the end customer. </a:t>
            </a:r>
          </a:p>
          <a:p>
            <a:r>
              <a:rPr lang="en-US" dirty="0"/>
              <a:t>It encompasses all the activities involved in transforming raw materials into finished products and delivering them to consumers. </a:t>
            </a:r>
          </a:p>
          <a:p>
            <a:r>
              <a:rPr lang="en-US" dirty="0"/>
              <a:t>From sourcing high-quality materials at the best price to planning production schedules and managing logistics, </a:t>
            </a:r>
            <a:r>
              <a:rPr lang="en-US" b="1" dirty="0"/>
              <a:t>SCM</a:t>
            </a:r>
            <a:r>
              <a:rPr lang="en-US" dirty="0"/>
              <a:t> optimizes every step of the supply chain. </a:t>
            </a:r>
          </a:p>
          <a:p>
            <a:r>
              <a:rPr lang="en-US" dirty="0"/>
              <a:t>This translates to reduced costs, improved product quality, faster delivery times, increased customer satisfaction, and the agility needed to respond effectively to market changes. </a:t>
            </a:r>
          </a:p>
          <a:p>
            <a:r>
              <a:rPr lang="en-US" dirty="0"/>
              <a:t>In essence, CRM and SCM work in cycle to create a win-win situation for businesses – by fostering strong customer relationships and streamlining the flow of goods, companies can achieve sustainable growth and success.</a:t>
            </a:r>
          </a:p>
        </p:txBody>
      </p:sp>
    </p:spTree>
    <p:extLst>
      <p:ext uri="{BB962C8B-B14F-4D97-AF65-F5344CB8AC3E}">
        <p14:creationId xmlns:p14="http://schemas.microsoft.com/office/powerpoint/2010/main" val="1548969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1835"/>
            <a:ext cx="10515600" cy="772558"/>
          </a:xfrm>
        </p:spPr>
        <p:txBody>
          <a:bodyPr/>
          <a:lstStyle/>
          <a:p>
            <a:r>
              <a:rPr lang="en-US" b="1" dirty="0"/>
              <a:t>Customer Relationship Management (CRM)</a:t>
            </a:r>
            <a:endParaRPr lang="en-US" dirty="0"/>
          </a:p>
        </p:txBody>
      </p:sp>
      <p:sp>
        <p:nvSpPr>
          <p:cNvPr id="3" name="Content Placeholder 2"/>
          <p:cNvSpPr>
            <a:spLocks noGrp="1"/>
          </p:cNvSpPr>
          <p:nvPr>
            <p:ph idx="1"/>
          </p:nvPr>
        </p:nvSpPr>
        <p:spPr>
          <a:xfrm>
            <a:off x="838200" y="988828"/>
            <a:ext cx="10515600" cy="5645888"/>
          </a:xfrm>
        </p:spPr>
        <p:txBody>
          <a:bodyPr>
            <a:normAutofit fontScale="92500" lnSpcReduction="20000"/>
          </a:bodyPr>
          <a:lstStyle/>
          <a:p>
            <a:r>
              <a:rPr lang="en-US" b="1" dirty="0"/>
              <a:t>Customer Relationship Management (CRM) </a:t>
            </a:r>
            <a:r>
              <a:rPr lang="en-US" dirty="0"/>
              <a:t>is a strategy used to learn more about customers’ needs and behaviors to develop stronger relationships with them. </a:t>
            </a:r>
          </a:p>
          <a:p>
            <a:r>
              <a:rPr lang="en-US" dirty="0"/>
              <a:t>It is a methodology of managing a company’s interaction with current and future customers. </a:t>
            </a:r>
          </a:p>
          <a:p>
            <a:r>
              <a:rPr lang="en-US" b="1" dirty="0"/>
              <a:t>CRM</a:t>
            </a:r>
            <a:r>
              <a:rPr lang="en-US" dirty="0"/>
              <a:t> often involves using technology to organize, automate, and synchronize sales, marketing, customer service, and technical support. </a:t>
            </a:r>
          </a:p>
          <a:p>
            <a:r>
              <a:rPr lang="en-US" dirty="0"/>
              <a:t>It manages and analyzes customer interactions and data throughout the customer lifecycle, with the goal of improving business growth. </a:t>
            </a:r>
          </a:p>
          <a:p>
            <a:r>
              <a:rPr lang="en-US" dirty="0"/>
              <a:t>The phrase ‘</a:t>
            </a:r>
            <a:r>
              <a:rPr lang="en-US" b="1" dirty="0"/>
              <a:t>Customer Relationship Management</a:t>
            </a:r>
            <a:r>
              <a:rPr lang="en-US" dirty="0"/>
              <a:t>’ is commonly used to describe a business-customer relationship (B2C) as well as to manage business to business to business (B2B) relationships. </a:t>
            </a:r>
          </a:p>
          <a:p>
            <a:r>
              <a:rPr lang="en-US" dirty="0"/>
              <a:t>Good customer relationships are at the heart of business success. </a:t>
            </a:r>
          </a:p>
          <a:p>
            <a:r>
              <a:rPr lang="en-US" dirty="0"/>
              <a:t>Business firm needs to view </a:t>
            </a:r>
            <a:r>
              <a:rPr lang="en-US" b="1" dirty="0"/>
              <a:t>CRM</a:t>
            </a:r>
            <a:r>
              <a:rPr lang="en-US" dirty="0"/>
              <a:t> as a strategic process, which will help them, better understand the customers’ needs and how the firm can meet those needs.</a:t>
            </a:r>
          </a:p>
        </p:txBody>
      </p:sp>
    </p:spTree>
    <p:extLst>
      <p:ext uri="{BB962C8B-B14F-4D97-AF65-F5344CB8AC3E}">
        <p14:creationId xmlns:p14="http://schemas.microsoft.com/office/powerpoint/2010/main" val="26433172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89098"/>
            <a:ext cx="10515600" cy="5687865"/>
          </a:xfrm>
        </p:spPr>
        <p:txBody>
          <a:bodyPr/>
          <a:lstStyle/>
          <a:p>
            <a:r>
              <a:rPr lang="en-US" i="1" dirty="0"/>
              <a:t>“How you gather, manage, and use information will determine whether you win or lose. - Bill Gates</a:t>
            </a:r>
          </a:p>
          <a:p>
            <a:r>
              <a:rPr lang="en-US" dirty="0"/>
              <a:t>In a business firm following conventional technique, an active sales team generates a flood of data, which can be by talking to customers on the road, meeting prospects and finding out valuable information. </a:t>
            </a:r>
          </a:p>
          <a:p>
            <a:r>
              <a:rPr lang="en-US" dirty="0"/>
              <a:t>All those information gets stored in handwritten notes, laptops, or inside the heads of the salespeople. </a:t>
            </a:r>
          </a:p>
          <a:p>
            <a:r>
              <a:rPr lang="en-US" dirty="0"/>
              <a:t>In such a scenario detail can get lost, meetings are not followed up promptly and prioritizing customers can be a matter of guesswork rather than a hard exercise based on fact. </a:t>
            </a:r>
            <a:br>
              <a:rPr lang="en-US" dirty="0"/>
            </a:br>
            <a:endParaRPr lang="en-US" dirty="0"/>
          </a:p>
        </p:txBody>
      </p:sp>
    </p:spTree>
    <p:extLst>
      <p:ext uri="{BB962C8B-B14F-4D97-AF65-F5344CB8AC3E}">
        <p14:creationId xmlns:p14="http://schemas.microsoft.com/office/powerpoint/2010/main" val="6426494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01749"/>
            <a:ext cx="10515600" cy="5475214"/>
          </a:xfrm>
        </p:spPr>
        <p:txBody>
          <a:bodyPr/>
          <a:lstStyle/>
          <a:p>
            <a:r>
              <a:rPr lang="en-US" dirty="0"/>
              <a:t>Likewise, customers may be contacting the business firm on a range of different platforms — phone, email, or social media. </a:t>
            </a:r>
          </a:p>
          <a:p>
            <a:r>
              <a:rPr lang="en-US" dirty="0"/>
              <a:t>Asking questions, following up on orders or may be complaining. </a:t>
            </a:r>
          </a:p>
          <a:p>
            <a:r>
              <a:rPr lang="en-US" dirty="0"/>
              <a:t>Without a common platform for customer interactions, communications can be missed or lost in the flood of information — leading to an unsatisfactory response to the valuable customers. </a:t>
            </a:r>
          </a:p>
          <a:p>
            <a:r>
              <a:rPr lang="en-US" dirty="0"/>
              <a:t>In the traditional way it can be very difficult to extract intelligence.</a:t>
            </a:r>
          </a:p>
          <a:p>
            <a:r>
              <a:rPr lang="en-US" dirty="0"/>
              <a:t>Reports can be hard to create and time consuming, which waste valuable selling time. </a:t>
            </a:r>
          </a:p>
          <a:p>
            <a:r>
              <a:rPr lang="en-US" dirty="0"/>
              <a:t>To overcome such problems of conventional approach of doing business, </a:t>
            </a:r>
            <a:r>
              <a:rPr lang="en-US" b="1" dirty="0"/>
              <a:t>CRM</a:t>
            </a:r>
            <a:r>
              <a:rPr lang="en-US" dirty="0"/>
              <a:t> systems came into existence as the part of an IS.</a:t>
            </a:r>
            <a:br>
              <a:rPr lang="en-US" dirty="0"/>
            </a:br>
            <a:endParaRPr lang="en-US" dirty="0"/>
          </a:p>
        </p:txBody>
      </p:sp>
    </p:spTree>
    <p:extLst>
      <p:ext uri="{BB962C8B-B14F-4D97-AF65-F5344CB8AC3E}">
        <p14:creationId xmlns:p14="http://schemas.microsoft.com/office/powerpoint/2010/main" val="3639218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2772"/>
            <a:ext cx="10515600" cy="6198781"/>
          </a:xfrm>
        </p:spPr>
        <p:txBody>
          <a:bodyPr>
            <a:normAutofit fontScale="92500" lnSpcReduction="10000"/>
          </a:bodyPr>
          <a:lstStyle/>
          <a:p>
            <a:r>
              <a:rPr lang="en-US" b="1" dirty="0"/>
              <a:t>CRM</a:t>
            </a:r>
            <a:r>
              <a:rPr lang="en-US" dirty="0"/>
              <a:t> Systems are fast becoming a significant competitive strategy for managing interactions with customers, sales prospects, and suppliers.</a:t>
            </a:r>
          </a:p>
          <a:p>
            <a:r>
              <a:rPr lang="en-US" dirty="0"/>
              <a:t>The </a:t>
            </a:r>
            <a:r>
              <a:rPr lang="en-US" b="1" dirty="0"/>
              <a:t>CRM</a:t>
            </a:r>
            <a:r>
              <a:rPr lang="en-US" dirty="0"/>
              <a:t> strategy allows to - understand the customer, retain customers through better customer experience, attract new customers, win new clients and contracts, increase profitably, and decrease customer management costs. </a:t>
            </a:r>
          </a:p>
          <a:p>
            <a:r>
              <a:rPr lang="en-US" dirty="0"/>
              <a:t>Well build </a:t>
            </a:r>
            <a:r>
              <a:rPr lang="en-US" b="1" dirty="0"/>
              <a:t>CRM</a:t>
            </a:r>
            <a:r>
              <a:rPr lang="en-US" dirty="0"/>
              <a:t> system will help a business attract, and win new customers, retain those the company already has, as well as reduce the costs of marketing and customer service. </a:t>
            </a:r>
          </a:p>
          <a:p>
            <a:r>
              <a:rPr lang="en-US" dirty="0"/>
              <a:t>The system also automates various workflow processes such as tasks, calendars, and alerts. </a:t>
            </a:r>
          </a:p>
          <a:p>
            <a:r>
              <a:rPr lang="en-US" dirty="0"/>
              <a:t>A </a:t>
            </a:r>
            <a:r>
              <a:rPr lang="en-US" b="1" dirty="0"/>
              <a:t>CRM </a:t>
            </a:r>
            <a:r>
              <a:rPr lang="en-US" dirty="0"/>
              <a:t>System views organization’s interaction with its stakeholders is an enterprise-wide manner and compiles information across different channels - which could include the company’s website, telephone, live chat, direct mail, marketing materials and social media. </a:t>
            </a:r>
          </a:p>
          <a:p>
            <a:r>
              <a:rPr lang="en-US" b="1" dirty="0"/>
              <a:t>CRM</a:t>
            </a:r>
            <a:r>
              <a:rPr lang="en-US" dirty="0"/>
              <a:t> systems also give detailed report on customers’ personal information, purchase history, buying preferences etc.</a:t>
            </a:r>
          </a:p>
        </p:txBody>
      </p:sp>
    </p:spTree>
    <p:extLst>
      <p:ext uri="{BB962C8B-B14F-4D97-AF65-F5344CB8AC3E}">
        <p14:creationId xmlns:p14="http://schemas.microsoft.com/office/powerpoint/2010/main" val="11454670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23014"/>
            <a:ext cx="10515600" cy="5453949"/>
          </a:xfrm>
        </p:spPr>
        <p:txBody>
          <a:bodyPr/>
          <a:lstStyle/>
          <a:p>
            <a:r>
              <a:rPr lang="en-US" dirty="0"/>
              <a:t>An effective </a:t>
            </a:r>
            <a:r>
              <a:rPr lang="en-US" b="1" dirty="0"/>
              <a:t>CRM</a:t>
            </a:r>
            <a:r>
              <a:rPr lang="en-US" dirty="0"/>
              <a:t> System contains complete and consistent customer information. </a:t>
            </a:r>
          </a:p>
          <a:p>
            <a:r>
              <a:rPr lang="en-US" dirty="0"/>
              <a:t>Thus, in such systems, sales and marketing are tightly integrated. </a:t>
            </a:r>
          </a:p>
          <a:p>
            <a:r>
              <a:rPr lang="en-US" b="1" dirty="0"/>
              <a:t>CRM</a:t>
            </a:r>
            <a:r>
              <a:rPr lang="en-US" dirty="0"/>
              <a:t> allows customer services to manage customer relationships and meet their expectations without any delay, so a true </a:t>
            </a:r>
            <a:r>
              <a:rPr lang="en-US" b="1" dirty="0"/>
              <a:t>CRM</a:t>
            </a:r>
            <a:r>
              <a:rPr lang="en-US" dirty="0"/>
              <a:t> system provides anywhere, anytime accessible to the whole organization.</a:t>
            </a:r>
          </a:p>
          <a:p>
            <a:pPr marL="0" indent="0">
              <a:buNone/>
            </a:pPr>
            <a:br>
              <a:rPr lang="en-US" dirty="0"/>
            </a:br>
            <a:endParaRPr lang="en-US" dirty="0"/>
          </a:p>
          <a:p>
            <a:r>
              <a:rPr lang="en-US" b="1" dirty="0"/>
              <a:t>The four main vendors of CRM systems are Salesforce.com, Microsoft, SAP, and Oracle, which are popular choice of large corporations.</a:t>
            </a:r>
          </a:p>
        </p:txBody>
      </p:sp>
    </p:spTree>
    <p:extLst>
      <p:ext uri="{BB962C8B-B14F-4D97-AF65-F5344CB8AC3E}">
        <p14:creationId xmlns:p14="http://schemas.microsoft.com/office/powerpoint/2010/main" val="1913027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09206"/>
            <a:ext cx="10515600" cy="4351338"/>
          </a:xfrm>
        </p:spPr>
        <p:txBody>
          <a:bodyPr>
            <a:normAutofit/>
          </a:bodyPr>
          <a:lstStyle/>
          <a:p>
            <a:r>
              <a:rPr lang="en-US" dirty="0"/>
              <a:t>People in the organization may mistake implementing </a:t>
            </a:r>
            <a:r>
              <a:rPr lang="en-US" b="1" dirty="0"/>
              <a:t>CRM</a:t>
            </a:r>
            <a:r>
              <a:rPr lang="en-US" dirty="0"/>
              <a:t> to simply mean installing normal ‘software’ but its far complex than that. </a:t>
            </a:r>
          </a:p>
          <a:p>
            <a:r>
              <a:rPr lang="en-US" dirty="0"/>
              <a:t>If company chooses to implement on premises </a:t>
            </a:r>
            <a:r>
              <a:rPr lang="en-US" b="1" dirty="0"/>
              <a:t>CRM</a:t>
            </a:r>
            <a:r>
              <a:rPr lang="en-US" dirty="0"/>
              <a:t>, they need to take the responsibility of administration, control, security and maintenance of the database and information. </a:t>
            </a:r>
          </a:p>
          <a:p>
            <a:r>
              <a:rPr lang="en-US" dirty="0"/>
              <a:t>In such approach the company purchase licenses of </a:t>
            </a:r>
            <a:r>
              <a:rPr lang="en-US" b="1" dirty="0"/>
              <a:t>CRM</a:t>
            </a:r>
            <a:r>
              <a:rPr lang="en-US" dirty="0"/>
              <a:t> system form the appropriate vendor. </a:t>
            </a:r>
          </a:p>
          <a:p>
            <a:r>
              <a:rPr lang="en-US" dirty="0"/>
              <a:t>The system resides on the company's own servers and usually requires a lengthened installation process to fully integrate a</a:t>
            </a:r>
            <a:br>
              <a:rPr lang="en-US" dirty="0"/>
            </a:br>
            <a:r>
              <a:rPr lang="en-US" dirty="0"/>
              <a:t>company's overall data.</a:t>
            </a:r>
          </a:p>
        </p:txBody>
      </p:sp>
    </p:spTree>
    <p:extLst>
      <p:ext uri="{BB962C8B-B14F-4D97-AF65-F5344CB8AC3E}">
        <p14:creationId xmlns:p14="http://schemas.microsoft.com/office/powerpoint/2010/main" val="128357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06056"/>
            <a:ext cx="10515600" cy="5570907"/>
          </a:xfrm>
        </p:spPr>
        <p:txBody>
          <a:bodyPr>
            <a:normAutofit fontScale="92500" lnSpcReduction="10000"/>
          </a:bodyPr>
          <a:lstStyle/>
          <a:p>
            <a:r>
              <a:rPr lang="en-US" dirty="0"/>
              <a:t>The most significant recent development in </a:t>
            </a:r>
            <a:r>
              <a:rPr lang="en-US" b="1" dirty="0"/>
              <a:t>CRM</a:t>
            </a:r>
            <a:r>
              <a:rPr lang="en-US" dirty="0"/>
              <a:t> systems has been the move into the cloud, which is also known as </a:t>
            </a:r>
            <a:r>
              <a:rPr lang="en-US" b="1" dirty="0"/>
              <a:t>SaaS (software-as-a-service).</a:t>
            </a:r>
          </a:p>
          <a:p>
            <a:r>
              <a:rPr lang="en-US" dirty="0"/>
              <a:t>That makes it easy for business firms to install and maintain the system. </a:t>
            </a:r>
          </a:p>
          <a:p>
            <a:r>
              <a:rPr lang="en-US" dirty="0"/>
              <a:t>They don't need their own costly servers but just pay a monthly subscription fee to get access to </a:t>
            </a:r>
            <a:r>
              <a:rPr lang="en-US" b="1" dirty="0"/>
              <a:t>CRM</a:t>
            </a:r>
            <a:r>
              <a:rPr lang="en-US" dirty="0"/>
              <a:t> in web browser. </a:t>
            </a:r>
          </a:p>
          <a:p>
            <a:r>
              <a:rPr lang="en-US" dirty="0"/>
              <a:t>Organizations are discovering the benefits of moving data, software, and services into a secure online environment. </a:t>
            </a:r>
          </a:p>
          <a:p>
            <a:r>
              <a:rPr lang="en-US" b="1" dirty="0"/>
              <a:t>Cloud-based CRM </a:t>
            </a:r>
            <a:r>
              <a:rPr lang="en-US" dirty="0"/>
              <a:t>systems ensure that every user has the same information, all the time. </a:t>
            </a:r>
          </a:p>
          <a:p>
            <a:r>
              <a:rPr lang="en-US" dirty="0"/>
              <a:t>As it uses central data warehouse, same information is available to anyone</a:t>
            </a:r>
            <a:br>
              <a:rPr lang="en-US" dirty="0"/>
            </a:br>
            <a:r>
              <a:rPr lang="en-US" dirty="0"/>
              <a:t>who needs it. </a:t>
            </a:r>
          </a:p>
          <a:p>
            <a:r>
              <a:rPr lang="en-US" dirty="0"/>
              <a:t>Data security is a primary concern for companies using a cloud-based system since the company doesn't physically control the storage and maintenance of its data. </a:t>
            </a:r>
          </a:p>
        </p:txBody>
      </p:sp>
    </p:spTree>
    <p:extLst>
      <p:ext uri="{BB962C8B-B14F-4D97-AF65-F5344CB8AC3E}">
        <p14:creationId xmlns:p14="http://schemas.microsoft.com/office/powerpoint/2010/main" val="3210241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59219"/>
            <a:ext cx="10515600" cy="5517744"/>
          </a:xfrm>
        </p:spPr>
        <p:txBody>
          <a:bodyPr>
            <a:normAutofit/>
          </a:bodyPr>
          <a:lstStyle/>
          <a:p>
            <a:r>
              <a:rPr lang="en-US" dirty="0"/>
              <a:t>If the cloud provider goes out of business or is acquired by another company, a company's data can be compromised or lost. </a:t>
            </a:r>
          </a:p>
          <a:p>
            <a:r>
              <a:rPr lang="en-US" dirty="0"/>
              <a:t>Compatibility issues can also arise when data is initially migrated from a company's previous system to the cloud. </a:t>
            </a:r>
          </a:p>
          <a:p>
            <a:r>
              <a:rPr lang="en-US" dirty="0"/>
              <a:t>Besides those two options, </a:t>
            </a:r>
            <a:r>
              <a:rPr lang="en-US" b="1" dirty="0"/>
              <a:t>open- source CRM </a:t>
            </a:r>
            <a:r>
              <a:rPr lang="en-US" dirty="0"/>
              <a:t>can also be the best option for the business firm searching for low-cost option.</a:t>
            </a:r>
          </a:p>
          <a:p>
            <a:r>
              <a:rPr lang="en-US" dirty="0"/>
              <a:t>As the source code is available, IT team of the business firms can make addition and customization with comparatively low. </a:t>
            </a:r>
          </a:p>
          <a:p>
            <a:r>
              <a:rPr lang="en-US" b="1" dirty="0"/>
              <a:t>Sugar CRM, </a:t>
            </a:r>
            <a:r>
              <a:rPr lang="en-US" b="1" dirty="0" err="1"/>
              <a:t>vTiger</a:t>
            </a:r>
            <a:r>
              <a:rPr lang="en-US" b="1" dirty="0"/>
              <a:t> CRM, </a:t>
            </a:r>
            <a:r>
              <a:rPr lang="en-US" b="1" dirty="0" err="1"/>
              <a:t>SplendidCRM</a:t>
            </a:r>
            <a:r>
              <a:rPr lang="en-US" b="1" dirty="0"/>
              <a:t>, </a:t>
            </a:r>
            <a:r>
              <a:rPr lang="en-US" b="1" dirty="0" err="1"/>
              <a:t>Xtuple</a:t>
            </a:r>
            <a:r>
              <a:rPr lang="en-US" b="1" dirty="0"/>
              <a:t> </a:t>
            </a:r>
            <a:r>
              <a:rPr lang="en-US" dirty="0"/>
              <a:t>etc. are popular choices in the open-source market.</a:t>
            </a:r>
            <a:br>
              <a:rPr lang="en-US" dirty="0"/>
            </a:br>
            <a:endParaRPr lang="en-US" dirty="0"/>
          </a:p>
        </p:txBody>
      </p:sp>
    </p:spTree>
    <p:extLst>
      <p:ext uri="{BB962C8B-B14F-4D97-AF65-F5344CB8AC3E}">
        <p14:creationId xmlns:p14="http://schemas.microsoft.com/office/powerpoint/2010/main" val="3719786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06056"/>
            <a:ext cx="10515600" cy="5858539"/>
          </a:xfrm>
        </p:spPr>
        <p:txBody>
          <a:bodyPr>
            <a:normAutofit fontScale="92500" lnSpcReduction="10000"/>
          </a:bodyPr>
          <a:lstStyle/>
          <a:p>
            <a:r>
              <a:rPr lang="en-US" dirty="0"/>
              <a:t>As the Internet and related technologies are progressing in a rapid manner business firms as well as customers are concerned over the privacy and safety of their information, for that reason the business firms need to consider security as one of major requirement along with their business needs. </a:t>
            </a:r>
          </a:p>
          <a:p>
            <a:r>
              <a:rPr lang="en-US" dirty="0"/>
              <a:t>Businesses need to make sure that the storage and analysis of the</a:t>
            </a:r>
            <a:br>
              <a:rPr lang="en-US" dirty="0"/>
            </a:br>
            <a:r>
              <a:rPr lang="en-US" dirty="0"/>
              <a:t>data must have the highest levels of protection against cyber criminals, identity theft and other breaches of securities.</a:t>
            </a:r>
          </a:p>
          <a:p>
            <a:r>
              <a:rPr lang="en-US" dirty="0"/>
              <a:t>Successful implementation of </a:t>
            </a:r>
            <a:r>
              <a:rPr lang="en-US" b="1" dirty="0"/>
              <a:t>CRM</a:t>
            </a:r>
            <a:r>
              <a:rPr lang="en-US" dirty="0"/>
              <a:t> will give huge benefits to any organization, but its successful implementation is a serious challenge. </a:t>
            </a:r>
          </a:p>
          <a:p>
            <a:r>
              <a:rPr lang="en-US" dirty="0"/>
              <a:t>The implementation procedure combines the technicalities of business process analysis with process automation. </a:t>
            </a:r>
          </a:p>
          <a:p>
            <a:r>
              <a:rPr lang="en-US" dirty="0"/>
              <a:t>Commitment needs to come from the executive level of management, and they should take CRM system as a key part of meeting organization's goals and objectives.</a:t>
            </a:r>
            <a:br>
              <a:rPr lang="en-US" dirty="0"/>
            </a:br>
            <a:endParaRPr lang="en-US" dirty="0"/>
          </a:p>
        </p:txBody>
      </p:sp>
    </p:spTree>
    <p:extLst>
      <p:ext uri="{BB962C8B-B14F-4D97-AF65-F5344CB8AC3E}">
        <p14:creationId xmlns:p14="http://schemas.microsoft.com/office/powerpoint/2010/main" val="1207748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Benefits of CRM Systems include:</a:t>
            </a:r>
            <a:endParaRPr lang="en-US" dirty="0"/>
          </a:p>
        </p:txBody>
      </p:sp>
      <p:sp>
        <p:nvSpPr>
          <p:cNvPr id="3" name="Content Placeholder 2"/>
          <p:cNvSpPr>
            <a:spLocks noGrp="1"/>
          </p:cNvSpPr>
          <p:nvPr>
            <p:ph idx="1"/>
          </p:nvPr>
        </p:nvSpPr>
        <p:spPr/>
        <p:txBody>
          <a:bodyPr>
            <a:normAutofit lnSpcReduction="10000"/>
          </a:bodyPr>
          <a:lstStyle/>
          <a:p>
            <a:r>
              <a:rPr lang="en-US" dirty="0"/>
              <a:t>Complete control of the sales pipeline by empowering sales teams to effectively manage, forecast and report on all phases of the sales cycle.</a:t>
            </a:r>
          </a:p>
          <a:p>
            <a:r>
              <a:rPr lang="en-US" dirty="0"/>
              <a:t>Ensuring satisfaction in customer interactions and even allowing customers- controlled access.</a:t>
            </a:r>
          </a:p>
          <a:p>
            <a:r>
              <a:rPr lang="en-US" dirty="0"/>
              <a:t>Automating, tracking, and analyzing every marketing campaign, from one-time email communications to multi-faceted marketing programs.</a:t>
            </a:r>
          </a:p>
          <a:p>
            <a:r>
              <a:rPr lang="en-US" dirty="0"/>
              <a:t>All the clients' information is stored in one place, it's easy to update and share with the whole team.</a:t>
            </a:r>
            <a:br>
              <a:rPr lang="en-US" dirty="0"/>
            </a:br>
            <a:endParaRPr lang="en-US" dirty="0"/>
          </a:p>
        </p:txBody>
      </p:sp>
    </p:spTree>
    <p:extLst>
      <p:ext uri="{BB962C8B-B14F-4D97-AF65-F5344CB8AC3E}">
        <p14:creationId xmlns:p14="http://schemas.microsoft.com/office/powerpoint/2010/main" val="1009386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01749"/>
            <a:ext cx="10515600" cy="5475214"/>
          </a:xfrm>
        </p:spPr>
        <p:txBody>
          <a:bodyPr/>
          <a:lstStyle/>
          <a:p>
            <a:r>
              <a:rPr lang="en-US" dirty="0"/>
              <a:t>Every member of the team will be able to see the exact point when the business firm last communicated with a client, and what the nature of that communication was.</a:t>
            </a:r>
          </a:p>
          <a:p>
            <a:r>
              <a:rPr lang="en-US" b="1" dirty="0"/>
              <a:t>CRM</a:t>
            </a:r>
            <a:r>
              <a:rPr lang="en-US" dirty="0"/>
              <a:t>s can give instant metrics on various aspects of your business</a:t>
            </a:r>
            <a:br>
              <a:rPr lang="en-US" dirty="0"/>
            </a:br>
            <a:r>
              <a:rPr lang="en-US" dirty="0"/>
              <a:t>automatically.</a:t>
            </a:r>
          </a:p>
          <a:p>
            <a:r>
              <a:rPr lang="en-US" dirty="0"/>
              <a:t>Reports can be easily generated, which can be used to forecast and plan.</a:t>
            </a:r>
          </a:p>
          <a:p>
            <a:r>
              <a:rPr lang="en-US" dirty="0"/>
              <a:t>Calendars and diaries can be integrated, relating important events or tasks with the relevant client.</a:t>
            </a:r>
          </a:p>
          <a:p>
            <a:r>
              <a:rPr lang="en-US" dirty="0"/>
              <a:t>Suitable times can be suggested to contact customers and set reminders.</a:t>
            </a:r>
          </a:p>
        </p:txBody>
      </p:sp>
    </p:spTree>
    <p:extLst>
      <p:ext uri="{BB962C8B-B14F-4D97-AF65-F5344CB8AC3E}">
        <p14:creationId xmlns:p14="http://schemas.microsoft.com/office/powerpoint/2010/main" val="692936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78884"/>
          </a:xfrm>
        </p:spPr>
        <p:txBody>
          <a:bodyPr/>
          <a:lstStyle/>
          <a:p>
            <a:r>
              <a:rPr lang="en-US" b="1" dirty="0"/>
              <a:t>Features of CRM software</a:t>
            </a:r>
            <a:endParaRPr lang="en-US" dirty="0"/>
          </a:p>
        </p:txBody>
      </p:sp>
      <p:sp>
        <p:nvSpPr>
          <p:cNvPr id="3" name="Content Placeholder 2"/>
          <p:cNvSpPr>
            <a:spLocks noGrp="1"/>
          </p:cNvSpPr>
          <p:nvPr>
            <p:ph idx="1"/>
          </p:nvPr>
        </p:nvSpPr>
        <p:spPr>
          <a:xfrm>
            <a:off x="838200" y="1382233"/>
            <a:ext cx="10515600" cy="4794730"/>
          </a:xfrm>
        </p:spPr>
        <p:txBody>
          <a:bodyPr>
            <a:normAutofit/>
          </a:bodyPr>
          <a:lstStyle/>
          <a:p>
            <a:r>
              <a:rPr lang="en-US" b="1" dirty="0"/>
              <a:t>Marketing Automation: </a:t>
            </a:r>
          </a:p>
          <a:p>
            <a:pPr lvl="1"/>
            <a:r>
              <a:rPr lang="en-US" b="1" dirty="0"/>
              <a:t>CRM</a:t>
            </a:r>
            <a:r>
              <a:rPr lang="en-US" dirty="0"/>
              <a:t> tools with marketing automation capabilities can automate repetitive tasks to enhance marketing efforts to customers at different points in the lifecycle. </a:t>
            </a:r>
          </a:p>
          <a:p>
            <a:pPr lvl="1"/>
            <a:r>
              <a:rPr lang="en-US" dirty="0"/>
              <a:t>For example, as sales prospects come into the system, the system might automatically send marketing materials, via email or social media.</a:t>
            </a:r>
          </a:p>
          <a:p>
            <a:r>
              <a:rPr lang="en-US" b="1" dirty="0"/>
              <a:t>Sales Force Automation: </a:t>
            </a:r>
          </a:p>
          <a:p>
            <a:pPr lvl="1"/>
            <a:r>
              <a:rPr lang="en-US" dirty="0"/>
              <a:t>Sales force automation is meant to prevent duplicate efforts between a salesperson and a customer. </a:t>
            </a:r>
          </a:p>
          <a:p>
            <a:pPr lvl="1"/>
            <a:r>
              <a:rPr lang="en-US" dirty="0"/>
              <a:t>A </a:t>
            </a:r>
            <a:r>
              <a:rPr lang="en-US" b="1" dirty="0"/>
              <a:t>CRM</a:t>
            </a:r>
            <a:r>
              <a:rPr lang="en-US" dirty="0"/>
              <a:t> system can help achieve this by automatically tracking all contact and follow-ups between both sides.</a:t>
            </a:r>
            <a:br>
              <a:rPr lang="en-US" dirty="0"/>
            </a:br>
            <a:endParaRPr lang="en-US" dirty="0"/>
          </a:p>
        </p:txBody>
      </p:sp>
    </p:spTree>
    <p:extLst>
      <p:ext uri="{BB962C8B-B14F-4D97-AF65-F5344CB8AC3E}">
        <p14:creationId xmlns:p14="http://schemas.microsoft.com/office/powerpoint/2010/main" val="30337436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86808"/>
            <a:ext cx="10515600" cy="5401341"/>
          </a:xfrm>
        </p:spPr>
        <p:txBody>
          <a:bodyPr>
            <a:normAutofit/>
          </a:bodyPr>
          <a:lstStyle/>
          <a:p>
            <a:r>
              <a:rPr lang="en-US" b="1" dirty="0"/>
              <a:t>Contact Center Automation: </a:t>
            </a:r>
          </a:p>
          <a:p>
            <a:pPr lvl="1"/>
            <a:r>
              <a:rPr lang="en-US" dirty="0"/>
              <a:t>Designed to reduce tedious aspects of a contact center agent's job, contact center automation might include pre-recorded audio that assists in customer problem-solving and information dissemination.</a:t>
            </a:r>
          </a:p>
          <a:p>
            <a:pPr lvl="1"/>
            <a:r>
              <a:rPr lang="en-US" dirty="0"/>
              <a:t>Various software tools that integrate with the agent's desktop tools can handle customer requests to cut down the time of calls and simplify customer service processes.</a:t>
            </a:r>
          </a:p>
          <a:p>
            <a:r>
              <a:rPr lang="en-US" b="1" dirty="0"/>
              <a:t>Location-based Services: </a:t>
            </a:r>
          </a:p>
          <a:p>
            <a:pPr lvl="1"/>
            <a:r>
              <a:rPr lang="en-US" dirty="0"/>
              <a:t>Some </a:t>
            </a:r>
            <a:r>
              <a:rPr lang="en-US" b="1" dirty="0"/>
              <a:t>CRM</a:t>
            </a:r>
            <a:r>
              <a:rPr lang="en-US" dirty="0"/>
              <a:t> systems include technology that can create geographic marketing campaigns based on customers' physical locations, sometimes integrating with popular location-based GPS apps. </a:t>
            </a:r>
          </a:p>
          <a:p>
            <a:pPr lvl="1"/>
            <a:r>
              <a:rPr lang="en-US" dirty="0"/>
              <a:t>Location-based services can also be used as a networking or contact management tool to find sales prospects based on location.</a:t>
            </a:r>
          </a:p>
        </p:txBody>
      </p:sp>
    </p:spTree>
    <p:extLst>
      <p:ext uri="{BB962C8B-B14F-4D97-AF65-F5344CB8AC3E}">
        <p14:creationId xmlns:p14="http://schemas.microsoft.com/office/powerpoint/2010/main" val="412926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9429"/>
            <a:ext cx="10515600" cy="995842"/>
          </a:xfrm>
        </p:spPr>
        <p:txBody>
          <a:bodyPr/>
          <a:lstStyle/>
          <a:p>
            <a:r>
              <a:rPr lang="en-US" b="1" dirty="0"/>
              <a:t>Social and Mobile CRM</a:t>
            </a:r>
            <a:endParaRPr lang="en-US" dirty="0"/>
          </a:p>
        </p:txBody>
      </p:sp>
      <p:sp>
        <p:nvSpPr>
          <p:cNvPr id="3" name="Content Placeholder 2"/>
          <p:cNvSpPr>
            <a:spLocks noGrp="1"/>
          </p:cNvSpPr>
          <p:nvPr>
            <p:ph idx="1"/>
          </p:nvPr>
        </p:nvSpPr>
        <p:spPr>
          <a:xfrm>
            <a:off x="838200" y="1456660"/>
            <a:ext cx="10515600" cy="4976037"/>
          </a:xfrm>
        </p:spPr>
        <p:txBody>
          <a:bodyPr>
            <a:normAutofit fontScale="92500"/>
          </a:bodyPr>
          <a:lstStyle/>
          <a:p>
            <a:r>
              <a:rPr lang="en-US" dirty="0"/>
              <a:t>After the arrival of social media and the exponential growth curve of use of smart phones has caused </a:t>
            </a:r>
            <a:r>
              <a:rPr lang="en-US" b="1" dirty="0"/>
              <a:t>CRM</a:t>
            </a:r>
            <a:r>
              <a:rPr lang="en-US" dirty="0"/>
              <a:t> vendors to upgrade existing offerings of the system to add new features to the customers who use these technologies. </a:t>
            </a:r>
          </a:p>
          <a:p>
            <a:r>
              <a:rPr lang="en-US" dirty="0"/>
              <a:t>Social media </a:t>
            </a:r>
            <a:r>
              <a:rPr lang="en-US" b="1" dirty="0"/>
              <a:t>CRM</a:t>
            </a:r>
            <a:r>
              <a:rPr lang="en-US" dirty="0"/>
              <a:t> refers to the businesses which engages their customers through different social media platforms such as Facebook, X (formerly Twitter), LinkedIn etc. </a:t>
            </a:r>
          </a:p>
          <a:p>
            <a:r>
              <a:rPr lang="en-US" dirty="0"/>
              <a:t>Such social media is open forum for customers and other stakeholders to share experiences with a brand. </a:t>
            </a:r>
          </a:p>
          <a:p>
            <a:r>
              <a:rPr lang="en-US" dirty="0"/>
              <a:t>They may share the complaints about the product or appreciate the products; no matter what, the business will know the customer’s view. </a:t>
            </a:r>
          </a:p>
          <a:p>
            <a:r>
              <a:rPr lang="en-US" dirty="0"/>
              <a:t>Companies use various tools to monitor social conversations, from specific mentions of a brand name to the frequency of those keywords used. </a:t>
            </a:r>
          </a:p>
        </p:txBody>
      </p:sp>
    </p:spTree>
    <p:extLst>
      <p:ext uri="{BB962C8B-B14F-4D97-AF65-F5344CB8AC3E}">
        <p14:creationId xmlns:p14="http://schemas.microsoft.com/office/powerpoint/2010/main" val="28266342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80484"/>
            <a:ext cx="10515600" cy="5496479"/>
          </a:xfrm>
        </p:spPr>
        <p:txBody>
          <a:bodyPr/>
          <a:lstStyle/>
          <a:p>
            <a:r>
              <a:rPr lang="en-US" dirty="0"/>
              <a:t>Companies can also capture the sentiments such as a customer’s likelihood of recommending the products and the customer’s overall satisfaction to develop marketing and service strategies. </a:t>
            </a:r>
          </a:p>
          <a:p>
            <a:r>
              <a:rPr lang="en-US" dirty="0"/>
              <a:t>Business firms can also integrate social CRM data with other customer data obtained from sales or marketing departments. </a:t>
            </a:r>
          </a:p>
          <a:p>
            <a:r>
              <a:rPr lang="en-US" dirty="0"/>
              <a:t>Similarly, through social CRM customers post reviews of products and can engage with other customers to troubleshoot issues or research products in real time. </a:t>
            </a:r>
          </a:p>
          <a:p>
            <a:r>
              <a:rPr lang="en-US" dirty="0"/>
              <a:t>Such social communities can offer low-level customer service to the customer themselves, which then reduce the number of contact center calls.</a:t>
            </a:r>
            <a:br>
              <a:rPr lang="en-US" dirty="0"/>
            </a:br>
            <a:endParaRPr lang="en-US" dirty="0"/>
          </a:p>
        </p:txBody>
      </p:sp>
    </p:spTree>
    <p:extLst>
      <p:ext uri="{BB962C8B-B14F-4D97-AF65-F5344CB8AC3E}">
        <p14:creationId xmlns:p14="http://schemas.microsoft.com/office/powerpoint/2010/main" val="29394431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59219"/>
            <a:ext cx="10515600" cy="5517744"/>
          </a:xfrm>
        </p:spPr>
        <p:txBody>
          <a:bodyPr>
            <a:normAutofit fontScale="92500" lnSpcReduction="10000"/>
          </a:bodyPr>
          <a:lstStyle/>
          <a:p>
            <a:r>
              <a:rPr lang="en-US" dirty="0"/>
              <a:t>In the present perspective of IT, the mass migration of Internet users from desktop PCs to mobile devices is global and universal. </a:t>
            </a:r>
          </a:p>
          <a:p>
            <a:r>
              <a:rPr lang="en-US" dirty="0"/>
              <a:t>The proportion of Internet traffic coming from mobile devices is growing rapidly and sales teams around the globe are out in the field searching for potential customers. </a:t>
            </a:r>
          </a:p>
          <a:p>
            <a:r>
              <a:rPr lang="en-US" dirty="0"/>
              <a:t>This changes the way you do business. </a:t>
            </a:r>
          </a:p>
          <a:p>
            <a:r>
              <a:rPr lang="en-US" dirty="0"/>
              <a:t>Users and customers both expect information to be available and updated in real-time, not “when you get back to the office”. </a:t>
            </a:r>
          </a:p>
          <a:p>
            <a:r>
              <a:rPr lang="en-US" dirty="0"/>
              <a:t>Due to this, both mobile devices and a mobile sales force have merged to become Mobile CRM. </a:t>
            </a:r>
          </a:p>
          <a:p>
            <a:r>
              <a:rPr lang="en-US" dirty="0"/>
              <a:t>Mobile CRM is the CRM applications built for smart phones and tablets (Android phones, iPhones, iPads, Windows Phones, etc.). </a:t>
            </a:r>
          </a:p>
          <a:p>
            <a:r>
              <a:rPr lang="en-US" dirty="0"/>
              <a:t>This type of CRM is becoming popular among the sales force and customers. </a:t>
            </a:r>
          </a:p>
        </p:txBody>
      </p:sp>
    </p:spTree>
    <p:extLst>
      <p:ext uri="{BB962C8B-B14F-4D97-AF65-F5344CB8AC3E}">
        <p14:creationId xmlns:p14="http://schemas.microsoft.com/office/powerpoint/2010/main" val="15502123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80484"/>
            <a:ext cx="10515600" cy="5496479"/>
          </a:xfrm>
        </p:spPr>
        <p:txBody>
          <a:bodyPr/>
          <a:lstStyle/>
          <a:p>
            <a:r>
              <a:rPr lang="en-US" dirty="0"/>
              <a:t>Using mobile applications, customers can give their opinion about the products or services. </a:t>
            </a:r>
          </a:p>
          <a:p>
            <a:r>
              <a:rPr lang="en-US" dirty="0"/>
              <a:t>A fundamental benefit of doing this is to allow the sales force to access real-time data while they are out in the fields searching for prospective customers. </a:t>
            </a:r>
          </a:p>
          <a:p>
            <a:r>
              <a:rPr lang="en-US" dirty="0"/>
              <a:t>So mobile CRM app is a must-have for sales representatives and marketing professionals who need customer information but need to stay out of their office room most of the time. </a:t>
            </a:r>
          </a:p>
          <a:p>
            <a:r>
              <a:rPr lang="en-US" b="1" dirty="0"/>
              <a:t>Sugar Mobile, Box.net Mobile, Salesforce Chatter, </a:t>
            </a:r>
            <a:r>
              <a:rPr lang="en-US" b="1" dirty="0" err="1"/>
              <a:t>Batchbook</a:t>
            </a:r>
            <a:r>
              <a:rPr lang="en-US" b="1" dirty="0"/>
              <a:t> </a:t>
            </a:r>
            <a:r>
              <a:rPr lang="en-US" dirty="0"/>
              <a:t>etc. are widely used Mobile CRM apps.</a:t>
            </a:r>
            <a:br>
              <a:rPr lang="en-US" dirty="0"/>
            </a:br>
            <a:endParaRPr lang="en-US" dirty="0"/>
          </a:p>
          <a:p>
            <a:endParaRPr lang="en-US" dirty="0"/>
          </a:p>
        </p:txBody>
      </p:sp>
    </p:spTree>
    <p:extLst>
      <p:ext uri="{BB962C8B-B14F-4D97-AF65-F5344CB8AC3E}">
        <p14:creationId xmlns:p14="http://schemas.microsoft.com/office/powerpoint/2010/main" val="22506629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Operational Customer Relationship Management Systems</a:t>
            </a:r>
            <a:endParaRPr lang="en-US" dirty="0"/>
          </a:p>
        </p:txBody>
      </p:sp>
      <p:sp>
        <p:nvSpPr>
          <p:cNvPr id="3" name="Content Placeholder 2"/>
          <p:cNvSpPr>
            <a:spLocks noGrp="1"/>
          </p:cNvSpPr>
          <p:nvPr>
            <p:ph idx="1"/>
          </p:nvPr>
        </p:nvSpPr>
        <p:spPr/>
        <p:txBody>
          <a:bodyPr>
            <a:normAutofit lnSpcReduction="10000"/>
          </a:bodyPr>
          <a:lstStyle/>
          <a:p>
            <a:r>
              <a:rPr lang="en-US" dirty="0"/>
              <a:t>Operational Customer Relationship Management (CRM) systems have become indispensable tools for businesses aiming to build and maintain strong relationships with their customers. </a:t>
            </a:r>
          </a:p>
          <a:p>
            <a:r>
              <a:rPr lang="en-US" dirty="0"/>
              <a:t>These systems streamline various operational aspects of customer interactions, from managing leads to resolving issues effectively. </a:t>
            </a:r>
          </a:p>
          <a:p>
            <a:r>
              <a:rPr lang="en-US" dirty="0"/>
              <a:t>Operational Customer Relationship Management (CRM) systems are powerful tools designed to do just that. </a:t>
            </a:r>
          </a:p>
          <a:p>
            <a:r>
              <a:rPr lang="en-US" dirty="0"/>
              <a:t>By streamlining interactions across sales, marketing, and customer service departments, operational CRMs empower businesses to deliver exceptional customer experiences, drive revenue growth, and build lasting loyalty.</a:t>
            </a:r>
          </a:p>
        </p:txBody>
      </p:sp>
    </p:spTree>
    <p:extLst>
      <p:ext uri="{BB962C8B-B14F-4D97-AF65-F5344CB8AC3E}">
        <p14:creationId xmlns:p14="http://schemas.microsoft.com/office/powerpoint/2010/main" val="42290448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59219"/>
            <a:ext cx="10515600" cy="5517744"/>
          </a:xfrm>
        </p:spPr>
        <p:txBody>
          <a:bodyPr>
            <a:normAutofit lnSpcReduction="10000"/>
          </a:bodyPr>
          <a:lstStyle/>
          <a:p>
            <a:r>
              <a:rPr lang="en-US" dirty="0"/>
              <a:t>Operational CRM refers to the component of CRM that focuses on the automation of sales, marketing, and service processes to enhance customer interactions. </a:t>
            </a:r>
          </a:p>
          <a:p>
            <a:r>
              <a:rPr lang="en-US" dirty="0"/>
              <a:t>It deals with the day-to-day interactions between a company and its customers, aiming to improve efficiency and effectiveness in managing customer relationships. </a:t>
            </a:r>
          </a:p>
          <a:p>
            <a:r>
              <a:rPr lang="en-US" dirty="0"/>
              <a:t>Operational CRM acts as a central hub, integrating various functionalities to optimize customer-facing operations. </a:t>
            </a:r>
          </a:p>
          <a:p>
            <a:r>
              <a:rPr lang="en-US" dirty="0"/>
              <a:t>It comprises tools that improve customer acquisition and retention. </a:t>
            </a:r>
          </a:p>
          <a:p>
            <a:r>
              <a:rPr lang="en-US" dirty="0"/>
              <a:t>With the use of operational CRM, you can keep deals, leads, and client data all in one place. </a:t>
            </a:r>
          </a:p>
          <a:p>
            <a:r>
              <a:rPr lang="en-US" dirty="0"/>
              <a:t>Through service automation, it increases efficiency and helps organizations make the most of their limited resources. </a:t>
            </a:r>
          </a:p>
        </p:txBody>
      </p:sp>
    </p:spTree>
    <p:extLst>
      <p:ext uri="{BB962C8B-B14F-4D97-AF65-F5344CB8AC3E}">
        <p14:creationId xmlns:p14="http://schemas.microsoft.com/office/powerpoint/2010/main" val="21194063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2772"/>
            <a:ext cx="10515600" cy="5794191"/>
          </a:xfrm>
        </p:spPr>
        <p:txBody>
          <a:bodyPr>
            <a:normAutofit/>
          </a:bodyPr>
          <a:lstStyle/>
          <a:p>
            <a:r>
              <a:rPr lang="en-US" dirty="0"/>
              <a:t>The core objectives of Operational CRM are discussed below:</a:t>
            </a:r>
          </a:p>
          <a:p>
            <a:r>
              <a:rPr lang="en-US" b="1" dirty="0"/>
              <a:t>Automation of workflows: </a:t>
            </a:r>
          </a:p>
          <a:p>
            <a:pPr lvl="1"/>
            <a:r>
              <a:rPr lang="en-US" dirty="0"/>
              <a:t>Repetitive tasks like lead development, quote generation, and service ticketing can be automated, freeing up valuable time for employees to focus on more strategic initiatives. </a:t>
            </a:r>
          </a:p>
          <a:p>
            <a:pPr lvl="1"/>
            <a:r>
              <a:rPr lang="en-US" dirty="0"/>
              <a:t>It helps to implement best practices and cut down on costs while driving revenue.</a:t>
            </a:r>
          </a:p>
          <a:p>
            <a:r>
              <a:rPr lang="en-US" b="1" dirty="0"/>
              <a:t>Enhance collaboration: </a:t>
            </a:r>
          </a:p>
          <a:p>
            <a:pPr lvl="1"/>
            <a:r>
              <a:rPr lang="en-US" dirty="0"/>
              <a:t>Operational CRMs break down departmental silos by providing a unified platform for sales, marketing, and customer service to share information and collaborate seamlessly. </a:t>
            </a:r>
          </a:p>
          <a:p>
            <a:pPr lvl="1"/>
            <a:r>
              <a:rPr lang="en-US" dirty="0"/>
              <a:t>It empowers businesses to offer a superior customer experience without spending a fortune. </a:t>
            </a:r>
          </a:p>
          <a:p>
            <a:pPr lvl="1"/>
            <a:r>
              <a:rPr lang="en-US" dirty="0"/>
              <a:t>This leads to a higher return on investment for businesses.</a:t>
            </a:r>
          </a:p>
        </p:txBody>
      </p:sp>
    </p:spTree>
    <p:extLst>
      <p:ext uri="{BB962C8B-B14F-4D97-AF65-F5344CB8AC3E}">
        <p14:creationId xmlns:p14="http://schemas.microsoft.com/office/powerpoint/2010/main" val="40860979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39972"/>
            <a:ext cx="10515600" cy="5336991"/>
          </a:xfrm>
        </p:spPr>
        <p:txBody>
          <a:bodyPr/>
          <a:lstStyle/>
          <a:p>
            <a:r>
              <a:rPr lang="en-US" b="1" dirty="0"/>
              <a:t>Improve Customer Experience: </a:t>
            </a:r>
          </a:p>
          <a:p>
            <a:pPr lvl="1"/>
            <a:r>
              <a:rPr lang="en-US" dirty="0"/>
              <a:t>With a centralized view of customer data, businesses can personalize interactions, anticipate needs, and resolve issues efficiently, leading to higher satisfaction.</a:t>
            </a:r>
          </a:p>
          <a:p>
            <a:endParaRPr lang="en-US" dirty="0"/>
          </a:p>
          <a:p>
            <a:r>
              <a:rPr lang="en-US" b="1" dirty="0"/>
              <a:t>Boost Sales and Retention: </a:t>
            </a:r>
          </a:p>
          <a:p>
            <a:pPr lvl="1"/>
            <a:r>
              <a:rPr lang="en-US" dirty="0"/>
              <a:t>Streamlined sales processes, improved lead conversion rates, and enhanced customer service all contribute to increased sales and improved customer retention.</a:t>
            </a:r>
          </a:p>
        </p:txBody>
      </p:sp>
    </p:spTree>
    <p:extLst>
      <p:ext uri="{BB962C8B-B14F-4D97-AF65-F5344CB8AC3E}">
        <p14:creationId xmlns:p14="http://schemas.microsoft.com/office/powerpoint/2010/main" val="39096059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5637"/>
            <a:ext cx="10515600" cy="857619"/>
          </a:xfrm>
        </p:spPr>
        <p:txBody>
          <a:bodyPr/>
          <a:lstStyle/>
          <a:p>
            <a:r>
              <a:rPr lang="en-US" b="1" dirty="0"/>
              <a:t>Key Features of Operational CRMs</a:t>
            </a:r>
          </a:p>
        </p:txBody>
      </p:sp>
      <p:sp>
        <p:nvSpPr>
          <p:cNvPr id="3" name="Content Placeholder 2"/>
          <p:cNvSpPr>
            <a:spLocks noGrp="1"/>
          </p:cNvSpPr>
          <p:nvPr>
            <p:ph idx="1"/>
          </p:nvPr>
        </p:nvSpPr>
        <p:spPr>
          <a:xfrm>
            <a:off x="838200" y="1254642"/>
            <a:ext cx="10515600" cy="4922321"/>
          </a:xfrm>
        </p:spPr>
        <p:txBody>
          <a:bodyPr>
            <a:normAutofit/>
          </a:bodyPr>
          <a:lstStyle/>
          <a:p>
            <a:r>
              <a:rPr lang="en-US" sz="3200" dirty="0"/>
              <a:t>Operational CRMs offer a comprehensive set of features to manage the entire customer lifecycle. </a:t>
            </a:r>
          </a:p>
          <a:p>
            <a:r>
              <a:rPr lang="en-US" sz="3200" dirty="0"/>
              <a:t>Some of the most notable functionalities include:</a:t>
            </a:r>
          </a:p>
          <a:p>
            <a:r>
              <a:rPr lang="en-US" sz="3200" b="1" dirty="0"/>
              <a:t>Contact Management: </a:t>
            </a:r>
          </a:p>
          <a:p>
            <a:pPr lvl="1"/>
            <a:r>
              <a:rPr lang="en-US" sz="2800" dirty="0"/>
              <a:t>Capture and store all customer data, including contact information, purchase history, and communication preferences, in a central location.</a:t>
            </a:r>
          </a:p>
          <a:p>
            <a:r>
              <a:rPr lang="en-US" sz="3200" b="1" dirty="0"/>
              <a:t>Sales Automation: </a:t>
            </a:r>
          </a:p>
          <a:p>
            <a:pPr lvl="1"/>
            <a:r>
              <a:rPr lang="en-US" sz="2800" dirty="0"/>
              <a:t>Automate tasks like lead scoring, email sequences, and opportunity  management to streamline the sales pipeline.</a:t>
            </a:r>
          </a:p>
        </p:txBody>
      </p:sp>
    </p:spTree>
    <p:extLst>
      <p:ext uri="{BB962C8B-B14F-4D97-AF65-F5344CB8AC3E}">
        <p14:creationId xmlns:p14="http://schemas.microsoft.com/office/powerpoint/2010/main" val="5875796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78195"/>
            <a:ext cx="10515600" cy="5198768"/>
          </a:xfrm>
        </p:spPr>
        <p:txBody>
          <a:bodyPr>
            <a:normAutofit/>
          </a:bodyPr>
          <a:lstStyle/>
          <a:p>
            <a:r>
              <a:rPr lang="en-US" sz="3200" b="1" dirty="0"/>
              <a:t>Marketing Automation: </a:t>
            </a:r>
          </a:p>
          <a:p>
            <a:pPr lvl="1"/>
            <a:r>
              <a:rPr lang="en-US" sz="2800" dirty="0"/>
              <a:t>Design and execute targeted marketing campaigns, track their effectiveness, and cultivate leads until they are sales ready.</a:t>
            </a:r>
          </a:p>
          <a:p>
            <a:r>
              <a:rPr lang="en-US" sz="3200" b="1" dirty="0"/>
              <a:t>Customer Service Management: </a:t>
            </a:r>
          </a:p>
          <a:p>
            <a:pPr lvl="1"/>
            <a:r>
              <a:rPr lang="en-US" sz="2800" dirty="0"/>
              <a:t>Provide efficient customer support through features like ticketing systems, knowledge bases, and live chat functionalities.</a:t>
            </a:r>
          </a:p>
          <a:p>
            <a:r>
              <a:rPr lang="en-US" sz="3200" b="1" dirty="0"/>
              <a:t>Reporting and Analytics: </a:t>
            </a:r>
          </a:p>
          <a:p>
            <a:pPr lvl="1"/>
            <a:r>
              <a:rPr lang="en-US" sz="2800" dirty="0"/>
              <a:t>Generate insightful reports on customer interactions, sales performance, and campaign effectiveness to make data- driven decisions.</a:t>
            </a:r>
          </a:p>
        </p:txBody>
      </p:sp>
    </p:spTree>
    <p:extLst>
      <p:ext uri="{BB962C8B-B14F-4D97-AF65-F5344CB8AC3E}">
        <p14:creationId xmlns:p14="http://schemas.microsoft.com/office/powerpoint/2010/main" val="33559938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89098"/>
            <a:ext cx="10515600" cy="6007395"/>
          </a:xfrm>
        </p:spPr>
        <p:txBody>
          <a:bodyPr>
            <a:normAutofit lnSpcReduction="10000"/>
          </a:bodyPr>
          <a:lstStyle/>
          <a:p>
            <a:r>
              <a:rPr lang="en-US" dirty="0"/>
              <a:t>Now let's examine how operational CRM improves customer lifecycle efficiency across all processes:</a:t>
            </a:r>
          </a:p>
          <a:p>
            <a:r>
              <a:rPr lang="en-US" b="1" dirty="0"/>
              <a:t>Sales Automation: </a:t>
            </a:r>
          </a:p>
          <a:p>
            <a:pPr lvl="1"/>
            <a:r>
              <a:rPr lang="en-US" dirty="0"/>
              <a:t>This assists enterprises in automating the complete sales process. </a:t>
            </a:r>
          </a:p>
          <a:p>
            <a:pPr lvl="1"/>
            <a:r>
              <a:rPr lang="en-US" dirty="0"/>
              <a:t>Sales automation involves identifying potential leads, monitoring customer engagements, forecasting sales, and handling paperwork. </a:t>
            </a:r>
          </a:p>
          <a:p>
            <a:pPr lvl="1"/>
            <a:r>
              <a:rPr lang="en-US" dirty="0"/>
              <a:t>Sales representatives can set criteria for automated workflows, </a:t>
            </a:r>
            <a:r>
              <a:rPr lang="en-US"/>
              <a:t>thereby maximizing efficiency</a:t>
            </a:r>
            <a:r>
              <a:rPr lang="en-US" dirty="0"/>
              <a:t>. </a:t>
            </a:r>
          </a:p>
          <a:p>
            <a:pPr lvl="1"/>
            <a:r>
              <a:rPr lang="en-US" dirty="0"/>
              <a:t>This enables them to cultivate enduring client relationships and allocate time to critical activities rather than routine duties. </a:t>
            </a:r>
          </a:p>
          <a:p>
            <a:pPr lvl="1"/>
            <a:r>
              <a:rPr lang="en-US" dirty="0"/>
              <a:t>In addition to catering to current custom, lead generation holds considerable importance in Sales automation. </a:t>
            </a:r>
          </a:p>
          <a:p>
            <a:pPr lvl="1"/>
            <a:r>
              <a:rPr lang="en-US" dirty="0"/>
              <a:t>The custom of a place or organization are its customers or clients. </a:t>
            </a:r>
          </a:p>
          <a:p>
            <a:pPr lvl="1"/>
            <a:r>
              <a:rPr lang="en-US" dirty="0"/>
              <a:t>Operational CRM aids in recording every interaction with potential clients and leads, facilitating their conversion into customers.</a:t>
            </a:r>
            <a:br>
              <a:rPr lang="en-US" dirty="0"/>
            </a:br>
            <a:endParaRPr lang="en-US" dirty="0"/>
          </a:p>
        </p:txBody>
      </p:sp>
    </p:spTree>
    <p:extLst>
      <p:ext uri="{BB962C8B-B14F-4D97-AF65-F5344CB8AC3E}">
        <p14:creationId xmlns:p14="http://schemas.microsoft.com/office/powerpoint/2010/main" val="27435854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95422"/>
            <a:ext cx="10515600" cy="5922335"/>
          </a:xfrm>
        </p:spPr>
        <p:txBody>
          <a:bodyPr>
            <a:normAutofit/>
          </a:bodyPr>
          <a:lstStyle/>
          <a:p>
            <a:r>
              <a:rPr lang="en-US" b="1" dirty="0"/>
              <a:t>Marketing Automation: </a:t>
            </a:r>
          </a:p>
          <a:p>
            <a:pPr lvl="1"/>
            <a:r>
              <a:rPr lang="en-US" dirty="0"/>
              <a:t>It assists enterprises in automating and assessing marketing endeavors to propel sales expansion. </a:t>
            </a:r>
          </a:p>
          <a:p>
            <a:pPr lvl="1"/>
            <a:r>
              <a:rPr lang="en-US" dirty="0"/>
              <a:t>Through operational CRM, crafting customized promotional initiatives tailored precisely to your target audience’s preferences becomes effortless. </a:t>
            </a:r>
          </a:p>
          <a:p>
            <a:pPr lvl="1"/>
            <a:r>
              <a:rPr lang="en-US" dirty="0"/>
              <a:t>Leveraging customer-specific data enables campaign personalization. </a:t>
            </a:r>
          </a:p>
          <a:p>
            <a:pPr lvl="1"/>
            <a:r>
              <a:rPr lang="en-US" dirty="0"/>
              <a:t>Campaign management empowers the creation of campaigns, selection of specific communication channels, budget allocation, and assessment of campaign efficacy. </a:t>
            </a:r>
          </a:p>
          <a:p>
            <a:pPr lvl="1"/>
            <a:r>
              <a:rPr lang="en-US" dirty="0"/>
              <a:t>Sales representatives can segment their database and determine the most suitable campaign type to employ. </a:t>
            </a:r>
          </a:p>
          <a:p>
            <a:pPr lvl="1"/>
            <a:r>
              <a:rPr lang="en-US" dirty="0"/>
              <a:t>Event-driven marketing entails promoting products to customers based</a:t>
            </a:r>
            <a:br>
              <a:rPr lang="en-US" dirty="0"/>
            </a:br>
            <a:r>
              <a:rPr lang="en-US" dirty="0"/>
              <a:t>on the events occurring in their lives. </a:t>
            </a:r>
          </a:p>
          <a:p>
            <a:pPr lvl="1"/>
            <a:r>
              <a:rPr lang="en-US" dirty="0"/>
              <a:t>Operational CRM enhances sensitivity to customer needs, enabling the provision of tailored offers based on individual requirements.</a:t>
            </a:r>
          </a:p>
        </p:txBody>
      </p:sp>
    </p:spTree>
    <p:extLst>
      <p:ext uri="{BB962C8B-B14F-4D97-AF65-F5344CB8AC3E}">
        <p14:creationId xmlns:p14="http://schemas.microsoft.com/office/powerpoint/2010/main" val="5859054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91116"/>
            <a:ext cx="10515600" cy="5485847"/>
          </a:xfrm>
        </p:spPr>
        <p:txBody>
          <a:bodyPr>
            <a:normAutofit/>
          </a:bodyPr>
          <a:lstStyle/>
          <a:p>
            <a:r>
              <a:rPr lang="en-US" b="1" dirty="0"/>
              <a:t>Service Automation: </a:t>
            </a:r>
          </a:p>
          <a:p>
            <a:pPr lvl="1"/>
            <a:r>
              <a:rPr lang="en-US" dirty="0"/>
              <a:t>This enables enterprises to deliver superior customer service by enhancing the speed and efficiency of responses. </a:t>
            </a:r>
          </a:p>
          <a:p>
            <a:pPr lvl="1"/>
            <a:r>
              <a:rPr lang="en-US" dirty="0"/>
              <a:t>Support personnel can utilize interaction records to expedite assistance for customer inquiries, issues, and service needs. </a:t>
            </a:r>
          </a:p>
          <a:p>
            <a:pPr lvl="1"/>
            <a:r>
              <a:rPr lang="en-US" dirty="0"/>
              <a:t>Through operational CRM, granting access to customer data to all staff members enhances visibility across various departments within your business. </a:t>
            </a:r>
          </a:p>
          <a:p>
            <a:pPr lvl="1"/>
            <a:r>
              <a:rPr lang="en-US" dirty="0"/>
              <a:t>Consequently, customer grievances receive swifter resolutions than usual. </a:t>
            </a:r>
          </a:p>
          <a:p>
            <a:pPr lvl="1"/>
            <a:r>
              <a:rPr lang="en-US" dirty="0"/>
              <a:t>Furthermore, service requests can be precisely assigned to designated individuals.</a:t>
            </a:r>
          </a:p>
        </p:txBody>
      </p:sp>
    </p:spTree>
    <p:extLst>
      <p:ext uri="{BB962C8B-B14F-4D97-AF65-F5344CB8AC3E}">
        <p14:creationId xmlns:p14="http://schemas.microsoft.com/office/powerpoint/2010/main" val="13113471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3228"/>
            <a:ext cx="10515600" cy="1006475"/>
          </a:xfrm>
        </p:spPr>
        <p:txBody>
          <a:bodyPr/>
          <a:lstStyle/>
          <a:p>
            <a:r>
              <a:rPr lang="en-US" b="1" dirty="0"/>
              <a:t>Benefits of Implementing Operational CRM</a:t>
            </a:r>
            <a:endParaRPr lang="en-US" dirty="0"/>
          </a:p>
        </p:txBody>
      </p:sp>
      <p:sp>
        <p:nvSpPr>
          <p:cNvPr id="3" name="Content Placeholder 2"/>
          <p:cNvSpPr>
            <a:spLocks noGrp="1"/>
          </p:cNvSpPr>
          <p:nvPr>
            <p:ph idx="1"/>
          </p:nvPr>
        </p:nvSpPr>
        <p:spPr>
          <a:xfrm>
            <a:off x="838200" y="1743740"/>
            <a:ext cx="10515600" cy="4146698"/>
          </a:xfrm>
        </p:spPr>
        <p:txBody>
          <a:bodyPr>
            <a:normAutofit/>
          </a:bodyPr>
          <a:lstStyle/>
          <a:p>
            <a:r>
              <a:rPr lang="en-US" dirty="0"/>
              <a:t>There are several advantages to incorporating an operational CRM system into your company's operations, such as:</a:t>
            </a:r>
          </a:p>
          <a:p>
            <a:r>
              <a:rPr lang="en-US" b="1" dirty="0"/>
              <a:t>Increased Efficiency: </a:t>
            </a:r>
          </a:p>
          <a:p>
            <a:pPr lvl="1"/>
            <a:r>
              <a:rPr lang="en-US" dirty="0"/>
              <a:t>Automation eliminates manual tasks, allowing teams to focus on strategic initiatives and provide faster customer service.</a:t>
            </a:r>
          </a:p>
          <a:p>
            <a:r>
              <a:rPr lang="en-US" b="1" dirty="0"/>
              <a:t>Improved Collaboration: </a:t>
            </a:r>
          </a:p>
          <a:p>
            <a:pPr lvl="1"/>
            <a:r>
              <a:rPr lang="en-US" dirty="0"/>
              <a:t>A unified platform fosters better communication and collaboration across departments, leading to a more cohesive customer experience.</a:t>
            </a:r>
            <a:br>
              <a:rPr lang="en-US" dirty="0"/>
            </a:br>
            <a:endParaRPr lang="en-US" dirty="0"/>
          </a:p>
        </p:txBody>
      </p:sp>
    </p:spTree>
    <p:extLst>
      <p:ext uri="{BB962C8B-B14F-4D97-AF65-F5344CB8AC3E}">
        <p14:creationId xmlns:p14="http://schemas.microsoft.com/office/powerpoint/2010/main" val="1445941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31358"/>
            <a:ext cx="10515600" cy="5145605"/>
          </a:xfrm>
        </p:spPr>
        <p:txBody>
          <a:bodyPr>
            <a:normAutofit/>
          </a:bodyPr>
          <a:lstStyle/>
          <a:p>
            <a:r>
              <a:rPr lang="en-US" b="1" dirty="0"/>
              <a:t>Enhanced Customer Satisfaction: </a:t>
            </a:r>
          </a:p>
          <a:p>
            <a:pPr lvl="1"/>
            <a:r>
              <a:rPr lang="en-US" dirty="0"/>
              <a:t>Personalized interactions, faster issue resolution, and proactive support contribute to increased customer satisfaction and loyalty.</a:t>
            </a:r>
            <a:endParaRPr lang="en-US" b="1" dirty="0"/>
          </a:p>
          <a:p>
            <a:r>
              <a:rPr lang="en-US" b="1" dirty="0"/>
              <a:t>Data-Driven Decision Making: </a:t>
            </a:r>
          </a:p>
          <a:p>
            <a:pPr lvl="1"/>
            <a:r>
              <a:rPr lang="en-US" dirty="0"/>
              <a:t>Gain valuable insights from customer data to optimize marketing campaigns, personalize sales strategies, and improve overall business performance.</a:t>
            </a:r>
          </a:p>
          <a:p>
            <a:r>
              <a:rPr lang="en-US" b="1" dirty="0"/>
              <a:t>Increased Revenue: </a:t>
            </a:r>
          </a:p>
          <a:p>
            <a:pPr lvl="1"/>
            <a:r>
              <a:rPr lang="en-US" dirty="0"/>
              <a:t>Streamlined sales processes, improved lead conversion, and higher customer retention ultimately lead to increased revenue growth.</a:t>
            </a:r>
          </a:p>
          <a:p>
            <a:r>
              <a:rPr lang="en-US" b="1" dirty="0"/>
              <a:t>Scalability: </a:t>
            </a:r>
          </a:p>
          <a:p>
            <a:pPr lvl="1"/>
            <a:r>
              <a:rPr lang="en-US" dirty="0"/>
              <a:t>Operational CRM systems are scalable, allowing businesses to adapt to changing customer demands and organizational growth.</a:t>
            </a:r>
          </a:p>
        </p:txBody>
      </p:sp>
    </p:spTree>
    <p:extLst>
      <p:ext uri="{BB962C8B-B14F-4D97-AF65-F5344CB8AC3E}">
        <p14:creationId xmlns:p14="http://schemas.microsoft.com/office/powerpoint/2010/main" val="42554257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16688"/>
            <a:ext cx="10515600" cy="5560275"/>
          </a:xfrm>
        </p:spPr>
        <p:txBody>
          <a:bodyPr>
            <a:normAutofit/>
          </a:bodyPr>
          <a:lstStyle/>
          <a:p>
            <a:r>
              <a:rPr lang="en-US" dirty="0"/>
              <a:t>While implementing Operational CRM following steps are crucial:</a:t>
            </a:r>
          </a:p>
          <a:p>
            <a:endParaRPr lang="en-US" dirty="0"/>
          </a:p>
          <a:p>
            <a:r>
              <a:rPr lang="en-US" b="1" dirty="0"/>
              <a:t>Define Objectives: </a:t>
            </a:r>
          </a:p>
          <a:p>
            <a:pPr lvl="1"/>
            <a:r>
              <a:rPr lang="en-US" dirty="0"/>
              <a:t>Clearly define the goals and objectives of implementing an operational CRM system, such as improving customer satisfaction, increasing sales, or streamlining processes.</a:t>
            </a:r>
          </a:p>
          <a:p>
            <a:pPr lvl="1"/>
            <a:endParaRPr lang="en-US" dirty="0"/>
          </a:p>
          <a:p>
            <a:r>
              <a:rPr lang="en-US" b="1" dirty="0"/>
              <a:t>Select the Right Vendor: </a:t>
            </a:r>
          </a:p>
          <a:p>
            <a:pPr lvl="1"/>
            <a:r>
              <a:rPr lang="en-US" dirty="0"/>
              <a:t>Evaluate different CRM vendors based on their features, scalability, pricing, and compatibility with your business requirements.</a:t>
            </a:r>
            <a:br>
              <a:rPr lang="en-US" dirty="0"/>
            </a:br>
            <a:endParaRPr lang="en-US" dirty="0"/>
          </a:p>
        </p:txBody>
      </p:sp>
    </p:spTree>
    <p:extLst>
      <p:ext uri="{BB962C8B-B14F-4D97-AF65-F5344CB8AC3E}">
        <p14:creationId xmlns:p14="http://schemas.microsoft.com/office/powerpoint/2010/main" val="26139773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25033"/>
            <a:ext cx="10515600" cy="5251930"/>
          </a:xfrm>
        </p:spPr>
        <p:txBody>
          <a:bodyPr/>
          <a:lstStyle/>
          <a:p>
            <a:r>
              <a:rPr lang="en-US" b="1" dirty="0"/>
              <a:t>Data Migration and Integration: </a:t>
            </a:r>
          </a:p>
          <a:p>
            <a:pPr lvl="1"/>
            <a:r>
              <a:rPr lang="en-US" dirty="0"/>
              <a:t>Ensure seamless migration of existing customer data and integration with other business systems such as ERP and marketing automation tools.</a:t>
            </a:r>
          </a:p>
          <a:p>
            <a:pPr lvl="1"/>
            <a:endParaRPr lang="en-US" b="1" dirty="0"/>
          </a:p>
          <a:p>
            <a:r>
              <a:rPr lang="en-US" b="1" dirty="0"/>
              <a:t>User Training and Adoption: </a:t>
            </a:r>
          </a:p>
          <a:p>
            <a:pPr lvl="1"/>
            <a:r>
              <a:rPr lang="en-US" dirty="0"/>
              <a:t>Provide comprehensive training to employees on how to use the CRM system effectively and encourage adoption through incentives and recognition.</a:t>
            </a:r>
          </a:p>
          <a:p>
            <a:pPr lvl="1"/>
            <a:endParaRPr lang="en-US" dirty="0"/>
          </a:p>
          <a:p>
            <a:r>
              <a:rPr lang="en-US" b="1" dirty="0"/>
              <a:t>Continuous Improvement: </a:t>
            </a:r>
          </a:p>
          <a:p>
            <a:pPr lvl="1"/>
            <a:r>
              <a:rPr lang="en-US" dirty="0"/>
              <a:t>Continuously monitor and evaluate the performance of the CRM system, gathering feedback from users and stakeholders, and making necessary adjustments to optimize its effectiveness.</a:t>
            </a:r>
            <a:br>
              <a:rPr lang="en-US" dirty="0"/>
            </a:br>
            <a:endParaRPr lang="en-US" dirty="0"/>
          </a:p>
        </p:txBody>
      </p:sp>
    </p:spTree>
    <p:extLst>
      <p:ext uri="{BB962C8B-B14F-4D97-AF65-F5344CB8AC3E}">
        <p14:creationId xmlns:p14="http://schemas.microsoft.com/office/powerpoint/2010/main" val="21856322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Choosing the Right Operational CRM System</a:t>
            </a:r>
          </a:p>
        </p:txBody>
      </p:sp>
      <p:sp>
        <p:nvSpPr>
          <p:cNvPr id="3" name="Content Placeholder 2"/>
          <p:cNvSpPr>
            <a:spLocks noGrp="1"/>
          </p:cNvSpPr>
          <p:nvPr>
            <p:ph idx="1"/>
          </p:nvPr>
        </p:nvSpPr>
        <p:spPr>
          <a:xfrm>
            <a:off x="838200" y="1825625"/>
            <a:ext cx="10515600" cy="4787826"/>
          </a:xfrm>
        </p:spPr>
        <p:txBody>
          <a:bodyPr>
            <a:normAutofit/>
          </a:bodyPr>
          <a:lstStyle/>
          <a:p>
            <a:r>
              <a:rPr lang="en-US" dirty="0"/>
              <a:t>With many operational CRM solutions available, selecting the right one for your business is crucial. </a:t>
            </a:r>
          </a:p>
          <a:p>
            <a:r>
              <a:rPr lang="en-US" dirty="0"/>
              <a:t>By carefully considering below mentioned factors, you can select an operational CRM system that empowers your teams, streamlines customer interactions, and propels your business towards success.</a:t>
            </a:r>
          </a:p>
          <a:p>
            <a:endParaRPr lang="en-US" dirty="0"/>
          </a:p>
          <a:p>
            <a:r>
              <a:rPr lang="en-US" b="1" dirty="0"/>
              <a:t>Company Size and Needs: </a:t>
            </a:r>
          </a:p>
          <a:p>
            <a:pPr lvl="1"/>
            <a:r>
              <a:rPr lang="en-US" dirty="0"/>
              <a:t>Consider the size and complexity of your organization, as well as your specific needs and budget.</a:t>
            </a:r>
            <a:br>
              <a:rPr lang="en-US" dirty="0"/>
            </a:br>
            <a:endParaRPr lang="en-US" dirty="0"/>
          </a:p>
        </p:txBody>
      </p:sp>
    </p:spTree>
    <p:extLst>
      <p:ext uri="{BB962C8B-B14F-4D97-AF65-F5344CB8AC3E}">
        <p14:creationId xmlns:p14="http://schemas.microsoft.com/office/powerpoint/2010/main" val="10299420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33648"/>
            <a:ext cx="10515600" cy="5443316"/>
          </a:xfrm>
        </p:spPr>
        <p:txBody>
          <a:bodyPr>
            <a:normAutofit fontScale="92500"/>
          </a:bodyPr>
          <a:lstStyle/>
          <a:p>
            <a:r>
              <a:rPr lang="en-US" b="1" dirty="0"/>
              <a:t>Features and Functionality: </a:t>
            </a:r>
          </a:p>
          <a:p>
            <a:pPr lvl="1"/>
            <a:r>
              <a:rPr lang="en-US" dirty="0"/>
              <a:t>Evaluate the features offered by different CRM systems to ensure they align with your specific requirements.</a:t>
            </a:r>
          </a:p>
          <a:p>
            <a:pPr lvl="1"/>
            <a:endParaRPr lang="en-US" b="1" dirty="0"/>
          </a:p>
          <a:p>
            <a:r>
              <a:rPr lang="en-US" b="1" dirty="0"/>
              <a:t>Scalability: </a:t>
            </a:r>
          </a:p>
          <a:p>
            <a:pPr lvl="1"/>
            <a:r>
              <a:rPr lang="en-US" dirty="0"/>
              <a:t>Choose a system that can grow with your business and adapt to your evolving needs.</a:t>
            </a:r>
          </a:p>
          <a:p>
            <a:pPr lvl="1"/>
            <a:endParaRPr lang="en-US" dirty="0"/>
          </a:p>
          <a:p>
            <a:r>
              <a:rPr lang="en-US" b="1" dirty="0"/>
              <a:t>Ease of Use: </a:t>
            </a:r>
          </a:p>
          <a:p>
            <a:pPr lvl="1"/>
            <a:r>
              <a:rPr lang="en-US" dirty="0"/>
              <a:t>A user-friendly interface is essential for ensuring smooth adoption and maximizing the benefits of the system.</a:t>
            </a:r>
          </a:p>
          <a:p>
            <a:pPr lvl="1"/>
            <a:endParaRPr lang="en-US" dirty="0"/>
          </a:p>
          <a:p>
            <a:r>
              <a:rPr lang="en-US" b="1" dirty="0"/>
              <a:t>Integration Capabilities:</a:t>
            </a:r>
          </a:p>
          <a:p>
            <a:pPr lvl="1"/>
            <a:r>
              <a:rPr lang="en-US" dirty="0"/>
              <a:t>Ensure the CRM integrates seamlessly with existing business tools and systems.</a:t>
            </a:r>
            <a:br>
              <a:rPr lang="en-US" dirty="0"/>
            </a:br>
            <a:endParaRPr lang="en-US" b="1" dirty="0"/>
          </a:p>
        </p:txBody>
      </p:sp>
    </p:spTree>
    <p:extLst>
      <p:ext uri="{BB962C8B-B14F-4D97-AF65-F5344CB8AC3E}">
        <p14:creationId xmlns:p14="http://schemas.microsoft.com/office/powerpoint/2010/main" val="35780184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42260"/>
            <a:ext cx="10515600" cy="5634703"/>
          </a:xfrm>
        </p:spPr>
        <p:txBody>
          <a:bodyPr>
            <a:normAutofit fontScale="92500" lnSpcReduction="20000"/>
          </a:bodyPr>
          <a:lstStyle/>
          <a:p>
            <a:r>
              <a:rPr lang="en-US" dirty="0"/>
              <a:t>As technology continues to evolve, businesses must stay alongside emerging trends and best practices in operational </a:t>
            </a:r>
            <a:r>
              <a:rPr lang="en-US" b="1" dirty="0"/>
              <a:t>CRM</a:t>
            </a:r>
            <a:r>
              <a:rPr lang="en-US" dirty="0"/>
              <a:t> to remain competitive in a dynamic marketplace. </a:t>
            </a:r>
          </a:p>
          <a:p>
            <a:r>
              <a:rPr lang="en-US" dirty="0"/>
              <a:t>The future trends in Operational </a:t>
            </a:r>
            <a:r>
              <a:rPr lang="en-US" b="1" dirty="0"/>
              <a:t>CRM</a:t>
            </a:r>
            <a:r>
              <a:rPr lang="en-US" dirty="0"/>
              <a:t> look promising. </a:t>
            </a:r>
          </a:p>
          <a:p>
            <a:r>
              <a:rPr lang="en-US" dirty="0"/>
              <a:t>The integration of artificial intelligence and predictive analytics will enable more accurate forecasting, personalized recommendations, and proactive customer service. </a:t>
            </a:r>
          </a:p>
          <a:p>
            <a:r>
              <a:rPr lang="en-US" dirty="0"/>
              <a:t>Similarly, businesses will increasingly adopt </a:t>
            </a:r>
            <a:r>
              <a:rPr lang="en-US" dirty="0" err="1"/>
              <a:t>omni</a:t>
            </a:r>
            <a:r>
              <a:rPr lang="en-US" dirty="0"/>
              <a:t>-channel CRM strategies to provide consistent and seamless customer experiences across multiple channels such as email, social media, and mobile apps. </a:t>
            </a:r>
          </a:p>
          <a:p>
            <a:r>
              <a:rPr lang="en-US" dirty="0"/>
              <a:t>Likewise, Customer Data Platforms will emerge as a central hub for integrating and managing customer data from various sources, enabling a</a:t>
            </a:r>
            <a:br>
              <a:rPr lang="en-US" dirty="0"/>
            </a:br>
            <a:r>
              <a:rPr lang="en-US" dirty="0"/>
              <a:t>unified view of the customer across the organization. </a:t>
            </a:r>
          </a:p>
          <a:p>
            <a:r>
              <a:rPr lang="en-US" dirty="0"/>
              <a:t>In addition, </a:t>
            </a:r>
            <a:r>
              <a:rPr lang="en-US" dirty="0" err="1"/>
              <a:t>Blockchain</a:t>
            </a:r>
            <a:r>
              <a:rPr lang="en-US" dirty="0"/>
              <a:t> technology will be leveraged to enhance data security and privacy in CRM systems, ensuring trust and transparency in customer interactions.</a:t>
            </a:r>
          </a:p>
        </p:txBody>
      </p:sp>
    </p:spTree>
    <p:extLst>
      <p:ext uri="{BB962C8B-B14F-4D97-AF65-F5344CB8AC3E}">
        <p14:creationId xmlns:p14="http://schemas.microsoft.com/office/powerpoint/2010/main" val="11593980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Other Types of Customer Relationship </a:t>
            </a:r>
            <a:br>
              <a:rPr lang="en-US" b="1" dirty="0"/>
            </a:br>
            <a:r>
              <a:rPr lang="en-US" b="1" dirty="0"/>
              <a:t>Management Systems</a:t>
            </a:r>
          </a:p>
        </p:txBody>
      </p:sp>
      <p:sp>
        <p:nvSpPr>
          <p:cNvPr id="3" name="Content Placeholder 2"/>
          <p:cNvSpPr>
            <a:spLocks noGrp="1"/>
          </p:cNvSpPr>
          <p:nvPr>
            <p:ph idx="1"/>
          </p:nvPr>
        </p:nvSpPr>
        <p:spPr>
          <a:xfrm>
            <a:off x="838200" y="2222205"/>
            <a:ext cx="10515600" cy="3954758"/>
          </a:xfrm>
        </p:spPr>
        <p:txBody>
          <a:bodyPr/>
          <a:lstStyle/>
          <a:p>
            <a:r>
              <a:rPr lang="en-US" dirty="0"/>
              <a:t>We have discussed Operational </a:t>
            </a:r>
            <a:r>
              <a:rPr lang="en-US" b="1" dirty="0"/>
              <a:t>CRM</a:t>
            </a:r>
            <a:r>
              <a:rPr lang="en-US" dirty="0"/>
              <a:t>s that provide a solid foundation for managing customer interactions, but the </a:t>
            </a:r>
            <a:r>
              <a:rPr lang="en-US" b="1" dirty="0"/>
              <a:t>CRM</a:t>
            </a:r>
            <a:r>
              <a:rPr lang="en-US" dirty="0"/>
              <a:t> offers a wider range of solutions catering to specific needs. </a:t>
            </a:r>
          </a:p>
          <a:p>
            <a:r>
              <a:rPr lang="en-US" dirty="0"/>
              <a:t>Other prominent CRM types are explained here.</a:t>
            </a:r>
          </a:p>
          <a:p>
            <a:pPr lvl="1"/>
            <a:r>
              <a:rPr lang="en-US" b="1" dirty="0"/>
              <a:t>Analytical CRM</a:t>
            </a:r>
          </a:p>
          <a:p>
            <a:pPr lvl="1"/>
            <a:r>
              <a:rPr lang="en-US" b="1" dirty="0"/>
              <a:t>Collaborative CRM</a:t>
            </a:r>
          </a:p>
          <a:p>
            <a:pPr lvl="1"/>
            <a:r>
              <a:rPr lang="en-US" b="1" dirty="0"/>
              <a:t>Strategic CRM</a:t>
            </a:r>
          </a:p>
        </p:txBody>
      </p:sp>
    </p:spTree>
    <p:extLst>
      <p:ext uri="{BB962C8B-B14F-4D97-AF65-F5344CB8AC3E}">
        <p14:creationId xmlns:p14="http://schemas.microsoft.com/office/powerpoint/2010/main" val="24135833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51294"/>
          </a:xfrm>
        </p:spPr>
        <p:txBody>
          <a:bodyPr/>
          <a:lstStyle/>
          <a:p>
            <a:r>
              <a:rPr lang="en-US" b="1" dirty="0"/>
              <a:t>Analytical CRM</a:t>
            </a:r>
          </a:p>
        </p:txBody>
      </p:sp>
      <p:sp>
        <p:nvSpPr>
          <p:cNvPr id="3" name="Content Placeholder 2"/>
          <p:cNvSpPr>
            <a:spLocks noGrp="1"/>
          </p:cNvSpPr>
          <p:nvPr>
            <p:ph idx="1"/>
          </p:nvPr>
        </p:nvSpPr>
        <p:spPr>
          <a:xfrm>
            <a:off x="838200" y="1275907"/>
            <a:ext cx="10515600" cy="5305646"/>
          </a:xfrm>
        </p:spPr>
        <p:txBody>
          <a:bodyPr>
            <a:normAutofit/>
          </a:bodyPr>
          <a:lstStyle/>
          <a:p>
            <a:r>
              <a:rPr lang="en-US" dirty="0"/>
              <a:t>Data-Driven Insights for Strategic Decisions Analytical CRM focuses on leveraging customer data to gain actionable insights. </a:t>
            </a:r>
          </a:p>
          <a:p>
            <a:r>
              <a:rPr lang="en-US" dirty="0"/>
              <a:t>It goes beyond basic contact information, diving deep into customer interactions, purchase behavior, and market trends. </a:t>
            </a:r>
          </a:p>
          <a:p>
            <a:r>
              <a:rPr lang="en-US" dirty="0"/>
              <a:t>Data warehousing, business intelligence tools, data analysis and reporting capabilities are key features of this </a:t>
            </a:r>
            <a:r>
              <a:rPr lang="en-US" b="1" dirty="0"/>
              <a:t>CRM</a:t>
            </a:r>
            <a:r>
              <a:rPr lang="en-US" dirty="0"/>
              <a:t>. </a:t>
            </a:r>
          </a:p>
          <a:p>
            <a:r>
              <a:rPr lang="en-US" dirty="0"/>
              <a:t>It gives various benefits such as identifying customer segments, personalize marketing campaigns, predict customer churn, optimize pricing strategies, and make data-driven business decisions. </a:t>
            </a:r>
          </a:p>
          <a:p>
            <a:r>
              <a:rPr lang="en-US" dirty="0"/>
              <a:t>The analytical CRM is best for the businesses seeking to leverage customer data for strategic advantage.</a:t>
            </a:r>
            <a:br>
              <a:rPr lang="en-US" dirty="0"/>
            </a:br>
            <a:endParaRPr lang="en-US" dirty="0"/>
          </a:p>
        </p:txBody>
      </p:sp>
    </p:spTree>
    <p:extLst>
      <p:ext uri="{BB962C8B-B14F-4D97-AF65-F5344CB8AC3E}">
        <p14:creationId xmlns:p14="http://schemas.microsoft.com/office/powerpoint/2010/main" val="19430231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6987"/>
          </a:xfrm>
        </p:spPr>
        <p:txBody>
          <a:bodyPr/>
          <a:lstStyle/>
          <a:p>
            <a:r>
              <a:rPr lang="en-US" b="1" dirty="0"/>
              <a:t>Collaborative CRM</a:t>
            </a:r>
          </a:p>
        </p:txBody>
      </p:sp>
      <p:sp>
        <p:nvSpPr>
          <p:cNvPr id="3" name="Content Placeholder 2"/>
          <p:cNvSpPr>
            <a:spLocks noGrp="1"/>
          </p:cNvSpPr>
          <p:nvPr>
            <p:ph idx="1"/>
          </p:nvPr>
        </p:nvSpPr>
        <p:spPr>
          <a:xfrm>
            <a:off x="838200" y="1350335"/>
            <a:ext cx="10515600" cy="5103628"/>
          </a:xfrm>
        </p:spPr>
        <p:txBody>
          <a:bodyPr>
            <a:normAutofit fontScale="92500" lnSpcReduction="20000"/>
          </a:bodyPr>
          <a:lstStyle/>
          <a:p>
            <a:r>
              <a:rPr lang="en-US" dirty="0"/>
              <a:t>Fostering Teamwork for a Unified Customer Experience Collaborative </a:t>
            </a:r>
            <a:r>
              <a:rPr lang="en-US" b="1" dirty="0"/>
              <a:t>CRM</a:t>
            </a:r>
            <a:r>
              <a:rPr lang="en-US" dirty="0"/>
              <a:t> prioritizes breaking down departmental silos and fostering seamless communication across teams. </a:t>
            </a:r>
          </a:p>
          <a:p>
            <a:r>
              <a:rPr lang="en-US" dirty="0"/>
              <a:t>It ensures everyone has a 360-degree view of the customer and can contribute to a unified customer experience. </a:t>
            </a:r>
          </a:p>
          <a:p>
            <a:r>
              <a:rPr lang="en-US" dirty="0"/>
              <a:t>Key features of this </a:t>
            </a:r>
            <a:r>
              <a:rPr lang="en-US" b="1" dirty="0"/>
              <a:t>CRM</a:t>
            </a:r>
            <a:r>
              <a:rPr lang="en-US" dirty="0"/>
              <a:t> include social </a:t>
            </a:r>
            <a:r>
              <a:rPr lang="en-US" b="1" dirty="0"/>
              <a:t>CRM</a:t>
            </a:r>
            <a:r>
              <a:rPr lang="en-US" dirty="0"/>
              <a:t> functionalities, case management tools, activity tracking, communication, and collaboration platforms etc. </a:t>
            </a:r>
          </a:p>
          <a:p>
            <a:r>
              <a:rPr lang="en-US" dirty="0"/>
              <a:t>With those features it gives benefits such as improved customer service through coordinated efforts, faster issue resolution, enhanced sales effectiveness through shared customer data, and a more cohesive customer journey. </a:t>
            </a:r>
          </a:p>
          <a:p>
            <a:r>
              <a:rPr lang="en-US" dirty="0"/>
              <a:t>Collaborative </a:t>
            </a:r>
            <a:r>
              <a:rPr lang="en-US" b="1" dirty="0"/>
              <a:t>CRM</a:t>
            </a:r>
            <a:r>
              <a:rPr lang="en-US" dirty="0"/>
              <a:t> is ideal for businesses with complex sales cycles or a strong emphasis on customer service.</a:t>
            </a:r>
            <a:br>
              <a:rPr lang="en-US" dirty="0"/>
            </a:br>
            <a:endParaRPr lang="en-US" dirty="0"/>
          </a:p>
        </p:txBody>
      </p:sp>
    </p:spTree>
    <p:extLst>
      <p:ext uri="{BB962C8B-B14F-4D97-AF65-F5344CB8AC3E}">
        <p14:creationId xmlns:p14="http://schemas.microsoft.com/office/powerpoint/2010/main" val="30369648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25722"/>
          </a:xfrm>
        </p:spPr>
        <p:txBody>
          <a:bodyPr/>
          <a:lstStyle/>
          <a:p>
            <a:r>
              <a:rPr lang="en-US" b="1" dirty="0"/>
              <a:t>Strategic CRM</a:t>
            </a:r>
          </a:p>
        </p:txBody>
      </p:sp>
      <p:sp>
        <p:nvSpPr>
          <p:cNvPr id="3" name="Content Placeholder 2"/>
          <p:cNvSpPr>
            <a:spLocks noGrp="1"/>
          </p:cNvSpPr>
          <p:nvPr>
            <p:ph idx="1"/>
          </p:nvPr>
        </p:nvSpPr>
        <p:spPr>
          <a:xfrm>
            <a:off x="838200" y="1520456"/>
            <a:ext cx="10515600" cy="4901609"/>
          </a:xfrm>
        </p:spPr>
        <p:txBody>
          <a:bodyPr>
            <a:normAutofit fontScale="92500"/>
          </a:bodyPr>
          <a:lstStyle/>
          <a:p>
            <a:r>
              <a:rPr lang="en-US" dirty="0"/>
              <a:t>Aligning Customer Interactions with Business Goals Strategic CRM takes a big-picture approach, aligning customer interactions with overall business objectives. </a:t>
            </a:r>
          </a:p>
          <a:p>
            <a:r>
              <a:rPr lang="en-US" dirty="0"/>
              <a:t>It helps define customer relationship-centric initiatives. </a:t>
            </a:r>
          </a:p>
          <a:p>
            <a:r>
              <a:rPr lang="en-US" dirty="0"/>
              <a:t>Customer segmentation tools, customer lifetime value analysis, beneficial for identifying high- value customers, optimizing customer acquisition strategies, improving customer retention, align marketing and sales efforts with customer needs, and measure the impact of CRM initiatives. </a:t>
            </a:r>
          </a:p>
          <a:p>
            <a:r>
              <a:rPr lang="en-US" dirty="0"/>
              <a:t>Strategic CRM is best for those businesses which is seeking to develop long-term customer relationships and maximize their customer lifetime value.</a:t>
            </a:r>
            <a:br>
              <a:rPr lang="en-US" dirty="0"/>
            </a:br>
            <a:endParaRPr lang="en-US" dirty="0"/>
          </a:p>
        </p:txBody>
      </p:sp>
    </p:spTree>
    <p:extLst>
      <p:ext uri="{BB962C8B-B14F-4D97-AF65-F5344CB8AC3E}">
        <p14:creationId xmlns:p14="http://schemas.microsoft.com/office/powerpoint/2010/main" val="33206213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Choosing the Right CRM Blend</a:t>
            </a:r>
            <a:endParaRPr lang="en-US" dirty="0"/>
          </a:p>
        </p:txBody>
      </p:sp>
      <p:sp>
        <p:nvSpPr>
          <p:cNvPr id="3" name="Content Placeholder 2"/>
          <p:cNvSpPr>
            <a:spLocks noGrp="1"/>
          </p:cNvSpPr>
          <p:nvPr>
            <p:ph idx="1"/>
          </p:nvPr>
        </p:nvSpPr>
        <p:spPr>
          <a:xfrm>
            <a:off x="720356" y="1825625"/>
            <a:ext cx="10751288" cy="4351338"/>
          </a:xfrm>
        </p:spPr>
        <p:txBody>
          <a:bodyPr>
            <a:normAutofit/>
          </a:bodyPr>
          <a:lstStyle/>
          <a:p>
            <a:r>
              <a:rPr lang="en-US" dirty="0"/>
              <a:t>The best CRM system frequently combines these different approaches. </a:t>
            </a:r>
          </a:p>
          <a:p>
            <a:r>
              <a:rPr lang="en-US" dirty="0"/>
              <a:t>Companies can use strategic CRM to match customer interactions with overarching corporate objectives, analytical CRM for data-driven insights, collaborative CRM for smooth teamwork, and operational CRM for essential functions. </a:t>
            </a:r>
          </a:p>
          <a:p>
            <a:r>
              <a:rPr lang="en-US" dirty="0"/>
              <a:t>You may develop a tailored CRM strategy that strengthens your customer interactions and promotes long-term success by being aware of the distinct advantages of each type of CRM and thoroughly assessing your company's needs.</a:t>
            </a:r>
          </a:p>
        </p:txBody>
      </p:sp>
    </p:spTree>
    <p:extLst>
      <p:ext uri="{BB962C8B-B14F-4D97-AF65-F5344CB8AC3E}">
        <p14:creationId xmlns:p14="http://schemas.microsoft.com/office/powerpoint/2010/main" val="35963092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Supply Chain Management (SCM) Systems</a:t>
            </a:r>
            <a:endParaRPr lang="en-US" dirty="0"/>
          </a:p>
        </p:txBody>
      </p:sp>
      <p:sp>
        <p:nvSpPr>
          <p:cNvPr id="3" name="Content Placeholder 2"/>
          <p:cNvSpPr>
            <a:spLocks noGrp="1"/>
          </p:cNvSpPr>
          <p:nvPr>
            <p:ph idx="1"/>
          </p:nvPr>
        </p:nvSpPr>
        <p:spPr/>
        <p:txBody>
          <a:bodyPr>
            <a:normAutofit fontScale="92500"/>
          </a:bodyPr>
          <a:lstStyle/>
          <a:p>
            <a:r>
              <a:rPr lang="en-US" dirty="0"/>
              <a:t>Every product that reaches an end user represents the collective effort of multiple organizations, which refers to the supply chain. </a:t>
            </a:r>
          </a:p>
          <a:p>
            <a:r>
              <a:rPr lang="en-US" dirty="0"/>
              <a:t>A supply chain is the collection of people, tasks, equipment, data, and other resources required to produce and move products from a vendor to a customer. </a:t>
            </a:r>
          </a:p>
          <a:p>
            <a:r>
              <a:rPr lang="en-US" dirty="0"/>
              <a:t>Supply chain management (SCM) is the reformation of a business's</a:t>
            </a:r>
            <a:br>
              <a:rPr lang="en-US" dirty="0"/>
            </a:br>
            <a:r>
              <a:rPr lang="en-US" dirty="0"/>
              <a:t>supply-side activities to maximize customer value and to gain a competitive advantage in the marketplace. </a:t>
            </a:r>
          </a:p>
          <a:p>
            <a:r>
              <a:rPr lang="en-US" dirty="0"/>
              <a:t>SCM represents a conscious effort by suppliers to develop and implement</a:t>
            </a:r>
            <a:br>
              <a:rPr lang="en-US" dirty="0"/>
            </a:br>
            <a:r>
              <a:rPr lang="en-US" dirty="0"/>
              <a:t>supply chains that are as effective, efficient, and economical as possible.</a:t>
            </a:r>
          </a:p>
        </p:txBody>
      </p:sp>
    </p:spTree>
    <p:extLst>
      <p:ext uri="{BB962C8B-B14F-4D97-AF65-F5344CB8AC3E}">
        <p14:creationId xmlns:p14="http://schemas.microsoft.com/office/powerpoint/2010/main" val="28827910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35665"/>
            <a:ext cx="10515600" cy="5241298"/>
          </a:xfrm>
        </p:spPr>
        <p:txBody>
          <a:bodyPr>
            <a:normAutofit fontScale="92500" lnSpcReduction="20000"/>
          </a:bodyPr>
          <a:lstStyle/>
          <a:p>
            <a:r>
              <a:rPr lang="en-US" dirty="0"/>
              <a:t>Supply chain activities include product development, material sourcing, production, and logistics as well as the information systems that coordinate these activities. </a:t>
            </a:r>
          </a:p>
          <a:p>
            <a:r>
              <a:rPr lang="en-US" dirty="0"/>
              <a:t>SCM is the oversight of those activities as they move in a process from supplier to manufacturer to wholesaler to retailer to consumer. </a:t>
            </a:r>
          </a:p>
          <a:p>
            <a:r>
              <a:rPr lang="en-US" dirty="0"/>
              <a:t>SCM attempts to centrally control or link the production, shipment, and</a:t>
            </a:r>
            <a:br>
              <a:rPr lang="en-US" dirty="0"/>
            </a:br>
            <a:r>
              <a:rPr lang="en-US" dirty="0"/>
              <a:t>distribution. </a:t>
            </a:r>
          </a:p>
          <a:p>
            <a:r>
              <a:rPr lang="en-US" dirty="0"/>
              <a:t>The ultimate purpose of any effective supply chain management system is to reduce inventory (with the assumption that products are available when needed).</a:t>
            </a:r>
          </a:p>
          <a:p>
            <a:r>
              <a:rPr lang="en-US" i="1" dirty="0"/>
              <a:t>Supply chain management is the design, planning, execution, control, and monitoring of supply chain activities with the objective of creating net value, building a competitive infrastructure, leveraging worldwide logistics,  synchronizing supply with demand, and measuring performance globally.</a:t>
            </a:r>
          </a:p>
          <a:p>
            <a:pPr marL="0" indent="0" algn="r">
              <a:buNone/>
            </a:pPr>
            <a:r>
              <a:rPr lang="en-US" i="1" dirty="0"/>
              <a:t>- APICS Dictionary</a:t>
            </a:r>
            <a:br>
              <a:rPr lang="en-US" dirty="0"/>
            </a:br>
            <a:endParaRPr lang="en-US" dirty="0"/>
          </a:p>
        </p:txBody>
      </p:sp>
    </p:spTree>
    <p:extLst>
      <p:ext uri="{BB962C8B-B14F-4D97-AF65-F5344CB8AC3E}">
        <p14:creationId xmlns:p14="http://schemas.microsoft.com/office/powerpoint/2010/main" val="13627823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44279"/>
            <a:ext cx="10515600" cy="5432684"/>
          </a:xfrm>
        </p:spPr>
        <p:txBody>
          <a:bodyPr>
            <a:normAutofit/>
          </a:bodyPr>
          <a:lstStyle/>
          <a:p>
            <a:r>
              <a:rPr lang="en-US" dirty="0"/>
              <a:t>Supply chain management systems direct the flow of products through distribution centers and warehouses to ensure that products are delivered to the right locations in the most efficient manner. </a:t>
            </a:r>
          </a:p>
          <a:p>
            <a:r>
              <a:rPr lang="en-US" dirty="0"/>
              <a:t>Supply chain management flows can be divided into three main flows:</a:t>
            </a:r>
          </a:p>
          <a:p>
            <a:r>
              <a:rPr lang="en-US" b="1" dirty="0"/>
              <a:t>The product flow</a:t>
            </a:r>
            <a:r>
              <a:rPr lang="en-US" dirty="0"/>
              <a:t> </a:t>
            </a:r>
          </a:p>
          <a:p>
            <a:pPr lvl="1"/>
            <a:r>
              <a:rPr lang="en-US" dirty="0"/>
              <a:t>Movement of goods from a supplier to a customer, as well as any customer returns or service needs.</a:t>
            </a:r>
          </a:p>
          <a:p>
            <a:r>
              <a:rPr lang="en-US" b="1" dirty="0"/>
              <a:t>The information flow</a:t>
            </a:r>
          </a:p>
          <a:p>
            <a:pPr lvl="1"/>
            <a:r>
              <a:rPr lang="en-US" dirty="0"/>
              <a:t>Transmitting orders and updating the status of delivery.</a:t>
            </a:r>
          </a:p>
          <a:p>
            <a:r>
              <a:rPr lang="en-US" b="1" dirty="0"/>
              <a:t>The finances flow </a:t>
            </a:r>
          </a:p>
          <a:p>
            <a:pPr lvl="1"/>
            <a:r>
              <a:rPr lang="en-US" dirty="0"/>
              <a:t>Consists of credit terms, payment schedules, and consignment and title ownership arrangements.</a:t>
            </a:r>
          </a:p>
        </p:txBody>
      </p:sp>
    </p:spTree>
    <p:extLst>
      <p:ext uri="{BB962C8B-B14F-4D97-AF65-F5344CB8AC3E}">
        <p14:creationId xmlns:p14="http://schemas.microsoft.com/office/powerpoint/2010/main" val="8622508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There are two major types of SCM software:</a:t>
            </a:r>
          </a:p>
        </p:txBody>
      </p:sp>
      <p:sp>
        <p:nvSpPr>
          <p:cNvPr id="3" name="Content Placeholder 2"/>
          <p:cNvSpPr>
            <a:spLocks noGrp="1"/>
          </p:cNvSpPr>
          <p:nvPr>
            <p:ph idx="1"/>
          </p:nvPr>
        </p:nvSpPr>
        <p:spPr/>
        <p:txBody>
          <a:bodyPr/>
          <a:lstStyle/>
          <a:p>
            <a:r>
              <a:rPr lang="en-US" b="1" dirty="0"/>
              <a:t>Planning applications </a:t>
            </a:r>
            <a:r>
              <a:rPr lang="en-US" dirty="0"/>
              <a:t>- Planning applications use advanced algorithms to determine the best way to fill an order.</a:t>
            </a:r>
          </a:p>
          <a:p>
            <a:endParaRPr lang="en-US" dirty="0"/>
          </a:p>
          <a:p>
            <a:r>
              <a:rPr lang="en-US" b="1" dirty="0"/>
              <a:t>Execution applications </a:t>
            </a:r>
            <a:r>
              <a:rPr lang="en-US" dirty="0"/>
              <a:t>- Execution applications track the physical status of goods, the management of materials, and financial information involving all parties.</a:t>
            </a:r>
          </a:p>
        </p:txBody>
      </p:sp>
    </p:spTree>
    <p:extLst>
      <p:ext uri="{BB962C8B-B14F-4D97-AF65-F5344CB8AC3E}">
        <p14:creationId xmlns:p14="http://schemas.microsoft.com/office/powerpoint/2010/main" val="29103923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06056"/>
            <a:ext cx="10515600" cy="5741581"/>
          </a:xfrm>
        </p:spPr>
        <p:txBody>
          <a:bodyPr>
            <a:normAutofit lnSpcReduction="10000"/>
          </a:bodyPr>
          <a:lstStyle/>
          <a:p>
            <a:r>
              <a:rPr lang="en-US" b="1" dirty="0"/>
              <a:t>SCM</a:t>
            </a:r>
            <a:r>
              <a:rPr lang="en-US" dirty="0"/>
              <a:t> systems are based on open data models, which support the sharing of data both inside and outside the enterprise (that includes key suppliers, manufacturers, and end customers of a specific company). </a:t>
            </a:r>
          </a:p>
          <a:p>
            <a:r>
              <a:rPr lang="en-US" dirty="0"/>
              <a:t>This shared data may reside in diverse database systems, or data</a:t>
            </a:r>
            <a:br>
              <a:rPr lang="en-US" dirty="0"/>
            </a:br>
            <a:r>
              <a:rPr lang="en-US" dirty="0"/>
              <a:t>warehouses, at several different sites and companies. </a:t>
            </a:r>
          </a:p>
          <a:p>
            <a:r>
              <a:rPr lang="en-US" dirty="0"/>
              <a:t>By sharing this data "</a:t>
            </a:r>
            <a:r>
              <a:rPr lang="en-US" b="1" dirty="0"/>
              <a:t>upstream</a:t>
            </a:r>
            <a:r>
              <a:rPr lang="en-US" dirty="0"/>
              <a:t>“ (with a company's suppliers) and "</a:t>
            </a:r>
            <a:r>
              <a:rPr lang="en-US" b="1" dirty="0"/>
              <a:t>downstream</a:t>
            </a:r>
            <a:r>
              <a:rPr lang="en-US" dirty="0"/>
              <a:t>" (with a company's clients).</a:t>
            </a:r>
          </a:p>
          <a:p>
            <a:r>
              <a:rPr lang="en-US" dirty="0"/>
              <a:t> </a:t>
            </a:r>
            <a:r>
              <a:rPr lang="en-US" b="1" dirty="0"/>
              <a:t>SCM</a:t>
            </a:r>
            <a:r>
              <a:rPr lang="en-US" dirty="0"/>
              <a:t> systems can improve the time-to-market of products, reduce costs, and allow all parties in the supply chain to better manage current resources and plan for future needs. </a:t>
            </a:r>
          </a:p>
          <a:p>
            <a:r>
              <a:rPr lang="en-US" dirty="0"/>
              <a:t>A lot of business firms these days are turning to Web sites and Web-based systems as part of the </a:t>
            </a:r>
            <a:r>
              <a:rPr lang="en-US" b="1" dirty="0"/>
              <a:t>SCM</a:t>
            </a:r>
            <a:r>
              <a:rPr lang="en-US" dirty="0"/>
              <a:t>. </a:t>
            </a:r>
          </a:p>
          <a:p>
            <a:r>
              <a:rPr lang="en-US" dirty="0"/>
              <a:t>Such applications offer features such as e-procurement, e-biding etc.</a:t>
            </a:r>
          </a:p>
        </p:txBody>
      </p:sp>
    </p:spTree>
    <p:extLst>
      <p:ext uri="{BB962C8B-B14F-4D97-AF65-F5344CB8AC3E}">
        <p14:creationId xmlns:p14="http://schemas.microsoft.com/office/powerpoint/2010/main" val="1655317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9" name="Group 88">
            <a:extLst>
              <a:ext uri="{FF2B5EF4-FFF2-40B4-BE49-F238E27FC236}">
                <a16:creationId xmlns:a16="http://schemas.microsoft.com/office/drawing/2014/main" id="{656F635E-BA6C-E20E-9646-AB19D045506D}"/>
              </a:ext>
            </a:extLst>
          </p:cNvPr>
          <p:cNvGrpSpPr/>
          <p:nvPr/>
        </p:nvGrpSpPr>
        <p:grpSpPr>
          <a:xfrm>
            <a:off x="457195" y="35126"/>
            <a:ext cx="10867297" cy="6557753"/>
            <a:chOff x="457195" y="35126"/>
            <a:chExt cx="10867297" cy="6557753"/>
          </a:xfrm>
        </p:grpSpPr>
        <p:grpSp>
          <p:nvGrpSpPr>
            <p:cNvPr id="67" name="Group 66">
              <a:extLst>
                <a:ext uri="{FF2B5EF4-FFF2-40B4-BE49-F238E27FC236}">
                  <a16:creationId xmlns:a16="http://schemas.microsoft.com/office/drawing/2014/main" id="{42E076D7-9FBD-D19E-7520-93BB0ADD8B8D}"/>
                </a:ext>
              </a:extLst>
            </p:cNvPr>
            <p:cNvGrpSpPr/>
            <p:nvPr/>
          </p:nvGrpSpPr>
          <p:grpSpPr>
            <a:xfrm>
              <a:off x="562706" y="375140"/>
              <a:ext cx="10761786" cy="5304690"/>
              <a:chOff x="644767" y="762001"/>
              <a:chExt cx="10761786" cy="5304690"/>
            </a:xfrm>
          </p:grpSpPr>
          <p:grpSp>
            <p:nvGrpSpPr>
              <p:cNvPr id="7" name="Group 6">
                <a:extLst>
                  <a:ext uri="{FF2B5EF4-FFF2-40B4-BE49-F238E27FC236}">
                    <a16:creationId xmlns:a16="http://schemas.microsoft.com/office/drawing/2014/main" id="{494AA255-F4AB-0851-BC5C-687125FBD888}"/>
                  </a:ext>
                </a:extLst>
              </p:cNvPr>
              <p:cNvGrpSpPr/>
              <p:nvPr/>
            </p:nvGrpSpPr>
            <p:grpSpPr>
              <a:xfrm>
                <a:off x="644768" y="762001"/>
                <a:ext cx="832339" cy="2274278"/>
                <a:chOff x="644768" y="762001"/>
                <a:chExt cx="832339" cy="2274278"/>
              </a:xfrm>
            </p:grpSpPr>
            <p:sp>
              <p:nvSpPr>
                <p:cNvPr id="4" name="Rectangle: Rounded Corners 3">
                  <a:extLst>
                    <a:ext uri="{FF2B5EF4-FFF2-40B4-BE49-F238E27FC236}">
                      <a16:creationId xmlns:a16="http://schemas.microsoft.com/office/drawing/2014/main" id="{EBA18B40-EC02-229B-E02B-2B1278D2A209}"/>
                    </a:ext>
                  </a:extLst>
                </p:cNvPr>
                <p:cNvSpPr/>
                <p:nvPr/>
              </p:nvSpPr>
              <p:spPr>
                <a:xfrm>
                  <a:off x="644768" y="762001"/>
                  <a:ext cx="832339" cy="6916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dirty="0"/>
                </a:p>
              </p:txBody>
            </p:sp>
            <p:sp>
              <p:nvSpPr>
                <p:cNvPr id="5" name="Rectangle: Rounded Corners 4">
                  <a:extLst>
                    <a:ext uri="{FF2B5EF4-FFF2-40B4-BE49-F238E27FC236}">
                      <a16:creationId xmlns:a16="http://schemas.microsoft.com/office/drawing/2014/main" id="{1BD31DAB-F97D-89DE-F9E9-9DC86DD81CFD}"/>
                    </a:ext>
                  </a:extLst>
                </p:cNvPr>
                <p:cNvSpPr/>
                <p:nvPr/>
              </p:nvSpPr>
              <p:spPr>
                <a:xfrm>
                  <a:off x="644768" y="1553309"/>
                  <a:ext cx="832339" cy="6916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dirty="0"/>
                </a:p>
              </p:txBody>
            </p:sp>
            <p:sp>
              <p:nvSpPr>
                <p:cNvPr id="6" name="Rectangle: Rounded Corners 5">
                  <a:extLst>
                    <a:ext uri="{FF2B5EF4-FFF2-40B4-BE49-F238E27FC236}">
                      <a16:creationId xmlns:a16="http://schemas.microsoft.com/office/drawing/2014/main" id="{C21D4DD8-A7F1-4C78-69E5-55D65B85E87B}"/>
                    </a:ext>
                  </a:extLst>
                </p:cNvPr>
                <p:cNvSpPr/>
                <p:nvPr/>
              </p:nvSpPr>
              <p:spPr>
                <a:xfrm>
                  <a:off x="644768" y="2344617"/>
                  <a:ext cx="832339" cy="6916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dirty="0"/>
                </a:p>
              </p:txBody>
            </p:sp>
          </p:grpSp>
          <p:sp>
            <p:nvSpPr>
              <p:cNvPr id="12" name="Rectangle: Rounded Corners 11">
                <a:extLst>
                  <a:ext uri="{FF2B5EF4-FFF2-40B4-BE49-F238E27FC236}">
                    <a16:creationId xmlns:a16="http://schemas.microsoft.com/office/drawing/2014/main" id="{123D560F-E37F-564D-D362-213295D0011A}"/>
                  </a:ext>
                </a:extLst>
              </p:cNvPr>
              <p:cNvSpPr/>
              <p:nvPr/>
            </p:nvSpPr>
            <p:spPr>
              <a:xfrm>
                <a:off x="1957752" y="1553309"/>
                <a:ext cx="832339" cy="6916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dirty="0"/>
              </a:p>
            </p:txBody>
          </p:sp>
          <p:sp>
            <p:nvSpPr>
              <p:cNvPr id="13" name="Rectangle: Rounded Corners 12">
                <a:extLst>
                  <a:ext uri="{FF2B5EF4-FFF2-40B4-BE49-F238E27FC236}">
                    <a16:creationId xmlns:a16="http://schemas.microsoft.com/office/drawing/2014/main" id="{5698591A-A0FE-15DD-F3BD-75BE0339404B}"/>
                  </a:ext>
                </a:extLst>
              </p:cNvPr>
              <p:cNvSpPr/>
              <p:nvPr/>
            </p:nvSpPr>
            <p:spPr>
              <a:xfrm>
                <a:off x="3270737" y="1553309"/>
                <a:ext cx="832339" cy="6916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dirty="0"/>
              </a:p>
            </p:txBody>
          </p:sp>
          <p:grpSp>
            <p:nvGrpSpPr>
              <p:cNvPr id="15" name="Group 14">
                <a:extLst>
                  <a:ext uri="{FF2B5EF4-FFF2-40B4-BE49-F238E27FC236}">
                    <a16:creationId xmlns:a16="http://schemas.microsoft.com/office/drawing/2014/main" id="{3774C249-CE9C-9E08-4D9D-9CE21E39306A}"/>
                  </a:ext>
                </a:extLst>
              </p:cNvPr>
              <p:cNvGrpSpPr/>
              <p:nvPr/>
            </p:nvGrpSpPr>
            <p:grpSpPr>
              <a:xfrm>
                <a:off x="644767" y="3792413"/>
                <a:ext cx="3458308" cy="2274278"/>
                <a:chOff x="644768" y="762001"/>
                <a:chExt cx="3458308" cy="2274278"/>
              </a:xfrm>
            </p:grpSpPr>
            <p:grpSp>
              <p:nvGrpSpPr>
                <p:cNvPr id="16" name="Group 15">
                  <a:extLst>
                    <a:ext uri="{FF2B5EF4-FFF2-40B4-BE49-F238E27FC236}">
                      <a16:creationId xmlns:a16="http://schemas.microsoft.com/office/drawing/2014/main" id="{1A660204-923D-2536-DE26-4EE9D97A6511}"/>
                    </a:ext>
                  </a:extLst>
                </p:cNvPr>
                <p:cNvGrpSpPr/>
                <p:nvPr/>
              </p:nvGrpSpPr>
              <p:grpSpPr>
                <a:xfrm>
                  <a:off x="644768" y="762001"/>
                  <a:ext cx="832339" cy="2274278"/>
                  <a:chOff x="644768" y="762001"/>
                  <a:chExt cx="832339" cy="2274278"/>
                </a:xfrm>
              </p:grpSpPr>
              <p:sp>
                <p:nvSpPr>
                  <p:cNvPr id="19" name="Rectangle: Rounded Corners 18">
                    <a:extLst>
                      <a:ext uri="{FF2B5EF4-FFF2-40B4-BE49-F238E27FC236}">
                        <a16:creationId xmlns:a16="http://schemas.microsoft.com/office/drawing/2014/main" id="{4A7117EE-0067-351B-2307-EED74B9BD79A}"/>
                      </a:ext>
                    </a:extLst>
                  </p:cNvPr>
                  <p:cNvSpPr/>
                  <p:nvPr/>
                </p:nvSpPr>
                <p:spPr>
                  <a:xfrm>
                    <a:off x="644768" y="762001"/>
                    <a:ext cx="832339" cy="6916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dirty="0"/>
                  </a:p>
                </p:txBody>
              </p:sp>
              <p:sp>
                <p:nvSpPr>
                  <p:cNvPr id="20" name="Rectangle: Rounded Corners 19">
                    <a:extLst>
                      <a:ext uri="{FF2B5EF4-FFF2-40B4-BE49-F238E27FC236}">
                        <a16:creationId xmlns:a16="http://schemas.microsoft.com/office/drawing/2014/main" id="{F81A80E5-F86F-CABB-781C-A4261B2BD701}"/>
                      </a:ext>
                    </a:extLst>
                  </p:cNvPr>
                  <p:cNvSpPr/>
                  <p:nvPr/>
                </p:nvSpPr>
                <p:spPr>
                  <a:xfrm>
                    <a:off x="644768" y="1553309"/>
                    <a:ext cx="832339" cy="6916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dirty="0"/>
                  </a:p>
                </p:txBody>
              </p:sp>
              <p:sp>
                <p:nvSpPr>
                  <p:cNvPr id="21" name="Rectangle: Rounded Corners 20">
                    <a:extLst>
                      <a:ext uri="{FF2B5EF4-FFF2-40B4-BE49-F238E27FC236}">
                        <a16:creationId xmlns:a16="http://schemas.microsoft.com/office/drawing/2014/main" id="{4E5FFAEF-72B5-C9AF-38CC-86D810E30BAD}"/>
                      </a:ext>
                    </a:extLst>
                  </p:cNvPr>
                  <p:cNvSpPr/>
                  <p:nvPr/>
                </p:nvSpPr>
                <p:spPr>
                  <a:xfrm>
                    <a:off x="644768" y="2344617"/>
                    <a:ext cx="832339" cy="6916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dirty="0"/>
                  </a:p>
                </p:txBody>
              </p:sp>
            </p:grpSp>
            <p:sp>
              <p:nvSpPr>
                <p:cNvPr id="17" name="Rectangle: Rounded Corners 16">
                  <a:extLst>
                    <a:ext uri="{FF2B5EF4-FFF2-40B4-BE49-F238E27FC236}">
                      <a16:creationId xmlns:a16="http://schemas.microsoft.com/office/drawing/2014/main" id="{8540DFDD-8369-D2A9-A532-FC510894FCA2}"/>
                    </a:ext>
                  </a:extLst>
                </p:cNvPr>
                <p:cNvSpPr/>
                <p:nvPr/>
              </p:nvSpPr>
              <p:spPr>
                <a:xfrm>
                  <a:off x="1957752" y="1553309"/>
                  <a:ext cx="832339" cy="6916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dirty="0"/>
                </a:p>
              </p:txBody>
            </p:sp>
            <p:sp>
              <p:nvSpPr>
                <p:cNvPr id="18" name="Rectangle: Rounded Corners 17">
                  <a:extLst>
                    <a:ext uri="{FF2B5EF4-FFF2-40B4-BE49-F238E27FC236}">
                      <a16:creationId xmlns:a16="http://schemas.microsoft.com/office/drawing/2014/main" id="{89CEB5CD-C8AF-368F-FF35-5EB649BA3DEA}"/>
                    </a:ext>
                  </a:extLst>
                </p:cNvPr>
                <p:cNvSpPr/>
                <p:nvPr/>
              </p:nvSpPr>
              <p:spPr>
                <a:xfrm>
                  <a:off x="3270737" y="1553309"/>
                  <a:ext cx="832339" cy="6916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dirty="0"/>
                </a:p>
              </p:txBody>
            </p:sp>
          </p:grpSp>
          <p:sp>
            <p:nvSpPr>
              <p:cNvPr id="36" name="Rectangle: Rounded Corners 35">
                <a:extLst>
                  <a:ext uri="{FF2B5EF4-FFF2-40B4-BE49-F238E27FC236}">
                    <a16:creationId xmlns:a16="http://schemas.microsoft.com/office/drawing/2014/main" id="{069DBC79-865A-D8DA-BC11-942C67A9B2CA}"/>
                  </a:ext>
                </a:extLst>
              </p:cNvPr>
              <p:cNvSpPr/>
              <p:nvPr/>
            </p:nvSpPr>
            <p:spPr>
              <a:xfrm>
                <a:off x="4829905" y="2932172"/>
                <a:ext cx="1195755" cy="9936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Company</a:t>
                </a:r>
              </a:p>
            </p:txBody>
          </p:sp>
          <p:sp>
            <p:nvSpPr>
              <p:cNvPr id="38" name="Rectangle: Rounded Corners 37">
                <a:extLst>
                  <a:ext uri="{FF2B5EF4-FFF2-40B4-BE49-F238E27FC236}">
                    <a16:creationId xmlns:a16="http://schemas.microsoft.com/office/drawing/2014/main" id="{92FABBF0-B3C4-6884-4406-79B1175C9000}"/>
                  </a:ext>
                </a:extLst>
              </p:cNvPr>
              <p:cNvSpPr/>
              <p:nvPr/>
            </p:nvSpPr>
            <p:spPr>
              <a:xfrm>
                <a:off x="6576645" y="2932172"/>
                <a:ext cx="1336429" cy="9936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Distributor</a:t>
                </a:r>
              </a:p>
            </p:txBody>
          </p:sp>
          <p:sp>
            <p:nvSpPr>
              <p:cNvPr id="39" name="Rectangle: Rounded Corners 38">
                <a:extLst>
                  <a:ext uri="{FF2B5EF4-FFF2-40B4-BE49-F238E27FC236}">
                    <a16:creationId xmlns:a16="http://schemas.microsoft.com/office/drawing/2014/main" id="{26D0579E-0626-495E-8DA5-6C957E46F23E}"/>
                  </a:ext>
                </a:extLst>
              </p:cNvPr>
              <p:cNvSpPr/>
              <p:nvPr/>
            </p:nvSpPr>
            <p:spPr>
              <a:xfrm>
                <a:off x="8464059" y="2932172"/>
                <a:ext cx="1195755" cy="9936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Retailer</a:t>
                </a:r>
              </a:p>
            </p:txBody>
          </p:sp>
          <p:sp>
            <p:nvSpPr>
              <p:cNvPr id="40" name="Rectangle: Rounded Corners 39">
                <a:extLst>
                  <a:ext uri="{FF2B5EF4-FFF2-40B4-BE49-F238E27FC236}">
                    <a16:creationId xmlns:a16="http://schemas.microsoft.com/office/drawing/2014/main" id="{8A448C2B-B4F2-4BAD-B01F-6A58F4A5AEDA}"/>
                  </a:ext>
                </a:extLst>
              </p:cNvPr>
              <p:cNvSpPr/>
              <p:nvPr/>
            </p:nvSpPr>
            <p:spPr>
              <a:xfrm>
                <a:off x="10210798" y="2932172"/>
                <a:ext cx="1195755" cy="9936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Customer</a:t>
                </a:r>
              </a:p>
            </p:txBody>
          </p:sp>
          <p:cxnSp>
            <p:nvCxnSpPr>
              <p:cNvPr id="42" name="Straight Connector 41">
                <a:extLst>
                  <a:ext uri="{FF2B5EF4-FFF2-40B4-BE49-F238E27FC236}">
                    <a16:creationId xmlns:a16="http://schemas.microsoft.com/office/drawing/2014/main" id="{4E2FEA60-764A-B2DC-D6E6-09A725D5BC04}"/>
                  </a:ext>
                </a:extLst>
              </p:cNvPr>
              <p:cNvCxnSpPr>
                <a:stCxn id="4" idx="3"/>
                <a:endCxn id="12" idx="1"/>
              </p:cNvCxnSpPr>
              <p:nvPr/>
            </p:nvCxnSpPr>
            <p:spPr>
              <a:xfrm>
                <a:off x="1477107" y="1107832"/>
                <a:ext cx="480645" cy="791308"/>
              </a:xfrm>
              <a:prstGeom prst="line">
                <a:avLst/>
              </a:prstGeom>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C5F70667-3CF8-E85E-9E7A-8B6C3A4DF2F3}"/>
                  </a:ext>
                </a:extLst>
              </p:cNvPr>
              <p:cNvCxnSpPr>
                <a:stCxn id="5" idx="3"/>
                <a:endCxn id="12" idx="1"/>
              </p:cNvCxnSpPr>
              <p:nvPr/>
            </p:nvCxnSpPr>
            <p:spPr>
              <a:xfrm>
                <a:off x="1477107" y="1899140"/>
                <a:ext cx="480645" cy="0"/>
              </a:xfrm>
              <a:prstGeom prst="line">
                <a:avLst/>
              </a:prstGeom>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C9ECA5CF-2A66-2622-2E57-3119A3429123}"/>
                  </a:ext>
                </a:extLst>
              </p:cNvPr>
              <p:cNvCxnSpPr>
                <a:stCxn id="6" idx="3"/>
                <a:endCxn id="12" idx="1"/>
              </p:cNvCxnSpPr>
              <p:nvPr/>
            </p:nvCxnSpPr>
            <p:spPr>
              <a:xfrm flipV="1">
                <a:off x="1477107" y="1899140"/>
                <a:ext cx="480645" cy="791308"/>
              </a:xfrm>
              <a:prstGeom prst="line">
                <a:avLst/>
              </a:prstGeom>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C393C4EF-36BE-1949-EEF8-0828C00C2080}"/>
                  </a:ext>
                </a:extLst>
              </p:cNvPr>
              <p:cNvCxnSpPr>
                <a:stCxn id="19" idx="3"/>
                <a:endCxn id="17" idx="1"/>
              </p:cNvCxnSpPr>
              <p:nvPr/>
            </p:nvCxnSpPr>
            <p:spPr>
              <a:xfrm>
                <a:off x="1477106" y="4138244"/>
                <a:ext cx="480645" cy="791308"/>
              </a:xfrm>
              <a:prstGeom prst="line">
                <a:avLst/>
              </a:prstGeom>
            </p:spPr>
            <p:style>
              <a:lnRef idx="1">
                <a:schemeClr val="dk1"/>
              </a:lnRef>
              <a:fillRef idx="0">
                <a:schemeClr val="dk1"/>
              </a:fillRef>
              <a:effectRef idx="0">
                <a:schemeClr val="dk1"/>
              </a:effectRef>
              <a:fontRef idx="minor">
                <a:schemeClr val="tx1"/>
              </a:fontRef>
            </p:style>
          </p:cxnSp>
          <p:cxnSp>
            <p:nvCxnSpPr>
              <p:cNvPr id="50" name="Straight Connector 49">
                <a:extLst>
                  <a:ext uri="{FF2B5EF4-FFF2-40B4-BE49-F238E27FC236}">
                    <a16:creationId xmlns:a16="http://schemas.microsoft.com/office/drawing/2014/main" id="{C48BED55-42BA-8BC4-4E49-AD204C495D57}"/>
                  </a:ext>
                </a:extLst>
              </p:cNvPr>
              <p:cNvCxnSpPr>
                <a:stCxn id="20" idx="3"/>
                <a:endCxn id="17" idx="1"/>
              </p:cNvCxnSpPr>
              <p:nvPr/>
            </p:nvCxnSpPr>
            <p:spPr>
              <a:xfrm>
                <a:off x="1477106" y="4929552"/>
                <a:ext cx="480645" cy="0"/>
              </a:xfrm>
              <a:prstGeom prst="line">
                <a:avLst/>
              </a:prstGeom>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8D33C332-474E-C4CB-4F7F-9168815A969D}"/>
                  </a:ext>
                </a:extLst>
              </p:cNvPr>
              <p:cNvCxnSpPr>
                <a:stCxn id="21" idx="3"/>
                <a:endCxn id="17" idx="1"/>
              </p:cNvCxnSpPr>
              <p:nvPr/>
            </p:nvCxnSpPr>
            <p:spPr>
              <a:xfrm flipV="1">
                <a:off x="1477106" y="4929552"/>
                <a:ext cx="480645" cy="791308"/>
              </a:xfrm>
              <a:prstGeom prst="line">
                <a:avLst/>
              </a:prstGeom>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31E97411-0F11-F7D9-FA25-1955372FD5CC}"/>
                  </a:ext>
                </a:extLst>
              </p:cNvPr>
              <p:cNvCxnSpPr>
                <a:stCxn id="12" idx="3"/>
                <a:endCxn id="13" idx="1"/>
              </p:cNvCxnSpPr>
              <p:nvPr/>
            </p:nvCxnSpPr>
            <p:spPr>
              <a:xfrm>
                <a:off x="2790091" y="1899140"/>
                <a:ext cx="480646" cy="0"/>
              </a:xfrm>
              <a:prstGeom prst="line">
                <a:avLst/>
              </a:prstGeom>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4B22DC55-A762-C2CE-73F1-960A230031E2}"/>
                  </a:ext>
                </a:extLst>
              </p:cNvPr>
              <p:cNvCxnSpPr>
                <a:stCxn id="17" idx="3"/>
                <a:endCxn id="18" idx="1"/>
              </p:cNvCxnSpPr>
              <p:nvPr/>
            </p:nvCxnSpPr>
            <p:spPr>
              <a:xfrm>
                <a:off x="2790090" y="4929552"/>
                <a:ext cx="480646" cy="0"/>
              </a:xfrm>
              <a:prstGeom prst="line">
                <a:avLst/>
              </a:prstGeom>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FE05261E-79DC-4AAD-52DF-DC6E95A8B877}"/>
                  </a:ext>
                </a:extLst>
              </p:cNvPr>
              <p:cNvCxnSpPr>
                <a:stCxn id="13" idx="3"/>
                <a:endCxn id="36" idx="1"/>
              </p:cNvCxnSpPr>
              <p:nvPr/>
            </p:nvCxnSpPr>
            <p:spPr>
              <a:xfrm>
                <a:off x="4103076" y="1899140"/>
                <a:ext cx="726829" cy="152986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60" name="Straight Arrow Connector 59">
                <a:extLst>
                  <a:ext uri="{FF2B5EF4-FFF2-40B4-BE49-F238E27FC236}">
                    <a16:creationId xmlns:a16="http://schemas.microsoft.com/office/drawing/2014/main" id="{D26FF990-0FE4-63CF-5E5E-76FE8EB55CE4}"/>
                  </a:ext>
                </a:extLst>
              </p:cNvPr>
              <p:cNvCxnSpPr>
                <a:stCxn id="18" idx="3"/>
                <a:endCxn id="36" idx="1"/>
              </p:cNvCxnSpPr>
              <p:nvPr/>
            </p:nvCxnSpPr>
            <p:spPr>
              <a:xfrm flipV="1">
                <a:off x="4103075" y="3429000"/>
                <a:ext cx="726830" cy="150055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62" name="Straight Arrow Connector 61">
                <a:extLst>
                  <a:ext uri="{FF2B5EF4-FFF2-40B4-BE49-F238E27FC236}">
                    <a16:creationId xmlns:a16="http://schemas.microsoft.com/office/drawing/2014/main" id="{A28A191F-98DF-2F7E-902C-C88D4FD72030}"/>
                  </a:ext>
                </a:extLst>
              </p:cNvPr>
              <p:cNvCxnSpPr>
                <a:stCxn id="36" idx="3"/>
                <a:endCxn id="38" idx="1"/>
              </p:cNvCxnSpPr>
              <p:nvPr/>
            </p:nvCxnSpPr>
            <p:spPr>
              <a:xfrm>
                <a:off x="6025660" y="3429000"/>
                <a:ext cx="550985"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64" name="Straight Arrow Connector 63">
                <a:extLst>
                  <a:ext uri="{FF2B5EF4-FFF2-40B4-BE49-F238E27FC236}">
                    <a16:creationId xmlns:a16="http://schemas.microsoft.com/office/drawing/2014/main" id="{D30B09E5-1B4A-7F1F-57C4-6021B70E80BE}"/>
                  </a:ext>
                </a:extLst>
              </p:cNvPr>
              <p:cNvCxnSpPr>
                <a:stCxn id="38" idx="3"/>
                <a:endCxn id="39" idx="1"/>
              </p:cNvCxnSpPr>
              <p:nvPr/>
            </p:nvCxnSpPr>
            <p:spPr>
              <a:xfrm>
                <a:off x="7913074" y="3429000"/>
                <a:ext cx="550985"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66" name="Straight Arrow Connector 65">
                <a:extLst>
                  <a:ext uri="{FF2B5EF4-FFF2-40B4-BE49-F238E27FC236}">
                    <a16:creationId xmlns:a16="http://schemas.microsoft.com/office/drawing/2014/main" id="{8FD1332F-AA95-D75F-6107-4843395930A3}"/>
                  </a:ext>
                </a:extLst>
              </p:cNvPr>
              <p:cNvCxnSpPr>
                <a:stCxn id="39" idx="3"/>
                <a:endCxn id="40" idx="1"/>
              </p:cNvCxnSpPr>
              <p:nvPr/>
            </p:nvCxnSpPr>
            <p:spPr>
              <a:xfrm>
                <a:off x="9659814" y="3429000"/>
                <a:ext cx="550984"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grpSp>
        <p:sp>
          <p:nvSpPr>
            <p:cNvPr id="68" name="TextBox 67">
              <a:extLst>
                <a:ext uri="{FF2B5EF4-FFF2-40B4-BE49-F238E27FC236}">
                  <a16:creationId xmlns:a16="http://schemas.microsoft.com/office/drawing/2014/main" id="{163990E4-A93C-A0A1-1FA4-E1FD8B177D0C}"/>
                </a:ext>
              </a:extLst>
            </p:cNvPr>
            <p:cNvSpPr txBox="1"/>
            <p:nvPr/>
          </p:nvSpPr>
          <p:spPr>
            <a:xfrm>
              <a:off x="2696308" y="6223547"/>
              <a:ext cx="6799384" cy="369332"/>
            </a:xfrm>
            <a:prstGeom prst="rect">
              <a:avLst/>
            </a:prstGeom>
            <a:noFill/>
          </p:spPr>
          <p:txBody>
            <a:bodyPr wrap="square" rtlCol="0">
              <a:spAutoFit/>
            </a:bodyPr>
            <a:lstStyle/>
            <a:p>
              <a:pPr algn="ctr"/>
              <a:r>
                <a:rPr lang="en-GB" b="1" dirty="0"/>
                <a:t>Figure: 7.1: Supply Chain Management</a:t>
              </a:r>
            </a:p>
          </p:txBody>
        </p:sp>
        <p:grpSp>
          <p:nvGrpSpPr>
            <p:cNvPr id="79" name="Group 78">
              <a:extLst>
                <a:ext uri="{FF2B5EF4-FFF2-40B4-BE49-F238E27FC236}">
                  <a16:creationId xmlns:a16="http://schemas.microsoft.com/office/drawing/2014/main" id="{E46C94CD-5B0D-978C-86A3-526F4BC0E641}"/>
                </a:ext>
              </a:extLst>
            </p:cNvPr>
            <p:cNvGrpSpPr/>
            <p:nvPr/>
          </p:nvGrpSpPr>
          <p:grpSpPr>
            <a:xfrm>
              <a:off x="562706" y="5814646"/>
              <a:ext cx="3657602" cy="293077"/>
              <a:chOff x="562706" y="5814646"/>
              <a:chExt cx="3657602" cy="293077"/>
            </a:xfrm>
          </p:grpSpPr>
          <p:cxnSp>
            <p:nvCxnSpPr>
              <p:cNvPr id="70" name="Straight Connector 69">
                <a:extLst>
                  <a:ext uri="{FF2B5EF4-FFF2-40B4-BE49-F238E27FC236}">
                    <a16:creationId xmlns:a16="http://schemas.microsoft.com/office/drawing/2014/main" id="{0080D00F-7808-F994-B2EF-9D70608FB988}"/>
                  </a:ext>
                </a:extLst>
              </p:cNvPr>
              <p:cNvCxnSpPr/>
              <p:nvPr/>
            </p:nvCxnSpPr>
            <p:spPr>
              <a:xfrm>
                <a:off x="562708" y="6107723"/>
                <a:ext cx="3657600" cy="0"/>
              </a:xfrm>
              <a:prstGeom prst="line">
                <a:avLst/>
              </a:prstGeom>
            </p:spPr>
            <p:style>
              <a:lnRef idx="3">
                <a:schemeClr val="dk1"/>
              </a:lnRef>
              <a:fillRef idx="0">
                <a:schemeClr val="dk1"/>
              </a:fillRef>
              <a:effectRef idx="2">
                <a:schemeClr val="dk1"/>
              </a:effectRef>
              <a:fontRef idx="minor">
                <a:schemeClr val="tx1"/>
              </a:fontRef>
            </p:style>
          </p:cxnSp>
          <p:cxnSp>
            <p:nvCxnSpPr>
              <p:cNvPr id="74" name="Straight Arrow Connector 73">
                <a:extLst>
                  <a:ext uri="{FF2B5EF4-FFF2-40B4-BE49-F238E27FC236}">
                    <a16:creationId xmlns:a16="http://schemas.microsoft.com/office/drawing/2014/main" id="{431FA8C5-3A42-0541-E73E-FEB7F73E193B}"/>
                  </a:ext>
                </a:extLst>
              </p:cNvPr>
              <p:cNvCxnSpPr/>
              <p:nvPr/>
            </p:nvCxnSpPr>
            <p:spPr>
              <a:xfrm flipV="1">
                <a:off x="562706" y="5849815"/>
                <a:ext cx="0" cy="25790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8" name="Straight Arrow Connector 77">
                <a:extLst>
                  <a:ext uri="{FF2B5EF4-FFF2-40B4-BE49-F238E27FC236}">
                    <a16:creationId xmlns:a16="http://schemas.microsoft.com/office/drawing/2014/main" id="{6E9B2D39-EA8B-6A8F-5CDB-1392170A2264}"/>
                  </a:ext>
                </a:extLst>
              </p:cNvPr>
              <p:cNvCxnSpPr/>
              <p:nvPr/>
            </p:nvCxnSpPr>
            <p:spPr>
              <a:xfrm flipV="1">
                <a:off x="4220308" y="5814646"/>
                <a:ext cx="0" cy="29307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nvGrpSpPr>
            <p:cNvPr id="80" name="Group 79">
              <a:extLst>
                <a:ext uri="{FF2B5EF4-FFF2-40B4-BE49-F238E27FC236}">
                  <a16:creationId xmlns:a16="http://schemas.microsoft.com/office/drawing/2014/main" id="{BDD0272B-1D2A-B188-84C2-699A063F038F}"/>
                </a:ext>
              </a:extLst>
            </p:cNvPr>
            <p:cNvGrpSpPr/>
            <p:nvPr/>
          </p:nvGrpSpPr>
          <p:grpSpPr>
            <a:xfrm>
              <a:off x="4665782" y="5814646"/>
              <a:ext cx="6658705" cy="293077"/>
              <a:chOff x="562706" y="5814646"/>
              <a:chExt cx="3657602" cy="293077"/>
            </a:xfrm>
          </p:grpSpPr>
          <p:cxnSp>
            <p:nvCxnSpPr>
              <p:cNvPr id="81" name="Straight Connector 80">
                <a:extLst>
                  <a:ext uri="{FF2B5EF4-FFF2-40B4-BE49-F238E27FC236}">
                    <a16:creationId xmlns:a16="http://schemas.microsoft.com/office/drawing/2014/main" id="{E12A937D-3130-4BF0-881B-726CBAF40D82}"/>
                  </a:ext>
                </a:extLst>
              </p:cNvPr>
              <p:cNvCxnSpPr/>
              <p:nvPr/>
            </p:nvCxnSpPr>
            <p:spPr>
              <a:xfrm>
                <a:off x="562708" y="6107723"/>
                <a:ext cx="3657600" cy="0"/>
              </a:xfrm>
              <a:prstGeom prst="line">
                <a:avLst/>
              </a:prstGeom>
            </p:spPr>
            <p:style>
              <a:lnRef idx="3">
                <a:schemeClr val="dk1"/>
              </a:lnRef>
              <a:fillRef idx="0">
                <a:schemeClr val="dk1"/>
              </a:fillRef>
              <a:effectRef idx="2">
                <a:schemeClr val="dk1"/>
              </a:effectRef>
              <a:fontRef idx="minor">
                <a:schemeClr val="tx1"/>
              </a:fontRef>
            </p:style>
          </p:cxnSp>
          <p:cxnSp>
            <p:nvCxnSpPr>
              <p:cNvPr id="82" name="Straight Arrow Connector 81">
                <a:extLst>
                  <a:ext uri="{FF2B5EF4-FFF2-40B4-BE49-F238E27FC236}">
                    <a16:creationId xmlns:a16="http://schemas.microsoft.com/office/drawing/2014/main" id="{15CD55C4-39CC-27C4-44A6-3177531F3F54}"/>
                  </a:ext>
                </a:extLst>
              </p:cNvPr>
              <p:cNvCxnSpPr/>
              <p:nvPr/>
            </p:nvCxnSpPr>
            <p:spPr>
              <a:xfrm flipV="1">
                <a:off x="562706" y="5849815"/>
                <a:ext cx="0" cy="25790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3" name="Straight Arrow Connector 82">
                <a:extLst>
                  <a:ext uri="{FF2B5EF4-FFF2-40B4-BE49-F238E27FC236}">
                    <a16:creationId xmlns:a16="http://schemas.microsoft.com/office/drawing/2014/main" id="{AB6531E6-BBB9-9D00-FAB3-AAFED427E84B}"/>
                  </a:ext>
                </a:extLst>
              </p:cNvPr>
              <p:cNvCxnSpPr/>
              <p:nvPr/>
            </p:nvCxnSpPr>
            <p:spPr>
              <a:xfrm flipV="1">
                <a:off x="4220308" y="5814646"/>
                <a:ext cx="0" cy="29307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84" name="TextBox 83">
              <a:extLst>
                <a:ext uri="{FF2B5EF4-FFF2-40B4-BE49-F238E27FC236}">
                  <a16:creationId xmlns:a16="http://schemas.microsoft.com/office/drawing/2014/main" id="{9FEDF0E6-32F9-E58E-29E0-F8CD2815338E}"/>
                </a:ext>
              </a:extLst>
            </p:cNvPr>
            <p:cNvSpPr txBox="1"/>
            <p:nvPr/>
          </p:nvSpPr>
          <p:spPr>
            <a:xfrm>
              <a:off x="562702" y="5731117"/>
              <a:ext cx="3657605" cy="369332"/>
            </a:xfrm>
            <a:prstGeom prst="rect">
              <a:avLst/>
            </a:prstGeom>
            <a:noFill/>
          </p:spPr>
          <p:txBody>
            <a:bodyPr wrap="square" rtlCol="0">
              <a:spAutoFit/>
            </a:bodyPr>
            <a:lstStyle/>
            <a:p>
              <a:pPr algn="ctr"/>
              <a:r>
                <a:rPr lang="en-GB" b="1" dirty="0"/>
                <a:t>Upstream</a:t>
              </a:r>
            </a:p>
          </p:txBody>
        </p:sp>
        <p:sp>
          <p:nvSpPr>
            <p:cNvPr id="85" name="TextBox 84">
              <a:extLst>
                <a:ext uri="{FF2B5EF4-FFF2-40B4-BE49-F238E27FC236}">
                  <a16:creationId xmlns:a16="http://schemas.microsoft.com/office/drawing/2014/main" id="{887E34C5-3A0F-65B2-5D1A-33A792F3AE40}"/>
                </a:ext>
              </a:extLst>
            </p:cNvPr>
            <p:cNvSpPr txBox="1"/>
            <p:nvPr/>
          </p:nvSpPr>
          <p:spPr>
            <a:xfrm>
              <a:off x="4665780" y="5665149"/>
              <a:ext cx="6658702" cy="369332"/>
            </a:xfrm>
            <a:prstGeom prst="rect">
              <a:avLst/>
            </a:prstGeom>
            <a:noFill/>
          </p:spPr>
          <p:txBody>
            <a:bodyPr wrap="square" rtlCol="0">
              <a:spAutoFit/>
            </a:bodyPr>
            <a:lstStyle/>
            <a:p>
              <a:pPr algn="ctr"/>
              <a:r>
                <a:rPr lang="en-GB" b="1" dirty="0"/>
                <a:t>Downstream</a:t>
              </a:r>
            </a:p>
          </p:txBody>
        </p:sp>
        <p:sp>
          <p:nvSpPr>
            <p:cNvPr id="86" name="TextBox 85">
              <a:extLst>
                <a:ext uri="{FF2B5EF4-FFF2-40B4-BE49-F238E27FC236}">
                  <a16:creationId xmlns:a16="http://schemas.microsoft.com/office/drawing/2014/main" id="{203E7414-CA7F-4CFD-5E08-760752634D86}"/>
                </a:ext>
              </a:extLst>
            </p:cNvPr>
            <p:cNvSpPr txBox="1"/>
            <p:nvPr/>
          </p:nvSpPr>
          <p:spPr>
            <a:xfrm>
              <a:off x="457195" y="35126"/>
              <a:ext cx="1101976" cy="369332"/>
            </a:xfrm>
            <a:prstGeom prst="rect">
              <a:avLst/>
            </a:prstGeom>
            <a:noFill/>
          </p:spPr>
          <p:txBody>
            <a:bodyPr wrap="square" rtlCol="0">
              <a:spAutoFit/>
            </a:bodyPr>
            <a:lstStyle/>
            <a:p>
              <a:pPr algn="ctr"/>
              <a:r>
                <a:rPr lang="en-GB" b="1" dirty="0"/>
                <a:t>Supplier-I</a:t>
              </a:r>
            </a:p>
          </p:txBody>
        </p:sp>
        <p:sp>
          <p:nvSpPr>
            <p:cNvPr id="87" name="TextBox 86">
              <a:extLst>
                <a:ext uri="{FF2B5EF4-FFF2-40B4-BE49-F238E27FC236}">
                  <a16:creationId xmlns:a16="http://schemas.microsoft.com/office/drawing/2014/main" id="{86BA1CEF-E734-0A8F-2CF7-D3A85B894A13}"/>
                </a:ext>
              </a:extLst>
            </p:cNvPr>
            <p:cNvSpPr txBox="1"/>
            <p:nvPr/>
          </p:nvSpPr>
          <p:spPr>
            <a:xfrm>
              <a:off x="2350471" y="575695"/>
              <a:ext cx="1195762" cy="369332"/>
            </a:xfrm>
            <a:prstGeom prst="rect">
              <a:avLst/>
            </a:prstGeom>
            <a:noFill/>
          </p:spPr>
          <p:txBody>
            <a:bodyPr wrap="square" rtlCol="0">
              <a:spAutoFit/>
            </a:bodyPr>
            <a:lstStyle/>
            <a:p>
              <a:pPr algn="ctr"/>
              <a:r>
                <a:rPr lang="en-GB" b="1" dirty="0"/>
                <a:t>Supplier-II</a:t>
              </a:r>
            </a:p>
          </p:txBody>
        </p:sp>
        <p:sp>
          <p:nvSpPr>
            <p:cNvPr id="88" name="TextBox 87">
              <a:extLst>
                <a:ext uri="{FF2B5EF4-FFF2-40B4-BE49-F238E27FC236}">
                  <a16:creationId xmlns:a16="http://schemas.microsoft.com/office/drawing/2014/main" id="{2FE86752-CF38-AE0C-132F-FD9760EA2F8B}"/>
                </a:ext>
              </a:extLst>
            </p:cNvPr>
            <p:cNvSpPr txBox="1"/>
            <p:nvPr/>
          </p:nvSpPr>
          <p:spPr>
            <a:xfrm>
              <a:off x="4501658" y="536305"/>
              <a:ext cx="1301265" cy="369332"/>
            </a:xfrm>
            <a:prstGeom prst="rect">
              <a:avLst/>
            </a:prstGeom>
            <a:noFill/>
          </p:spPr>
          <p:txBody>
            <a:bodyPr wrap="square" rtlCol="0">
              <a:spAutoFit/>
            </a:bodyPr>
            <a:lstStyle/>
            <a:p>
              <a:pPr algn="ctr"/>
              <a:r>
                <a:rPr lang="en-GB" b="1" dirty="0"/>
                <a:t>Supplier-III</a:t>
              </a:r>
            </a:p>
          </p:txBody>
        </p:sp>
      </p:grpSp>
    </p:spTree>
    <p:extLst>
      <p:ext uri="{BB962C8B-B14F-4D97-AF65-F5344CB8AC3E}">
        <p14:creationId xmlns:p14="http://schemas.microsoft.com/office/powerpoint/2010/main" val="22875130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The key supply chain processes stated by Lambert, </a:t>
            </a:r>
            <a:r>
              <a:rPr lang="en-US" b="1" dirty="0" err="1"/>
              <a:t>Dauglas</a:t>
            </a:r>
            <a:r>
              <a:rPr lang="en-US" b="1" dirty="0"/>
              <a:t> M (2004)</a:t>
            </a:r>
          </a:p>
        </p:txBody>
      </p:sp>
      <p:sp>
        <p:nvSpPr>
          <p:cNvPr id="3" name="Content Placeholder 2"/>
          <p:cNvSpPr>
            <a:spLocks noGrp="1"/>
          </p:cNvSpPr>
          <p:nvPr>
            <p:ph idx="1"/>
          </p:nvPr>
        </p:nvSpPr>
        <p:spPr/>
        <p:txBody>
          <a:bodyPr>
            <a:normAutofit/>
          </a:bodyPr>
          <a:lstStyle/>
          <a:p>
            <a:r>
              <a:rPr lang="en-US" b="1" dirty="0"/>
              <a:t>Customer Relationship Management</a:t>
            </a:r>
          </a:p>
          <a:p>
            <a:r>
              <a:rPr lang="en-US" b="1" dirty="0"/>
              <a:t>Customer Service Management</a:t>
            </a:r>
          </a:p>
          <a:p>
            <a:r>
              <a:rPr lang="en-US" b="1" dirty="0"/>
              <a:t>Demand Management Style</a:t>
            </a:r>
          </a:p>
          <a:p>
            <a:r>
              <a:rPr lang="en-US" b="1" dirty="0"/>
              <a:t>Order Fulfillment</a:t>
            </a:r>
          </a:p>
          <a:p>
            <a:r>
              <a:rPr lang="en-US" b="1" dirty="0"/>
              <a:t>Manufacturing Flow Management</a:t>
            </a:r>
          </a:p>
          <a:p>
            <a:r>
              <a:rPr lang="en-US" b="1" dirty="0"/>
              <a:t>Supplier Relationship Management</a:t>
            </a:r>
          </a:p>
          <a:p>
            <a:r>
              <a:rPr lang="en-US" b="1" dirty="0"/>
              <a:t>Product Development and Commercialization</a:t>
            </a:r>
          </a:p>
          <a:p>
            <a:r>
              <a:rPr lang="en-US" b="1" dirty="0"/>
              <a:t>Returns Management</a:t>
            </a:r>
          </a:p>
        </p:txBody>
      </p:sp>
    </p:spTree>
    <p:extLst>
      <p:ext uri="{BB962C8B-B14F-4D97-AF65-F5344CB8AC3E}">
        <p14:creationId xmlns:p14="http://schemas.microsoft.com/office/powerpoint/2010/main" val="9334295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25033"/>
            <a:ext cx="10515600" cy="5251930"/>
          </a:xfrm>
        </p:spPr>
        <p:txBody>
          <a:bodyPr>
            <a:normAutofit/>
          </a:bodyPr>
          <a:lstStyle/>
          <a:p>
            <a:r>
              <a:rPr lang="en-US" dirty="0"/>
              <a:t>The most common problem, which occurs in SCM is ‘Bullwhip Effect’ that is also called the whiplash effect. </a:t>
            </a:r>
          </a:p>
          <a:p>
            <a:r>
              <a:rPr lang="en-US" dirty="0"/>
              <a:t>The bullwhip effect is an occurrence detected by the supply chain</a:t>
            </a:r>
            <a:br>
              <a:rPr lang="en-US" dirty="0"/>
            </a:br>
            <a:r>
              <a:rPr lang="en-US" dirty="0"/>
              <a:t>management system where orders sent to the manufacturer and supplier create larger difference then the sales to the end customer. </a:t>
            </a:r>
          </a:p>
          <a:p>
            <a:r>
              <a:rPr lang="en-US" dirty="0"/>
              <a:t>Such irregular orders in the lower part of the supply chain develop to be more distinctly higher up in the supply chain. </a:t>
            </a:r>
          </a:p>
          <a:p>
            <a:r>
              <a:rPr lang="en-US" dirty="0"/>
              <a:t>This variance can interrupt the smoothness of the supply chain process as each link in the supply chain will over or underestimate the product demand resulting in exaggerated fluctuations.</a:t>
            </a:r>
          </a:p>
        </p:txBody>
      </p:sp>
    </p:spTree>
    <p:extLst>
      <p:ext uri="{BB962C8B-B14F-4D97-AF65-F5344CB8AC3E}">
        <p14:creationId xmlns:p14="http://schemas.microsoft.com/office/powerpoint/2010/main" val="34347334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44279"/>
            <a:ext cx="10515600" cy="5432684"/>
          </a:xfrm>
        </p:spPr>
        <p:txBody>
          <a:bodyPr>
            <a:normAutofit lnSpcReduction="10000"/>
          </a:bodyPr>
          <a:lstStyle/>
          <a:p>
            <a:r>
              <a:rPr lang="en-US" dirty="0"/>
              <a:t>For example, let’s say that the actual demand from a customer is 8 units, the retailer may then order 10 units from the distributor; an extra 2 units are to ensure they don’t run out of floor stock. </a:t>
            </a:r>
          </a:p>
          <a:p>
            <a:r>
              <a:rPr lang="en-US" dirty="0"/>
              <a:t>The supplier then orders 20 units from the manufacturer, allowing them to buy in bulk so they have enough stock to guarantee timely shipment of goods to the retailer. </a:t>
            </a:r>
          </a:p>
          <a:p>
            <a:r>
              <a:rPr lang="en-US" dirty="0"/>
              <a:t>The manufacturer then receives the order and then orders from their supplier in bulk; ordering 40 units to ensure economy of scale in production to meet demand. </a:t>
            </a:r>
          </a:p>
          <a:p>
            <a:r>
              <a:rPr lang="en-US" dirty="0"/>
              <a:t>Now 40 units have been produced for a demand of only 8 units, meaning the retailer will have to increase demand by dropping prices or finding more customers by marketing and advertising.</a:t>
            </a:r>
            <a:br>
              <a:rPr lang="en-US" dirty="0"/>
            </a:br>
            <a:endParaRPr lang="en-US" dirty="0"/>
          </a:p>
        </p:txBody>
      </p:sp>
    </p:spTree>
    <p:extLst>
      <p:ext uri="{BB962C8B-B14F-4D97-AF65-F5344CB8AC3E}">
        <p14:creationId xmlns:p14="http://schemas.microsoft.com/office/powerpoint/2010/main" val="22641214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Causes of Bullwhip effect</a:t>
            </a:r>
            <a:endParaRPr lang="en-US" dirty="0"/>
          </a:p>
        </p:txBody>
      </p:sp>
      <p:sp>
        <p:nvSpPr>
          <p:cNvPr id="3" name="Content Placeholder 2"/>
          <p:cNvSpPr>
            <a:spLocks noGrp="1"/>
          </p:cNvSpPr>
          <p:nvPr>
            <p:ph idx="1"/>
          </p:nvPr>
        </p:nvSpPr>
        <p:spPr>
          <a:xfrm>
            <a:off x="838200" y="1825625"/>
            <a:ext cx="10515600" cy="4702766"/>
          </a:xfrm>
        </p:spPr>
        <p:txBody>
          <a:bodyPr>
            <a:normAutofit/>
          </a:bodyPr>
          <a:lstStyle/>
          <a:p>
            <a:r>
              <a:rPr lang="en-US" dirty="0"/>
              <a:t>The following are some of the factors that contribute to the bullwhip effect in supply chains:</a:t>
            </a:r>
          </a:p>
          <a:p>
            <a:r>
              <a:rPr lang="en-US" b="1" dirty="0"/>
              <a:t>Order Disorganization </a:t>
            </a:r>
            <a:r>
              <a:rPr lang="en-US" dirty="0"/>
              <a:t>- ordering larger or smaller amounts of a product than is needed.</a:t>
            </a:r>
          </a:p>
          <a:p>
            <a:r>
              <a:rPr lang="en-US" b="1" dirty="0"/>
              <a:t>Lack of communication </a:t>
            </a:r>
            <a:r>
              <a:rPr lang="en-US" dirty="0"/>
              <a:t>- no communication up and down the supply chain makes it difficult for processes to run smoothly.</a:t>
            </a:r>
          </a:p>
          <a:p>
            <a:r>
              <a:rPr lang="en-US" b="1" dirty="0"/>
              <a:t>Free return policies </a:t>
            </a:r>
            <a:r>
              <a:rPr lang="en-US" dirty="0"/>
              <a:t>- customers may intentionally overstate demands due to shortages and then cancel when the supply becomes adequate again.</a:t>
            </a:r>
          </a:p>
        </p:txBody>
      </p:sp>
    </p:spTree>
    <p:extLst>
      <p:ext uri="{BB962C8B-B14F-4D97-AF65-F5344CB8AC3E}">
        <p14:creationId xmlns:p14="http://schemas.microsoft.com/office/powerpoint/2010/main" val="34092270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9340"/>
            <a:ext cx="10515600" cy="5347623"/>
          </a:xfrm>
        </p:spPr>
        <p:txBody>
          <a:bodyPr>
            <a:normAutofit/>
          </a:bodyPr>
          <a:lstStyle/>
          <a:p>
            <a:r>
              <a:rPr lang="en-US" b="1" dirty="0"/>
              <a:t>Order batching - </a:t>
            </a:r>
            <a:r>
              <a:rPr lang="en-US" dirty="0"/>
              <a:t>companies may not immediately place an order with their supplier; often accumulating the demand first. Order batching occurs to reduce ordering costs, to take advantage of transportation such as full truckload lowers the cost, and to benefit from sales incentives.</a:t>
            </a:r>
          </a:p>
          <a:p>
            <a:r>
              <a:rPr lang="en-US" b="1" dirty="0"/>
              <a:t>Price variations </a:t>
            </a:r>
            <a:r>
              <a:rPr lang="en-US" dirty="0"/>
              <a:t>– special discounts and other cost changes can upset regular buying patterns; buyers want to take advantage of discounts offered during a short time, this can cause uneven production and distorted demand information.</a:t>
            </a:r>
          </a:p>
          <a:p>
            <a:r>
              <a:rPr lang="en-US" b="1" dirty="0"/>
              <a:t>Demand forecast inaccuracies </a:t>
            </a:r>
            <a:r>
              <a:rPr lang="en-US" dirty="0"/>
              <a:t>– everybody in the chain adds a certain percentage to the demand estimates. The result is no visibility of true customer demand.</a:t>
            </a:r>
            <a:br>
              <a:rPr lang="en-US" dirty="0"/>
            </a:br>
            <a:endParaRPr lang="en-US" dirty="0"/>
          </a:p>
        </p:txBody>
      </p:sp>
    </p:spTree>
    <p:extLst>
      <p:ext uri="{BB962C8B-B14F-4D97-AF65-F5344CB8AC3E}">
        <p14:creationId xmlns:p14="http://schemas.microsoft.com/office/powerpoint/2010/main" val="29675018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08074"/>
            <a:ext cx="10515600" cy="5368889"/>
          </a:xfrm>
        </p:spPr>
        <p:txBody>
          <a:bodyPr>
            <a:normAutofit/>
          </a:bodyPr>
          <a:lstStyle/>
          <a:p>
            <a:r>
              <a:rPr lang="en-US" dirty="0"/>
              <a:t>Inaccurate or untimely flow of information will cause problems in the supply chain of a business firm; such problems include shortage of parts, under utilized plant capacity, excessive inventory of goods, high transportation cost etc. </a:t>
            </a:r>
          </a:p>
          <a:p>
            <a:r>
              <a:rPr lang="en-US" dirty="0"/>
              <a:t>Manufacturers may keep too many parts as they don’t know when they will get the next shipment from the suppliers.</a:t>
            </a:r>
          </a:p>
          <a:p>
            <a:r>
              <a:rPr lang="en-US" dirty="0"/>
              <a:t>Similarly, suppliers may order too few raw materials because they don’t have precise information about the upcoming demand. </a:t>
            </a:r>
          </a:p>
          <a:p>
            <a:r>
              <a:rPr lang="en-US" dirty="0"/>
              <a:t>Such inefficacies increase the overall operating cost of a company.</a:t>
            </a:r>
          </a:p>
        </p:txBody>
      </p:sp>
    </p:spTree>
    <p:extLst>
      <p:ext uri="{BB962C8B-B14F-4D97-AF65-F5344CB8AC3E}">
        <p14:creationId xmlns:p14="http://schemas.microsoft.com/office/powerpoint/2010/main" val="36004369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20996"/>
            <a:ext cx="10515600" cy="5890438"/>
          </a:xfrm>
        </p:spPr>
        <p:txBody>
          <a:bodyPr>
            <a:normAutofit lnSpcReduction="10000"/>
          </a:bodyPr>
          <a:lstStyle/>
          <a:p>
            <a:r>
              <a:rPr lang="en-US" dirty="0"/>
              <a:t>To lower such problems manufacturers, need perfect information about the demand, which make it possible to implement just-in-time system but getting the perfect information is almost impossible. </a:t>
            </a:r>
          </a:p>
          <a:p>
            <a:r>
              <a:rPr lang="en-US" dirty="0"/>
              <a:t>Uncertainties like changeable demand, delayed shipment from suppliers, defective products, production process breakdown etc. create problems in supply chain. </a:t>
            </a:r>
          </a:p>
          <a:p>
            <a:r>
              <a:rPr lang="en-US" dirty="0"/>
              <a:t>To cope with such unforeseen events, manufacturers keep more</a:t>
            </a:r>
            <a:br>
              <a:rPr lang="en-US" dirty="0"/>
            </a:br>
            <a:r>
              <a:rPr lang="en-US" dirty="0"/>
              <a:t>materials in the inventory then their demand prediction, which is referred as safety stock.</a:t>
            </a:r>
          </a:p>
          <a:p>
            <a:endParaRPr lang="en-US" dirty="0"/>
          </a:p>
          <a:p>
            <a:r>
              <a:rPr lang="en-US" i="1" dirty="0"/>
              <a:t>Demand planning is important supply chain function that determines how much products are needed to be produced to satisfy all the customers’ needs.</a:t>
            </a:r>
            <a:br>
              <a:rPr lang="en-US" dirty="0"/>
            </a:br>
            <a:endParaRPr lang="en-US" dirty="0"/>
          </a:p>
        </p:txBody>
      </p:sp>
    </p:spTree>
    <p:extLst>
      <p:ext uri="{BB962C8B-B14F-4D97-AF65-F5344CB8AC3E}">
        <p14:creationId xmlns:p14="http://schemas.microsoft.com/office/powerpoint/2010/main" val="34902863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Supply Chain Management Software</a:t>
            </a:r>
          </a:p>
        </p:txBody>
      </p:sp>
      <p:sp>
        <p:nvSpPr>
          <p:cNvPr id="3" name="Content Placeholder 2"/>
          <p:cNvSpPr>
            <a:spLocks noGrp="1"/>
          </p:cNvSpPr>
          <p:nvPr>
            <p:ph idx="1"/>
          </p:nvPr>
        </p:nvSpPr>
        <p:spPr/>
        <p:txBody>
          <a:bodyPr/>
          <a:lstStyle/>
          <a:p>
            <a:r>
              <a:rPr lang="en-US" dirty="0"/>
              <a:t>There are two categories of supply chain management software:</a:t>
            </a:r>
          </a:p>
          <a:p>
            <a:pPr lvl="1"/>
            <a:r>
              <a:rPr lang="en-US" b="1" dirty="0"/>
              <a:t>Supply Chain Planning</a:t>
            </a:r>
          </a:p>
          <a:p>
            <a:pPr lvl="1"/>
            <a:r>
              <a:rPr lang="en-US" b="1" dirty="0"/>
              <a:t>Supply Chain Execution</a:t>
            </a:r>
          </a:p>
        </p:txBody>
      </p:sp>
    </p:spTree>
    <p:extLst>
      <p:ext uri="{BB962C8B-B14F-4D97-AF65-F5344CB8AC3E}">
        <p14:creationId xmlns:p14="http://schemas.microsoft.com/office/powerpoint/2010/main" val="3977196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54492"/>
            <a:ext cx="10515600" cy="719396"/>
          </a:xfrm>
        </p:spPr>
        <p:txBody>
          <a:bodyPr/>
          <a:lstStyle/>
          <a:p>
            <a:r>
              <a:rPr lang="en-US" b="1" dirty="0"/>
              <a:t>Supply Chain Planning</a:t>
            </a:r>
            <a:endParaRPr lang="en-US" dirty="0"/>
          </a:p>
        </p:txBody>
      </p:sp>
      <p:sp>
        <p:nvSpPr>
          <p:cNvPr id="3" name="Content Placeholder 2"/>
          <p:cNvSpPr>
            <a:spLocks noGrp="1"/>
          </p:cNvSpPr>
          <p:nvPr>
            <p:ph idx="1"/>
          </p:nvPr>
        </p:nvSpPr>
        <p:spPr>
          <a:xfrm>
            <a:off x="386316" y="1350335"/>
            <a:ext cx="11419368" cy="5295014"/>
          </a:xfrm>
        </p:spPr>
        <p:txBody>
          <a:bodyPr>
            <a:normAutofit fontScale="92500" lnSpcReduction="20000"/>
          </a:bodyPr>
          <a:lstStyle/>
          <a:p>
            <a:r>
              <a:rPr lang="en-US" dirty="0"/>
              <a:t>Software that helps business firm to plan supply chain. </a:t>
            </a:r>
          </a:p>
          <a:p>
            <a:r>
              <a:rPr lang="en-US" dirty="0"/>
              <a:t>Supply chain planning enables the business firms to model their traditional supply chain in a new way, which forecasts the demands and develop optimal manufacturing and tracking plans. </a:t>
            </a:r>
          </a:p>
          <a:p>
            <a:r>
              <a:rPr lang="en-US" dirty="0"/>
              <a:t>With the support of such a system business firms can make better decision on number of goods to produce, inventory level or raw product delivery. </a:t>
            </a:r>
          </a:p>
          <a:p>
            <a:r>
              <a:rPr lang="en-US" dirty="0"/>
              <a:t>Unexpected increment in the number of orders creates disorder in the supply chain. </a:t>
            </a:r>
          </a:p>
          <a:p>
            <a:r>
              <a:rPr lang="en-US" dirty="0"/>
              <a:t>And to fulfill such demands additional raw materials needed to be ordered from the suppliers, job scheduling needed to be transformed and deliveries needed to be rescheduled by the transportation carriers. </a:t>
            </a:r>
          </a:p>
          <a:p>
            <a:r>
              <a:rPr lang="en-US" dirty="0"/>
              <a:t>In these scenarios supply chain plans software makes necessary adjustments on production &amp; distribution plans changes are shared among supply chain members.</a:t>
            </a:r>
            <a:br>
              <a:rPr lang="en-US" dirty="0"/>
            </a:br>
            <a:endParaRPr lang="en-US" dirty="0"/>
          </a:p>
        </p:txBody>
      </p:sp>
    </p:spTree>
    <p:extLst>
      <p:ext uri="{BB962C8B-B14F-4D97-AF65-F5344CB8AC3E}">
        <p14:creationId xmlns:p14="http://schemas.microsoft.com/office/powerpoint/2010/main" val="20732666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Supply Chain Execution</a:t>
            </a:r>
            <a:endParaRPr lang="en-US" dirty="0"/>
          </a:p>
        </p:txBody>
      </p:sp>
      <p:sp>
        <p:nvSpPr>
          <p:cNvPr id="3" name="Content Placeholder 2"/>
          <p:cNvSpPr>
            <a:spLocks noGrp="1"/>
          </p:cNvSpPr>
          <p:nvPr>
            <p:ph idx="1"/>
          </p:nvPr>
        </p:nvSpPr>
        <p:spPr/>
        <p:txBody>
          <a:bodyPr>
            <a:normAutofit lnSpcReduction="10000"/>
          </a:bodyPr>
          <a:lstStyle/>
          <a:p>
            <a:r>
              <a:rPr lang="en-US" dirty="0"/>
              <a:t>Software that help the business firm to execute various steps of supply chain. </a:t>
            </a:r>
          </a:p>
          <a:p>
            <a:r>
              <a:rPr lang="en-US" dirty="0"/>
              <a:t>The supply chain execution system manages the flow of products through distribution centers and warehouse, which ensures that</a:t>
            </a:r>
            <a:br>
              <a:rPr lang="en-US" dirty="0"/>
            </a:br>
            <a:r>
              <a:rPr lang="en-US" dirty="0"/>
              <a:t>that the products are delivered to the right location in efficient manner.</a:t>
            </a:r>
          </a:p>
          <a:p>
            <a:r>
              <a:rPr lang="en-US" dirty="0"/>
              <a:t>Tracking the status of goods, management of materials, warehouse</a:t>
            </a:r>
            <a:br>
              <a:rPr lang="en-US" dirty="0"/>
            </a:br>
            <a:r>
              <a:rPr lang="en-US" dirty="0"/>
              <a:t>transportation operations, financial information etc.</a:t>
            </a:r>
          </a:p>
          <a:p>
            <a:r>
              <a:rPr lang="en-US" dirty="0"/>
              <a:t>Here are some major supply chain management software vendors along with big explanations of their offerings:</a:t>
            </a:r>
            <a:br>
              <a:rPr lang="en-US" dirty="0"/>
            </a:br>
            <a:endParaRPr lang="en-US" dirty="0"/>
          </a:p>
        </p:txBody>
      </p:sp>
    </p:spTree>
    <p:extLst>
      <p:ext uri="{BB962C8B-B14F-4D97-AF65-F5344CB8AC3E}">
        <p14:creationId xmlns:p14="http://schemas.microsoft.com/office/powerpoint/2010/main" val="39320947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97442"/>
            <a:ext cx="10515600" cy="5379521"/>
          </a:xfrm>
        </p:spPr>
        <p:txBody>
          <a:bodyPr>
            <a:normAutofit/>
          </a:bodyPr>
          <a:lstStyle/>
          <a:p>
            <a:pPr marL="0" indent="0">
              <a:buNone/>
            </a:pPr>
            <a:r>
              <a:rPr lang="en-US" b="1" dirty="0"/>
              <a:t>SAP: </a:t>
            </a:r>
          </a:p>
          <a:p>
            <a:r>
              <a:rPr lang="en-US" dirty="0"/>
              <a:t>SAP offers a comprehensive suite of Supply Chain Management (SCM)</a:t>
            </a:r>
            <a:br>
              <a:rPr lang="en-US" dirty="0"/>
            </a:br>
            <a:r>
              <a:rPr lang="en-US" dirty="0"/>
              <a:t>solutions, including SAP Integrated Business Planning (IBP), SAP Extended Warehouse Management (EWM), SAP Transportation Management (TM), and SAP Ariba Supply Chain Collaboration. </a:t>
            </a:r>
          </a:p>
          <a:p>
            <a:r>
              <a:rPr lang="en-US" dirty="0"/>
              <a:t>These solutions cover various aspects of Supply Chain Planning, execution, collaboration, and visibility, helping organizations</a:t>
            </a:r>
            <a:br>
              <a:rPr lang="en-US" dirty="0"/>
            </a:br>
            <a:r>
              <a:rPr lang="en-US" dirty="0"/>
              <a:t>optimize inventory levels, streamline logistics operations, and enhance supplier collaboration.</a:t>
            </a:r>
          </a:p>
        </p:txBody>
      </p:sp>
    </p:spTree>
    <p:extLst>
      <p:ext uri="{BB962C8B-B14F-4D97-AF65-F5344CB8AC3E}">
        <p14:creationId xmlns:p14="http://schemas.microsoft.com/office/powerpoint/2010/main" val="382999812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56930"/>
            <a:ext cx="10515600" cy="5220033"/>
          </a:xfrm>
        </p:spPr>
        <p:txBody>
          <a:bodyPr>
            <a:normAutofit/>
          </a:bodyPr>
          <a:lstStyle/>
          <a:p>
            <a:pPr marL="0" indent="0">
              <a:buNone/>
            </a:pPr>
            <a:r>
              <a:rPr lang="en-US" b="1" dirty="0"/>
              <a:t>Oracle: </a:t>
            </a:r>
          </a:p>
          <a:p>
            <a:r>
              <a:rPr lang="en-US" dirty="0"/>
              <a:t>Oracle provides a range of supply chain management solutions under the Oracle Supply Chain Management (SCM) Cloud umbrella. This suite includes modules for demand planning, inventory management, order management, manufacturing, logistics, and procurement.</a:t>
            </a:r>
          </a:p>
          <a:p>
            <a:r>
              <a:rPr lang="en-US" dirty="0"/>
              <a:t>Oracle SCM Cloud offers features such as predictive analytics, real-time visibility, and </a:t>
            </a:r>
            <a:r>
              <a:rPr lang="en-US" dirty="0" err="1"/>
              <a:t>blockchain</a:t>
            </a:r>
            <a:r>
              <a:rPr lang="en-US" dirty="0"/>
              <a:t> integration to help organizations improve supply chain efficiency and responsiveness.</a:t>
            </a:r>
            <a:br>
              <a:rPr lang="en-US" dirty="0"/>
            </a:br>
            <a:endParaRPr lang="en-US" dirty="0"/>
          </a:p>
        </p:txBody>
      </p:sp>
    </p:spTree>
    <p:extLst>
      <p:ext uri="{BB962C8B-B14F-4D97-AF65-F5344CB8AC3E}">
        <p14:creationId xmlns:p14="http://schemas.microsoft.com/office/powerpoint/2010/main" val="96159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03767"/>
            <a:ext cx="10515600" cy="5273196"/>
          </a:xfrm>
        </p:spPr>
        <p:txBody>
          <a:bodyPr>
            <a:normAutofit/>
          </a:bodyPr>
          <a:lstStyle/>
          <a:p>
            <a:pPr marL="0" indent="0">
              <a:buNone/>
            </a:pPr>
            <a:r>
              <a:rPr lang="en-US" b="1" dirty="0"/>
              <a:t>Microsoft: </a:t>
            </a:r>
          </a:p>
          <a:p>
            <a:r>
              <a:rPr lang="en-US" dirty="0"/>
              <a:t>Microsoft offers supply chain management solutions as part of its</a:t>
            </a:r>
            <a:br>
              <a:rPr lang="en-US" dirty="0"/>
            </a:br>
            <a:r>
              <a:rPr lang="en-US" dirty="0"/>
              <a:t>Dynamics 365 suite, including Dynamics 365 Supply Chain Management and Dynamics 365 Commerce. </a:t>
            </a:r>
          </a:p>
          <a:p>
            <a:r>
              <a:rPr lang="en-US" dirty="0"/>
              <a:t>These solutions enable organizations to optimize supply chain operations, improve demand forecasting, and enhance customer service. </a:t>
            </a:r>
          </a:p>
          <a:p>
            <a:r>
              <a:rPr lang="en-US" dirty="0"/>
              <a:t>With features like intelligent automation, predictive insights, and </a:t>
            </a:r>
            <a:r>
              <a:rPr lang="en-US" dirty="0" err="1"/>
              <a:t>IoT</a:t>
            </a:r>
            <a:r>
              <a:rPr lang="en-US" dirty="0"/>
              <a:t> integration, Microsoft Dynamics 365 helps businesses adapt to changing market conditions and customer demands.</a:t>
            </a:r>
          </a:p>
        </p:txBody>
      </p:sp>
    </p:spTree>
    <p:extLst>
      <p:ext uri="{BB962C8B-B14F-4D97-AF65-F5344CB8AC3E}">
        <p14:creationId xmlns:p14="http://schemas.microsoft.com/office/powerpoint/2010/main" val="315472258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73888"/>
            <a:ext cx="10515600" cy="5103075"/>
          </a:xfrm>
        </p:spPr>
        <p:txBody>
          <a:bodyPr>
            <a:normAutofit/>
          </a:bodyPr>
          <a:lstStyle/>
          <a:p>
            <a:pPr marL="0" indent="0">
              <a:buNone/>
            </a:pPr>
            <a:r>
              <a:rPr lang="en-US" b="1" dirty="0"/>
              <a:t>IBM: </a:t>
            </a:r>
          </a:p>
          <a:p>
            <a:r>
              <a:rPr lang="en-US" dirty="0"/>
              <a:t>IBM offers supply chain management solutions under the IBM Sterling brand, including IBM Sterling Supply Chain Business Network, IBM Sterling Order Management, and IBM Sterling Inventory Control Tower. These solutions leverage AI, </a:t>
            </a:r>
            <a:r>
              <a:rPr lang="en-US" dirty="0" err="1"/>
              <a:t>blockchain</a:t>
            </a:r>
            <a:r>
              <a:rPr lang="en-US" dirty="0"/>
              <a:t>, and </a:t>
            </a:r>
            <a:r>
              <a:rPr lang="en-US" dirty="0" err="1"/>
              <a:t>IoT</a:t>
            </a:r>
            <a:r>
              <a:rPr lang="en-US" dirty="0"/>
              <a:t> technologies to enable end-to-end supply chain visibility, optimize inventory management, and streamline order fulfillment processes. </a:t>
            </a:r>
          </a:p>
          <a:p>
            <a:r>
              <a:rPr lang="en-US" dirty="0"/>
              <a:t>IBM Sterling solutions help organizations enhance agility, reduce costs, and mitigate risks in their supply chain operations.</a:t>
            </a:r>
          </a:p>
        </p:txBody>
      </p:sp>
    </p:spTree>
    <p:extLst>
      <p:ext uri="{BB962C8B-B14F-4D97-AF65-F5344CB8AC3E}">
        <p14:creationId xmlns:p14="http://schemas.microsoft.com/office/powerpoint/2010/main" val="23557628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39972"/>
            <a:ext cx="10515600" cy="5336991"/>
          </a:xfrm>
        </p:spPr>
        <p:txBody>
          <a:bodyPr>
            <a:normAutofit/>
          </a:bodyPr>
          <a:lstStyle/>
          <a:p>
            <a:pPr marL="0" indent="0">
              <a:buNone/>
            </a:pPr>
            <a:r>
              <a:rPr lang="en-US" b="1" dirty="0"/>
              <a:t>JDA Software (now Blue Yonder): </a:t>
            </a:r>
          </a:p>
          <a:p>
            <a:r>
              <a:rPr lang="en-US" dirty="0"/>
              <a:t>Blue Yonder, formerly known as JDA Software, provides a suite of supply chain planning and execution solutions, including Blue Yonder </a:t>
            </a:r>
            <a:r>
              <a:rPr lang="en-US" dirty="0" err="1"/>
              <a:t>Luminate</a:t>
            </a:r>
            <a:r>
              <a:rPr lang="en-US" dirty="0"/>
              <a:t> Planning, Blue Yonder </a:t>
            </a:r>
            <a:r>
              <a:rPr lang="en-US" dirty="0" err="1"/>
              <a:t>Luminate</a:t>
            </a:r>
            <a:r>
              <a:rPr lang="en-US" dirty="0"/>
              <a:t> Commerce, and Blue Yonder </a:t>
            </a:r>
            <a:r>
              <a:rPr lang="en-US" dirty="0" err="1"/>
              <a:t>Luminate</a:t>
            </a:r>
            <a:r>
              <a:rPr lang="en-US" dirty="0"/>
              <a:t> Transportation. </a:t>
            </a:r>
          </a:p>
          <a:p>
            <a:r>
              <a:rPr lang="en-US" dirty="0"/>
              <a:t>These solutions leverage AI and machine learning algorithms to enable demand forecasting, inventory optimization, and transportation planning. Blue Yonder solutions help organizations improve supply chain efficiency, minimize costs, and deliver superior customer experiences.</a:t>
            </a:r>
            <a:br>
              <a:rPr lang="en-US" dirty="0"/>
            </a:br>
            <a:endParaRPr lang="en-US" dirty="0"/>
          </a:p>
        </p:txBody>
      </p:sp>
    </p:spTree>
    <p:extLst>
      <p:ext uri="{BB962C8B-B14F-4D97-AF65-F5344CB8AC3E}">
        <p14:creationId xmlns:p14="http://schemas.microsoft.com/office/powerpoint/2010/main" val="94615013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Information Technology Support for Supply Chain Management</a:t>
            </a:r>
          </a:p>
        </p:txBody>
      </p:sp>
      <p:sp>
        <p:nvSpPr>
          <p:cNvPr id="3" name="Content Placeholder 2"/>
          <p:cNvSpPr>
            <a:spLocks noGrp="1"/>
          </p:cNvSpPr>
          <p:nvPr>
            <p:ph idx="1"/>
          </p:nvPr>
        </p:nvSpPr>
        <p:spPr/>
        <p:txBody>
          <a:bodyPr/>
          <a:lstStyle/>
          <a:p>
            <a:r>
              <a:rPr lang="en-US" dirty="0"/>
              <a:t>Efficient supply chain management (SCM) is no longer just about logistics – it’s a strategic advantage. Information technology (IT) plays a critical role in supporting and optimizing every stage of the supply chain, from sourcing raw materials to delivering finished products</a:t>
            </a:r>
            <a:br>
              <a:rPr lang="en-US" dirty="0"/>
            </a:br>
            <a:r>
              <a:rPr lang="en-US" dirty="0"/>
              <a:t>to customers. </a:t>
            </a:r>
          </a:p>
          <a:p>
            <a:r>
              <a:rPr lang="en-US" dirty="0"/>
              <a:t>Effective supply chain management (SCM) is essential for businesses to remain competitive and meet customer demands and Information technology (IT) plays a pivotal role in enhancing supply chain efficiency, visibility, and agility.</a:t>
            </a:r>
          </a:p>
        </p:txBody>
      </p:sp>
    </p:spTree>
    <p:extLst>
      <p:ext uri="{BB962C8B-B14F-4D97-AF65-F5344CB8AC3E}">
        <p14:creationId xmlns:p14="http://schemas.microsoft.com/office/powerpoint/2010/main" val="188608068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73888"/>
            <a:ext cx="10515600" cy="5103075"/>
          </a:xfrm>
        </p:spPr>
        <p:txBody>
          <a:bodyPr/>
          <a:lstStyle/>
          <a:p>
            <a:r>
              <a:rPr lang="en-US" dirty="0"/>
              <a:t>Information technology serves as a catalyst for transforming traditional supply chain processes into dynamic, data-driven operations. </a:t>
            </a:r>
          </a:p>
          <a:p>
            <a:r>
              <a:rPr lang="en-US" dirty="0"/>
              <a:t>IT systems facilitate seamless communication, collaboration, and coordination across the entire supply chain network, encompassing suppliers, manufacturers, distributors, and customers.</a:t>
            </a:r>
          </a:p>
        </p:txBody>
      </p:sp>
    </p:spTree>
    <p:extLst>
      <p:ext uri="{BB962C8B-B14F-4D97-AF65-F5344CB8AC3E}">
        <p14:creationId xmlns:p14="http://schemas.microsoft.com/office/powerpoint/2010/main" val="123470409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Streamlining Operations and Data Visibility:</a:t>
            </a:r>
          </a:p>
        </p:txBody>
      </p:sp>
      <p:sp>
        <p:nvSpPr>
          <p:cNvPr id="3" name="Content Placeholder 2"/>
          <p:cNvSpPr>
            <a:spLocks noGrp="1"/>
          </p:cNvSpPr>
          <p:nvPr>
            <p:ph idx="1"/>
          </p:nvPr>
        </p:nvSpPr>
        <p:spPr/>
        <p:txBody>
          <a:bodyPr>
            <a:normAutofit fontScale="92500" lnSpcReduction="10000"/>
          </a:bodyPr>
          <a:lstStyle/>
          <a:p>
            <a:pPr marL="0" indent="0">
              <a:buNone/>
            </a:pPr>
            <a:r>
              <a:rPr lang="en-US" b="1" dirty="0"/>
              <a:t>Enterprise Resource Planning (ERP) Systems: </a:t>
            </a:r>
          </a:p>
          <a:p>
            <a:r>
              <a:rPr lang="en-US" dirty="0"/>
              <a:t>ERP systems serve as the digital backbone of many organizations, integrating various business functions, including procurement, inventory management, production planning, and logistics. </a:t>
            </a:r>
          </a:p>
          <a:p>
            <a:r>
              <a:rPr lang="en-US" dirty="0"/>
              <a:t>This provides a centralized platform for data collection and analysis,</a:t>
            </a:r>
            <a:br>
              <a:rPr lang="en-US" dirty="0"/>
            </a:br>
            <a:r>
              <a:rPr lang="en-US" dirty="0"/>
              <a:t>offering real-time visibility into inventory levels, production schedules, and ERP order fulfillment status. </a:t>
            </a:r>
          </a:p>
          <a:p>
            <a:r>
              <a:rPr lang="en-US" dirty="0"/>
              <a:t>A clothing manufacturer, for example, uses an ERP system to track fabric inventory across different warehouses. </a:t>
            </a:r>
          </a:p>
          <a:p>
            <a:r>
              <a:rPr lang="en-US" dirty="0"/>
              <a:t>This enables them to identify low stock levels and trigger automatic purchase orders from suppliers, preventing production delays.</a:t>
            </a:r>
          </a:p>
        </p:txBody>
      </p:sp>
    </p:spTree>
    <p:extLst>
      <p:ext uri="{BB962C8B-B14F-4D97-AF65-F5344CB8AC3E}">
        <p14:creationId xmlns:p14="http://schemas.microsoft.com/office/powerpoint/2010/main" val="417883688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25033"/>
            <a:ext cx="10515600" cy="5251930"/>
          </a:xfrm>
        </p:spPr>
        <p:txBody>
          <a:bodyPr>
            <a:normAutofit/>
          </a:bodyPr>
          <a:lstStyle/>
          <a:p>
            <a:pPr marL="0" indent="0">
              <a:buNone/>
            </a:pPr>
            <a:r>
              <a:rPr lang="en-US" b="1" dirty="0"/>
              <a:t>Warehouse Management Systems (WMS): </a:t>
            </a:r>
          </a:p>
          <a:p>
            <a:r>
              <a:rPr lang="en-US" dirty="0"/>
              <a:t>WMS software helps manage warehouse operations efficiently by optimizing warehouse layout, tracking inventory movement, and automating picking and packing processes. </a:t>
            </a:r>
          </a:p>
          <a:p>
            <a:r>
              <a:rPr lang="en-US" dirty="0"/>
              <a:t>This reduces errors, improves picking accuracy, and expedites order fulfillment. </a:t>
            </a:r>
          </a:p>
          <a:p>
            <a:r>
              <a:rPr lang="en-US" dirty="0"/>
              <a:t>For example, a pharmaceutical company utilizes a WMS to manage its</a:t>
            </a:r>
            <a:br>
              <a:rPr lang="en-US" dirty="0"/>
            </a:br>
            <a:r>
              <a:rPr lang="en-US" dirty="0"/>
              <a:t>temperature-controlled warehouse. </a:t>
            </a:r>
          </a:p>
          <a:p>
            <a:r>
              <a:rPr lang="en-US" dirty="0"/>
              <a:t>Sensors within the warehouse monitor temperature and humidity, and the WMS generates alerts if conditions deviate from the required range, ensuring the quality and integrity of pharmaceuticals.</a:t>
            </a:r>
            <a:br>
              <a:rPr lang="en-US" dirty="0"/>
            </a:br>
            <a:endParaRPr lang="en-US" dirty="0"/>
          </a:p>
        </p:txBody>
      </p:sp>
    </p:spTree>
    <p:extLst>
      <p:ext uri="{BB962C8B-B14F-4D97-AF65-F5344CB8AC3E}">
        <p14:creationId xmlns:p14="http://schemas.microsoft.com/office/powerpoint/2010/main" val="362214016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2. Enhancing Collaboration and Communication:</a:t>
            </a:r>
          </a:p>
        </p:txBody>
      </p:sp>
      <p:sp>
        <p:nvSpPr>
          <p:cNvPr id="3" name="Content Placeholder 2"/>
          <p:cNvSpPr>
            <a:spLocks noGrp="1"/>
          </p:cNvSpPr>
          <p:nvPr>
            <p:ph idx="1"/>
          </p:nvPr>
        </p:nvSpPr>
        <p:spPr>
          <a:xfrm>
            <a:off x="838200" y="1825625"/>
            <a:ext cx="10515600" cy="4553910"/>
          </a:xfrm>
        </p:spPr>
        <p:txBody>
          <a:bodyPr>
            <a:normAutofit fontScale="92500" lnSpcReduction="10000"/>
          </a:bodyPr>
          <a:lstStyle/>
          <a:p>
            <a:pPr marL="0" indent="0">
              <a:buNone/>
            </a:pPr>
            <a:r>
              <a:rPr lang="en-US" b="1" dirty="0"/>
              <a:t>Supply Chain Management (SCM) Suites: </a:t>
            </a:r>
          </a:p>
          <a:p>
            <a:r>
              <a:rPr lang="en-US" dirty="0"/>
              <a:t>Cloud-based SCM suites offer functionalities like collaborative forecasting and planning (CP&amp;F). </a:t>
            </a:r>
          </a:p>
          <a:p>
            <a:r>
              <a:rPr lang="en-US" dirty="0"/>
              <a:t> This allows different stakeholders within the supply chain - manufacturers, distributors, and retailers - to share data and jointly forecast demand, leading to more accurate production planning and reduced </a:t>
            </a:r>
            <a:r>
              <a:rPr lang="en-US" dirty="0" err="1"/>
              <a:t>stockouts</a:t>
            </a:r>
            <a:r>
              <a:rPr lang="en-US" dirty="0"/>
              <a:t>. </a:t>
            </a:r>
          </a:p>
          <a:p>
            <a:r>
              <a:rPr lang="en-US" dirty="0"/>
              <a:t>A grocery store chain utilizes a cloud based SCM suite for CP&amp;F with its suppliers. </a:t>
            </a:r>
          </a:p>
          <a:p>
            <a:r>
              <a:rPr lang="en-US" dirty="0"/>
              <a:t>By sharing sales data and upcoming promotions, they can collaboratively plan inventory levels and deliveries, ensuring popular items are always in stock.</a:t>
            </a:r>
            <a:br>
              <a:rPr lang="en-US" dirty="0"/>
            </a:br>
            <a:endParaRPr lang="en-US" dirty="0"/>
          </a:p>
        </p:txBody>
      </p:sp>
    </p:spTree>
    <p:extLst>
      <p:ext uri="{BB962C8B-B14F-4D97-AF65-F5344CB8AC3E}">
        <p14:creationId xmlns:p14="http://schemas.microsoft.com/office/powerpoint/2010/main" val="247350002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97442"/>
            <a:ext cx="10515600" cy="5379521"/>
          </a:xfrm>
        </p:spPr>
        <p:txBody>
          <a:bodyPr>
            <a:normAutofit/>
          </a:bodyPr>
          <a:lstStyle/>
          <a:p>
            <a:pPr marL="0" indent="0">
              <a:buNone/>
            </a:pPr>
            <a:r>
              <a:rPr lang="en-US" b="1" dirty="0"/>
              <a:t>Communication and Collaboration Platforms: </a:t>
            </a:r>
          </a:p>
          <a:p>
            <a:r>
              <a:rPr lang="en-US" dirty="0"/>
              <a:t>Instant messaging platforms and video conferencing tools facilitate real-time communication between internal teams and external partners within the supply chain. </a:t>
            </a:r>
          </a:p>
          <a:p>
            <a:r>
              <a:rPr lang="en-US" dirty="0"/>
              <a:t>This fosters collaboration, enables faster issue resolution, and improves overall supply chain responsiveness. </a:t>
            </a:r>
          </a:p>
          <a:p>
            <a:r>
              <a:rPr lang="en-US" dirty="0"/>
              <a:t>For instance, a logistics company uses a video conferencing platform to conduct virtual inspections of supplier facilities overseas. </a:t>
            </a:r>
          </a:p>
          <a:p>
            <a:r>
              <a:rPr lang="en-US" dirty="0"/>
              <a:t>This allows them to assess potential partners efficiently and</a:t>
            </a:r>
            <a:br>
              <a:rPr lang="en-US" dirty="0"/>
            </a:br>
            <a:r>
              <a:rPr lang="en-US" dirty="0"/>
              <a:t>remotely, streamlining the supplier selection process.</a:t>
            </a:r>
            <a:br>
              <a:rPr lang="en-US" dirty="0"/>
            </a:br>
            <a:endParaRPr lang="en-US" dirty="0"/>
          </a:p>
        </p:txBody>
      </p:sp>
    </p:spTree>
    <p:extLst>
      <p:ext uri="{BB962C8B-B14F-4D97-AF65-F5344CB8AC3E}">
        <p14:creationId xmlns:p14="http://schemas.microsoft.com/office/powerpoint/2010/main" val="21730870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3. Leveraging Data Analytics and Automation:</a:t>
            </a:r>
          </a:p>
        </p:txBody>
      </p:sp>
      <p:sp>
        <p:nvSpPr>
          <p:cNvPr id="3" name="Content Placeholder 2"/>
          <p:cNvSpPr>
            <a:spLocks noGrp="1"/>
          </p:cNvSpPr>
          <p:nvPr>
            <p:ph idx="1"/>
          </p:nvPr>
        </p:nvSpPr>
        <p:spPr/>
        <p:txBody>
          <a:bodyPr>
            <a:normAutofit/>
          </a:bodyPr>
          <a:lstStyle/>
          <a:p>
            <a:pPr marL="0" indent="0">
              <a:buNone/>
            </a:pPr>
            <a:r>
              <a:rPr lang="en-US" b="1" dirty="0"/>
              <a:t>Business Intelligence (BI) and Data Analytics Tools: </a:t>
            </a:r>
          </a:p>
          <a:p>
            <a:r>
              <a:rPr lang="en-US" dirty="0"/>
              <a:t>By analyzing historical data on sales, inventory levels, and delivery times, businesses can identify trends and make data-driven decisions regarding sourcing, production planning, and logistics. </a:t>
            </a:r>
          </a:p>
          <a:p>
            <a:r>
              <a:rPr lang="en-US" dirty="0"/>
              <a:t>A manufacturing company analyzes sales data to identify seasonal trends in product demand. </a:t>
            </a:r>
          </a:p>
          <a:p>
            <a:r>
              <a:rPr lang="en-US" dirty="0"/>
              <a:t>Based on these insights, they can adjust production schedules and inventory levels to meet peak demand periods, avoiding </a:t>
            </a:r>
            <a:r>
              <a:rPr lang="en-US" dirty="0" err="1"/>
              <a:t>stockouts</a:t>
            </a:r>
            <a:r>
              <a:rPr lang="en-US" dirty="0"/>
              <a:t> and lost sales.</a:t>
            </a:r>
            <a:br>
              <a:rPr lang="en-US" dirty="0"/>
            </a:br>
            <a:endParaRPr lang="en-US" dirty="0"/>
          </a:p>
        </p:txBody>
      </p:sp>
    </p:spTree>
    <p:extLst>
      <p:ext uri="{BB962C8B-B14F-4D97-AF65-F5344CB8AC3E}">
        <p14:creationId xmlns:p14="http://schemas.microsoft.com/office/powerpoint/2010/main" val="236396399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35665"/>
            <a:ext cx="10515600" cy="5241298"/>
          </a:xfrm>
        </p:spPr>
        <p:txBody>
          <a:bodyPr>
            <a:normAutofit/>
          </a:bodyPr>
          <a:lstStyle/>
          <a:p>
            <a:pPr marL="0" indent="0">
              <a:buNone/>
            </a:pPr>
            <a:r>
              <a:rPr lang="en-US" b="1" dirty="0"/>
              <a:t>Robotic Process Automation (RPA): </a:t>
            </a:r>
          </a:p>
          <a:p>
            <a:r>
              <a:rPr lang="en-US" dirty="0"/>
              <a:t>RPA automates repetitive tasks such as data entry, order processing, and invoice generation. </a:t>
            </a:r>
          </a:p>
          <a:p>
            <a:r>
              <a:rPr lang="en-US" dirty="0"/>
              <a:t>This frees up human employees to focus on more strategic tasks and reduces errors associated with manual data entry. </a:t>
            </a:r>
          </a:p>
          <a:p>
            <a:r>
              <a:rPr lang="en-US" dirty="0"/>
              <a:t>A logistics company uses RPA to automate the process of</a:t>
            </a:r>
            <a:br>
              <a:rPr lang="en-US" dirty="0"/>
            </a:br>
            <a:r>
              <a:rPr lang="en-US" dirty="0"/>
              <a:t>generating customs documentation for international shipments. </a:t>
            </a:r>
          </a:p>
          <a:p>
            <a:r>
              <a:rPr lang="en-US" dirty="0"/>
              <a:t>This reduces processing time, minimizes errors, and ensures compliance with import regulations.</a:t>
            </a:r>
          </a:p>
        </p:txBody>
      </p:sp>
    </p:spTree>
    <p:extLst>
      <p:ext uri="{BB962C8B-B14F-4D97-AF65-F5344CB8AC3E}">
        <p14:creationId xmlns:p14="http://schemas.microsoft.com/office/powerpoint/2010/main" val="325113104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2473"/>
            <a:ext cx="10515600" cy="1325563"/>
          </a:xfrm>
        </p:spPr>
        <p:txBody>
          <a:bodyPr/>
          <a:lstStyle/>
          <a:p>
            <a:r>
              <a:rPr lang="en-US" b="1" dirty="0"/>
              <a:t>4. Emerging Technologies for Future-Proofing the Supply Chain:</a:t>
            </a:r>
          </a:p>
        </p:txBody>
      </p:sp>
      <p:sp>
        <p:nvSpPr>
          <p:cNvPr id="3" name="Content Placeholder 2"/>
          <p:cNvSpPr>
            <a:spLocks noGrp="1"/>
          </p:cNvSpPr>
          <p:nvPr>
            <p:ph idx="1"/>
          </p:nvPr>
        </p:nvSpPr>
        <p:spPr>
          <a:xfrm>
            <a:off x="838200" y="1562986"/>
            <a:ext cx="10515600" cy="4613977"/>
          </a:xfrm>
        </p:spPr>
        <p:txBody>
          <a:bodyPr>
            <a:normAutofit/>
          </a:bodyPr>
          <a:lstStyle/>
          <a:p>
            <a:pPr marL="0" indent="0">
              <a:buNone/>
            </a:pPr>
            <a:r>
              <a:rPr lang="en-US" b="1" dirty="0"/>
              <a:t>Internet of Things (</a:t>
            </a:r>
            <a:r>
              <a:rPr lang="en-US" b="1" dirty="0" err="1"/>
              <a:t>IoT</a:t>
            </a:r>
            <a:r>
              <a:rPr lang="en-US" b="1" dirty="0"/>
              <a:t>): </a:t>
            </a:r>
          </a:p>
          <a:p>
            <a:r>
              <a:rPr lang="en-US" dirty="0"/>
              <a:t>Sensors embedded in warehouses, manufacturing equipment, and transportation vehicles can collect real-time data on inventory</a:t>
            </a:r>
            <a:br>
              <a:rPr lang="en-US" dirty="0"/>
            </a:br>
            <a:r>
              <a:rPr lang="en-US" dirty="0"/>
              <a:t>levels, equipment performance, and product location. </a:t>
            </a:r>
          </a:p>
          <a:p>
            <a:r>
              <a:rPr lang="en-US" dirty="0"/>
              <a:t>This data can be used for predictive maintenance, optimizing resource allocation, and improving overall supply chain visibility. </a:t>
            </a:r>
          </a:p>
          <a:p>
            <a:r>
              <a:rPr lang="en-US" dirty="0"/>
              <a:t>For example, a food manufacturer uses </a:t>
            </a:r>
            <a:r>
              <a:rPr lang="en-US" dirty="0" err="1"/>
              <a:t>IoT</a:t>
            </a:r>
            <a:r>
              <a:rPr lang="en-US" dirty="0"/>
              <a:t> sensors to monitor the temperature and humidity within delivery trucks. </a:t>
            </a:r>
          </a:p>
          <a:p>
            <a:r>
              <a:rPr lang="en-US" dirty="0"/>
              <a:t>Real-time data ensures that perishable goods are transported in optimal conditions, minimizing spoilage and waste.</a:t>
            </a:r>
          </a:p>
        </p:txBody>
      </p:sp>
    </p:spTree>
    <p:extLst>
      <p:ext uri="{BB962C8B-B14F-4D97-AF65-F5344CB8AC3E}">
        <p14:creationId xmlns:p14="http://schemas.microsoft.com/office/powerpoint/2010/main" val="102135901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33647"/>
            <a:ext cx="10515600" cy="5443316"/>
          </a:xfrm>
        </p:spPr>
        <p:txBody>
          <a:bodyPr>
            <a:normAutofit/>
          </a:bodyPr>
          <a:lstStyle/>
          <a:p>
            <a:pPr marL="0" indent="0">
              <a:buNone/>
            </a:pPr>
            <a:r>
              <a:rPr lang="en-US" b="1" dirty="0" err="1"/>
              <a:t>Blockchain</a:t>
            </a:r>
            <a:r>
              <a:rPr lang="en-US" b="1" dirty="0"/>
              <a:t>: </a:t>
            </a:r>
          </a:p>
          <a:p>
            <a:r>
              <a:rPr lang="en-US" dirty="0" err="1"/>
              <a:t>Blockchain</a:t>
            </a:r>
            <a:r>
              <a:rPr lang="en-US" dirty="0"/>
              <a:t> technology can be used to create a secure and</a:t>
            </a:r>
            <a:br>
              <a:rPr lang="en-US" dirty="0"/>
            </a:br>
            <a:r>
              <a:rPr lang="en-US" dirty="0"/>
              <a:t>transparent record of transactions throughout the supply chain. </a:t>
            </a:r>
          </a:p>
          <a:p>
            <a:r>
              <a:rPr lang="en-US" dirty="0"/>
              <a:t>This can enhance traceability, track product provenance, and combat counterfeiting.</a:t>
            </a:r>
          </a:p>
          <a:p>
            <a:r>
              <a:rPr lang="en-US" dirty="0"/>
              <a:t>A pharmaceutical company leverages </a:t>
            </a:r>
            <a:r>
              <a:rPr lang="en-US" dirty="0" err="1"/>
              <a:t>blockchain</a:t>
            </a:r>
            <a:r>
              <a:rPr lang="en-US" dirty="0"/>
              <a:t> to track the movement of medications throughout the supply chain. </a:t>
            </a:r>
          </a:p>
          <a:p>
            <a:r>
              <a:rPr lang="en-US" dirty="0"/>
              <a:t>This ensures the authenticity and quality of drugs, improving patient safety and preventing the circulation of counterfeit medications.</a:t>
            </a:r>
          </a:p>
        </p:txBody>
      </p:sp>
    </p:spTree>
    <p:extLst>
      <p:ext uri="{BB962C8B-B14F-4D97-AF65-F5344CB8AC3E}">
        <p14:creationId xmlns:p14="http://schemas.microsoft.com/office/powerpoint/2010/main" val="178409690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Best Examples of Information Technology Support for Supply Chain Management:</a:t>
            </a:r>
          </a:p>
        </p:txBody>
      </p:sp>
      <p:sp>
        <p:nvSpPr>
          <p:cNvPr id="3" name="Content Placeholder 2"/>
          <p:cNvSpPr>
            <a:spLocks noGrp="1"/>
          </p:cNvSpPr>
          <p:nvPr>
            <p:ph idx="1"/>
          </p:nvPr>
        </p:nvSpPr>
        <p:spPr/>
        <p:txBody>
          <a:bodyPr>
            <a:normAutofit lnSpcReduction="10000"/>
          </a:bodyPr>
          <a:lstStyle/>
          <a:p>
            <a:pPr marL="514350" indent="-514350">
              <a:buAutoNum type="arabicPeriod"/>
            </a:pPr>
            <a:r>
              <a:rPr lang="en-US" b="1" dirty="0"/>
              <a:t>Amazon: </a:t>
            </a:r>
          </a:p>
          <a:p>
            <a:r>
              <a:rPr lang="en-US" dirty="0"/>
              <a:t>Amazon's use of IT technologies such as robotics, artificial intelligence (AI), and predictive analytics has revolutionized supply chain management. </a:t>
            </a:r>
          </a:p>
          <a:p>
            <a:r>
              <a:rPr lang="en-US" dirty="0"/>
              <a:t>Its fulfillment centers utilize automated robotic systems for inventory storage and retrieval, optimizing warehouse efficiency and order fulfillment speed. </a:t>
            </a:r>
          </a:p>
          <a:p>
            <a:r>
              <a:rPr lang="en-US" dirty="0"/>
              <a:t>Additionally, Amazon's sophisticated AI algorithms forecast customer demand, optimize inventory refill, and provide product recommendations, enabling the company to deliver a seamless</a:t>
            </a:r>
            <a:br>
              <a:rPr lang="en-US" dirty="0"/>
            </a:br>
            <a:r>
              <a:rPr lang="en-US" dirty="0"/>
              <a:t>customer experience.</a:t>
            </a:r>
          </a:p>
        </p:txBody>
      </p:sp>
    </p:spTree>
    <p:extLst>
      <p:ext uri="{BB962C8B-B14F-4D97-AF65-F5344CB8AC3E}">
        <p14:creationId xmlns:p14="http://schemas.microsoft.com/office/powerpoint/2010/main" val="412052209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41991"/>
            <a:ext cx="10515600" cy="5134972"/>
          </a:xfrm>
        </p:spPr>
        <p:txBody>
          <a:bodyPr>
            <a:normAutofit/>
          </a:bodyPr>
          <a:lstStyle/>
          <a:p>
            <a:pPr marL="0" indent="0">
              <a:buNone/>
            </a:pPr>
            <a:r>
              <a:rPr lang="en-US" b="1" dirty="0"/>
              <a:t>2. Walmart: </a:t>
            </a:r>
          </a:p>
          <a:p>
            <a:r>
              <a:rPr lang="en-US" dirty="0"/>
              <a:t>Walmart leverages IT solutions such as RFID (Radio-Frequency Identification) technology and advanced analytics to enhance supply chain visibility and inventory management. </a:t>
            </a:r>
          </a:p>
          <a:p>
            <a:r>
              <a:rPr lang="en-US" dirty="0"/>
              <a:t>RFID tags track merchandise throughout the supply chain, enabling real-time inventory tracking and reducing </a:t>
            </a:r>
            <a:r>
              <a:rPr lang="en-US" dirty="0" err="1"/>
              <a:t>stockouts</a:t>
            </a:r>
            <a:r>
              <a:rPr lang="en-US" dirty="0"/>
              <a:t>. </a:t>
            </a:r>
          </a:p>
          <a:p>
            <a:r>
              <a:rPr lang="en-US" dirty="0"/>
              <a:t>Walmart's demand forecasting algorithms analyze sales data and external factors to predict demand accurately, optimize inventory levels, and reduce excess inventory holding costs.</a:t>
            </a:r>
          </a:p>
        </p:txBody>
      </p:sp>
    </p:spTree>
    <p:extLst>
      <p:ext uri="{BB962C8B-B14F-4D97-AF65-F5344CB8AC3E}">
        <p14:creationId xmlns:p14="http://schemas.microsoft.com/office/powerpoint/2010/main" val="278539362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20726"/>
            <a:ext cx="10515600" cy="5156237"/>
          </a:xfrm>
        </p:spPr>
        <p:txBody>
          <a:bodyPr>
            <a:normAutofit/>
          </a:bodyPr>
          <a:lstStyle/>
          <a:p>
            <a:pPr marL="0" indent="0">
              <a:buNone/>
            </a:pPr>
            <a:r>
              <a:rPr lang="en-US" b="1" dirty="0"/>
              <a:t>3. Coca-Cola: </a:t>
            </a:r>
          </a:p>
          <a:p>
            <a:r>
              <a:rPr lang="en-US" dirty="0"/>
              <a:t>Coca-Cola utilizes IT-enabled supply chain management systems to</a:t>
            </a:r>
            <a:br>
              <a:rPr lang="en-US" dirty="0"/>
            </a:br>
            <a:r>
              <a:rPr lang="en-US" dirty="0"/>
              <a:t>optimize production planning, distribution logistics, and inventory management. </a:t>
            </a:r>
          </a:p>
          <a:p>
            <a:r>
              <a:rPr lang="en-US" dirty="0"/>
              <a:t>Its Dynamic Scheduling System (DSS) leverages AI and optimization algorithms to generate production schedules based on demand forecasts, production capacity, and resource constraints. </a:t>
            </a:r>
          </a:p>
          <a:p>
            <a:r>
              <a:rPr lang="en-US" dirty="0"/>
              <a:t>This enables Coca-Cola to minimize production costs, optimize</a:t>
            </a:r>
            <a:br>
              <a:rPr lang="en-US" dirty="0"/>
            </a:br>
            <a:r>
              <a:rPr lang="en-US" dirty="0"/>
              <a:t>production efficiency, and respond quickly to changing market demand.</a:t>
            </a:r>
          </a:p>
        </p:txBody>
      </p:sp>
    </p:spTree>
    <p:extLst>
      <p:ext uri="{BB962C8B-B14F-4D97-AF65-F5344CB8AC3E}">
        <p14:creationId xmlns:p14="http://schemas.microsoft.com/office/powerpoint/2010/main" val="38677169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14400"/>
            <a:ext cx="10515600" cy="5262563"/>
          </a:xfrm>
        </p:spPr>
        <p:txBody>
          <a:bodyPr>
            <a:normAutofit/>
          </a:bodyPr>
          <a:lstStyle/>
          <a:p>
            <a:pPr marL="0" indent="0">
              <a:buNone/>
            </a:pPr>
            <a:r>
              <a:rPr lang="en-US" b="1" dirty="0"/>
              <a:t>4. Zara: </a:t>
            </a:r>
          </a:p>
          <a:p>
            <a:r>
              <a:rPr lang="en-US" dirty="0"/>
              <a:t>Zara's agile supply chain is powered by IT systems that enable real-time communication and collaboration with suppliers, manufacturers, and distribution centers. </a:t>
            </a:r>
          </a:p>
          <a:p>
            <a:r>
              <a:rPr lang="en-US" dirty="0"/>
              <a:t>Its "fast fashion" model relies on IT-enabled demand sensing and rapid replenishment capabilities to respond quickly to changing fashion trends and customer preferences. </a:t>
            </a:r>
          </a:p>
          <a:p>
            <a:r>
              <a:rPr lang="en-US" dirty="0"/>
              <a:t>Zara's IT systems facilitate seamless information exchange, enabling agile decision-making and fast product turnaround times.</a:t>
            </a:r>
          </a:p>
        </p:txBody>
      </p:sp>
    </p:spTree>
    <p:extLst>
      <p:ext uri="{BB962C8B-B14F-4D97-AF65-F5344CB8AC3E}">
        <p14:creationId xmlns:p14="http://schemas.microsoft.com/office/powerpoint/2010/main" val="353492632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23014"/>
            <a:ext cx="10515600" cy="5453949"/>
          </a:xfrm>
        </p:spPr>
        <p:txBody>
          <a:bodyPr>
            <a:normAutofit fontScale="92500"/>
          </a:bodyPr>
          <a:lstStyle/>
          <a:p>
            <a:r>
              <a:rPr lang="en-US" dirty="0"/>
              <a:t>IT is no longer just a supporting function in supply chain management; it's a driving force for optimization, efficiency, and agility. </a:t>
            </a:r>
          </a:p>
          <a:p>
            <a:r>
              <a:rPr lang="en-US" dirty="0"/>
              <a:t>By leveraging the right IT solutions, businesses can gain a competitive edge by streamlining operations, enhancing collaboration, and making</a:t>
            </a:r>
            <a:br>
              <a:rPr lang="en-US" dirty="0"/>
            </a:br>
            <a:r>
              <a:rPr lang="en-US" dirty="0"/>
              <a:t>data-driven decisions. </a:t>
            </a:r>
          </a:p>
          <a:p>
            <a:r>
              <a:rPr lang="en-US" dirty="0"/>
              <a:t>As technology continues to evolve with innovations like </a:t>
            </a:r>
            <a:r>
              <a:rPr lang="en-US" dirty="0" err="1"/>
              <a:t>IoT</a:t>
            </a:r>
            <a:r>
              <a:rPr lang="en-US" dirty="0"/>
              <a:t> and</a:t>
            </a:r>
            <a:br>
              <a:rPr lang="en-US" dirty="0"/>
            </a:br>
            <a:r>
              <a:rPr lang="en-US" dirty="0" err="1"/>
              <a:t>blockchain</a:t>
            </a:r>
            <a:r>
              <a:rPr lang="en-US" dirty="0"/>
              <a:t>, the future of supply chain management promises even greater levels of visibility, transparency, and efficiency. </a:t>
            </a:r>
          </a:p>
          <a:p>
            <a:r>
              <a:rPr lang="en-US" dirty="0"/>
              <a:t>By leveraging IT solutions for real-time visibility, demand forecasting, supplier relationship management, warehouse and transportation</a:t>
            </a:r>
            <a:br>
              <a:rPr lang="en-US" dirty="0"/>
            </a:br>
            <a:r>
              <a:rPr lang="en-US" dirty="0"/>
              <a:t>optimization, and supply chain analytics, organizations can enhance supply chain efficiency, reduce costs, and improve customer satisfaction.</a:t>
            </a:r>
          </a:p>
        </p:txBody>
      </p:sp>
    </p:spTree>
    <p:extLst>
      <p:ext uri="{BB962C8B-B14F-4D97-AF65-F5344CB8AC3E}">
        <p14:creationId xmlns:p14="http://schemas.microsoft.com/office/powerpoint/2010/main" val="10067862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181</TotalTime>
  <Words>7311</Words>
  <Application>Microsoft Office PowerPoint</Application>
  <PresentationFormat>Widescreen</PresentationFormat>
  <Paragraphs>419</Paragraphs>
  <Slides>77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77</vt:i4>
      </vt:variant>
    </vt:vector>
  </HeadingPairs>
  <TitlesOfParts>
    <vt:vector size="81" baseType="lpstr">
      <vt:lpstr>Arial</vt:lpstr>
      <vt:lpstr>Calibri</vt:lpstr>
      <vt:lpstr>Calibri Light</vt:lpstr>
      <vt:lpstr>Office Theme</vt:lpstr>
      <vt:lpstr>Customer Relationship Management and Supply Chain Management</vt:lpstr>
      <vt:lpstr>Introduction</vt:lpstr>
      <vt:lpstr>PowerPoint Presentation</vt:lpstr>
      <vt:lpstr>Customer Relationship Management (CRM)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Benefits of CRM Systems include:</vt:lpstr>
      <vt:lpstr>PowerPoint Presentation</vt:lpstr>
      <vt:lpstr>Features of CRM software</vt:lpstr>
      <vt:lpstr>PowerPoint Presentation</vt:lpstr>
      <vt:lpstr>Social and Mobile CRM</vt:lpstr>
      <vt:lpstr>PowerPoint Presentation</vt:lpstr>
      <vt:lpstr>PowerPoint Presentation</vt:lpstr>
      <vt:lpstr>PowerPoint Presentation</vt:lpstr>
      <vt:lpstr>Operational Customer Relationship Management Systems</vt:lpstr>
      <vt:lpstr>PowerPoint Presentation</vt:lpstr>
      <vt:lpstr>PowerPoint Presentation</vt:lpstr>
      <vt:lpstr>PowerPoint Presentation</vt:lpstr>
      <vt:lpstr>Key Features of Operational CRMs</vt:lpstr>
      <vt:lpstr>PowerPoint Presentation</vt:lpstr>
      <vt:lpstr>PowerPoint Presentation</vt:lpstr>
      <vt:lpstr>PowerPoint Presentation</vt:lpstr>
      <vt:lpstr>PowerPoint Presentation</vt:lpstr>
      <vt:lpstr>Benefits of Implementing Operational CRM</vt:lpstr>
      <vt:lpstr>PowerPoint Presentation</vt:lpstr>
      <vt:lpstr>PowerPoint Presentation</vt:lpstr>
      <vt:lpstr>PowerPoint Presentation</vt:lpstr>
      <vt:lpstr>Choosing the Right Operational CRM System</vt:lpstr>
      <vt:lpstr>PowerPoint Presentation</vt:lpstr>
      <vt:lpstr>PowerPoint Presentation</vt:lpstr>
      <vt:lpstr>Other Types of Customer Relationship  Management Systems</vt:lpstr>
      <vt:lpstr>Analytical CRM</vt:lpstr>
      <vt:lpstr>Collaborative CRM</vt:lpstr>
      <vt:lpstr>Strategic CRM</vt:lpstr>
      <vt:lpstr>Choosing the Right CRM Blend</vt:lpstr>
      <vt:lpstr>Supply Chain Management (SCM) Systems</vt:lpstr>
      <vt:lpstr>PowerPoint Presentation</vt:lpstr>
      <vt:lpstr>PowerPoint Presentation</vt:lpstr>
      <vt:lpstr>There are two major types of SCM software:</vt:lpstr>
      <vt:lpstr>PowerPoint Presentation</vt:lpstr>
      <vt:lpstr>PowerPoint Presentation</vt:lpstr>
      <vt:lpstr>The key supply chain processes stated by Lambert, Dauglas M (2004)</vt:lpstr>
      <vt:lpstr>PowerPoint Presentation</vt:lpstr>
      <vt:lpstr>PowerPoint Presentation</vt:lpstr>
      <vt:lpstr>Causes of Bullwhip effect</vt:lpstr>
      <vt:lpstr>PowerPoint Presentation</vt:lpstr>
      <vt:lpstr>PowerPoint Presentation</vt:lpstr>
      <vt:lpstr>PowerPoint Presentation</vt:lpstr>
      <vt:lpstr>Supply Chain Management Software</vt:lpstr>
      <vt:lpstr>Supply Chain Planning</vt:lpstr>
      <vt:lpstr>Supply Chain Execution</vt:lpstr>
      <vt:lpstr>PowerPoint Presentation</vt:lpstr>
      <vt:lpstr>PowerPoint Presentation</vt:lpstr>
      <vt:lpstr>PowerPoint Presentation</vt:lpstr>
      <vt:lpstr>PowerPoint Presentation</vt:lpstr>
      <vt:lpstr>PowerPoint Presentation</vt:lpstr>
      <vt:lpstr>Information Technology Support for Supply Chain Management</vt:lpstr>
      <vt:lpstr>PowerPoint Presentation</vt:lpstr>
      <vt:lpstr>1. Streamlining Operations and Data Visibility:</vt:lpstr>
      <vt:lpstr>PowerPoint Presentation</vt:lpstr>
      <vt:lpstr>2. Enhancing Collaboration and Communication:</vt:lpstr>
      <vt:lpstr>PowerPoint Presentation</vt:lpstr>
      <vt:lpstr>3. Leveraging Data Analytics and Automation:</vt:lpstr>
      <vt:lpstr>PowerPoint Presentation</vt:lpstr>
      <vt:lpstr>4. Emerging Technologies for Future-Proofing the Supply Chain:</vt:lpstr>
      <vt:lpstr>PowerPoint Presentation</vt:lpstr>
      <vt:lpstr>Best Examples of Information Technology Support for Supply Chain Management:</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Relationship Management and Supply Chain Management</dc:title>
  <dc:creator>SUDIL</dc:creator>
  <cp:lastModifiedBy>Sudil</cp:lastModifiedBy>
  <cp:revision>81</cp:revision>
  <dcterms:created xsi:type="dcterms:W3CDTF">2025-01-31T15:27:59Z</dcterms:created>
  <dcterms:modified xsi:type="dcterms:W3CDTF">2025-08-01T04:33:57Z</dcterms:modified>
</cp:coreProperties>
</file>